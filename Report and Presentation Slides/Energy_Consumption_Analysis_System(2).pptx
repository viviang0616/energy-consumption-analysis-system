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ppt/charts/chart6.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70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Customers</c:v>
                </c:pt>
              </c:strCache>
            </c:strRef>
          </c:tx>
          <c:spPr>
            <a:solidFill>
              <a:srgbClr val="0B2545"/>
            </a:solidFill>
            <a:effectLst/>
          </c:spPr>
          <c:invertIfNegative val="0"/>
          <c:dPt>
            <c:idx val="0"/>
            <c:invertIfNegative val="0"/>
            <c:bubble3D val="0"/>
            <c:extLst>
              <c:ext xmlns:c16="http://schemas.microsoft.com/office/drawing/2014/chart" uri="{C3380CC4-5D6E-409C-BE32-E72D297353CC}">
                <c16:uniqueId val="{00000001-364D-445D-B0B1-610FE0904CC7}"/>
              </c:ext>
            </c:extLst>
          </c:dPt>
          <c:dPt>
            <c:idx val="1"/>
            <c:invertIfNegative val="0"/>
            <c:bubble3D val="0"/>
            <c:spPr>
              <a:solidFill>
                <a:srgbClr val="13315C"/>
              </a:solidFill>
              <a:effectLst/>
            </c:spPr>
            <c:extLst>
              <c:ext xmlns:c16="http://schemas.microsoft.com/office/drawing/2014/chart" uri="{C3380CC4-5D6E-409C-BE32-E72D297353CC}">
                <c16:uniqueId val="{00000003-364D-445D-B0B1-610FE0904CC7}"/>
              </c:ext>
            </c:extLst>
          </c:dPt>
          <c:dPt>
            <c:idx val="2"/>
            <c:invertIfNegative val="0"/>
            <c:bubble3D val="0"/>
            <c:spPr>
              <a:solidFill>
                <a:srgbClr val="F4A300"/>
              </a:solidFill>
              <a:effectLst/>
            </c:spPr>
            <c:extLst>
              <c:ext xmlns:c16="http://schemas.microsoft.com/office/drawing/2014/chart" uri="{C3380CC4-5D6E-409C-BE32-E72D297353CC}">
                <c16:uniqueId val="{00000005-364D-445D-B0B1-610FE0904CC7}"/>
              </c:ext>
            </c:extLst>
          </c:dPt>
          <c:dLbls>
            <c:numFmt formatCode="#,##0" sourceLinked="0"/>
            <c:spPr>
              <a:noFill/>
              <a:ln>
                <a:noFill/>
              </a:ln>
              <a:effectLst/>
            </c:spPr>
            <c:txPr>
              <a:bodyPr/>
              <a:lstStyle/>
              <a:p>
                <a:pPr>
                  <a:defRPr sz="1300" b="1"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5</c:v>
                </c:pt>
                <c:pt idx="1">
                  <c:v>6</c:v>
                </c:pt>
                <c:pt idx="2">
                  <c:v>9</c:v>
                </c:pt>
              </c:numCache>
            </c:numRef>
          </c:val>
          <c:extLst>
            <c:ext xmlns:c16="http://schemas.microsoft.com/office/drawing/2014/chart" uri="{C3380CC4-5D6E-409C-BE32-E72D297353CC}">
              <c16:uniqueId val="{00000006-364D-445D-B0B1-610FE0904CC7}"/>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Number of Customers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kWh</c:v>
                </c:pt>
              </c:strCache>
            </c:strRef>
          </c:tx>
          <c:spPr>
            <a:solidFill>
              <a:srgbClr val="F4A300"/>
            </a:solidFill>
            <a:effectLst/>
          </c:spPr>
          <c:invertIfNegative val="0"/>
          <c:dPt>
            <c:idx val="0"/>
            <c:invertIfNegative val="0"/>
            <c:bubble3D val="0"/>
            <c:extLst>
              <c:ext xmlns:c16="http://schemas.microsoft.com/office/drawing/2014/chart" uri="{C3380CC4-5D6E-409C-BE32-E72D297353CC}">
                <c16:uniqueId val="{00000001-297A-41BE-89F4-1BBB8C239516}"/>
              </c:ext>
            </c:extLst>
          </c:dPt>
          <c:dPt>
            <c:idx val="1"/>
            <c:invertIfNegative val="0"/>
            <c:bubble3D val="0"/>
            <c:spPr>
              <a:solidFill>
                <a:srgbClr val="0B2545"/>
              </a:solidFill>
              <a:effectLst/>
            </c:spPr>
            <c:extLst>
              <c:ext xmlns:c16="http://schemas.microsoft.com/office/drawing/2014/chart" uri="{C3380CC4-5D6E-409C-BE32-E72D297353CC}">
                <c16:uniqueId val="{00000003-297A-41BE-89F4-1BBB8C239516}"/>
              </c:ext>
            </c:extLst>
          </c:dPt>
          <c:dPt>
            <c:idx val="2"/>
            <c:invertIfNegative val="0"/>
            <c:bubble3D val="0"/>
            <c:spPr>
              <a:solidFill>
                <a:srgbClr val="13315C"/>
              </a:solidFill>
              <a:effectLst/>
            </c:spPr>
            <c:extLst>
              <c:ext xmlns:c16="http://schemas.microsoft.com/office/drawing/2014/chart" uri="{C3380CC4-5D6E-409C-BE32-E72D297353CC}">
                <c16:uniqueId val="{00000005-297A-41BE-89F4-1BBB8C239516}"/>
              </c:ext>
            </c:extLst>
          </c:dPt>
          <c:dLbls>
            <c:numFmt formatCode="#,##0" sourceLinked="0"/>
            <c:spPr>
              <a:noFill/>
              <a:ln>
                <a:noFill/>
              </a:ln>
              <a:effectLst/>
            </c:spPr>
            <c:txPr>
              <a:bodyPr/>
              <a:lstStyle/>
              <a:p>
                <a:pPr>
                  <a:defRPr sz="1400" b="1"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Lagos</c:v>
                </c:pt>
                <c:pt idx="1">
                  <c:v>Abuja</c:v>
                </c:pt>
                <c:pt idx="2">
                  <c:v>Ibadan</c:v>
                </c:pt>
              </c:strCache>
            </c:strRef>
          </c:cat>
          <c:val>
            <c:numRef>
              <c:f>Sheet1!$B$2:$B$4</c:f>
              <c:numCache>
                <c:formatCode>General</c:formatCode>
                <c:ptCount val="3"/>
                <c:pt idx="0">
                  <c:v>9760</c:v>
                </c:pt>
                <c:pt idx="1">
                  <c:v>8090</c:v>
                </c:pt>
                <c:pt idx="2">
                  <c:v>6390</c:v>
                </c:pt>
              </c:numCache>
            </c:numRef>
          </c:val>
          <c:extLst>
            <c:ext xmlns:c16="http://schemas.microsoft.com/office/drawing/2014/chart" uri="{C3380CC4-5D6E-409C-BE32-E72D297353CC}">
              <c16:uniqueId val="{00000006-297A-41BE-89F4-1BBB8C23951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Consumption (kWh)</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kWh</c:v>
                </c:pt>
              </c:strCache>
            </c:strRef>
          </c:tx>
          <c:spPr>
            <a:solidFill>
              <a:srgbClr val="F4A300"/>
            </a:solidFill>
            <a:effectLst/>
          </c:spPr>
          <c:invertIfNegative val="0"/>
          <c:dLbls>
            <c:numFmt formatCode="#,##0" sourceLinked="0"/>
            <c:spPr>
              <a:noFill/>
              <a:ln>
                <a:noFill/>
              </a:ln>
              <a:effectLst/>
            </c:spPr>
            <c:txPr>
              <a:bodyPr/>
              <a:lstStyle/>
              <a:p>
                <a:pPr>
                  <a:defRPr sz="1150" b="1"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Industrial</c:v>
                </c:pt>
                <c:pt idx="1">
                  <c:v>Hospital</c:v>
                </c:pt>
                <c:pt idx="2">
                  <c:v>SME</c:v>
                </c:pt>
                <c:pt idx="3">
                  <c:v>Agricultural</c:v>
                </c:pt>
                <c:pt idx="4">
                  <c:v>School</c:v>
                </c:pt>
                <c:pt idx="5">
                  <c:v>Residential</c:v>
                </c:pt>
              </c:strCache>
            </c:strRef>
          </c:cat>
          <c:val>
            <c:numRef>
              <c:f>Sheet1!$B$2:$B$7</c:f>
              <c:numCache>
                <c:formatCode>General</c:formatCode>
                <c:ptCount val="6"/>
                <c:pt idx="0">
                  <c:v>9600</c:v>
                </c:pt>
                <c:pt idx="1">
                  <c:v>4150</c:v>
                </c:pt>
                <c:pt idx="2">
                  <c:v>4050</c:v>
                </c:pt>
                <c:pt idx="3">
                  <c:v>3580</c:v>
                </c:pt>
                <c:pt idx="4">
                  <c:v>1640</c:v>
                </c:pt>
                <c:pt idx="5">
                  <c:v>1220</c:v>
                </c:pt>
              </c:numCache>
            </c:numRef>
          </c:val>
          <c:extLst>
            <c:ext xmlns:c16="http://schemas.microsoft.com/office/drawing/2014/chart" uri="{C3380CC4-5D6E-409C-BE32-E72D297353CC}">
              <c16:uniqueId val="{00000000-5762-45FD-B8B9-B3ECDE564163}"/>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Consumption (kWh)</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kWh</c:v>
                </c:pt>
              </c:strCache>
            </c:strRef>
          </c:tx>
          <c:spPr>
            <a:ln w="38100" cap="flat">
              <a:solidFill>
                <a:srgbClr val="F4A300"/>
              </a:solidFill>
              <a:prstDash val="solid"/>
              <a:round/>
            </a:ln>
            <a:effectLst/>
          </c:spPr>
          <c:marker>
            <c:symbol val="circle"/>
            <c:size val="8"/>
            <c:spPr>
              <a:solidFill>
                <a:srgbClr val="F4A300"/>
              </a:solidFill>
              <a:ln w="9525" cap="flat">
                <a:solidFill>
                  <a:srgbClr val="F4A300"/>
                </a:solidFill>
                <a:prstDash val="solid"/>
                <a:round/>
              </a:ln>
              <a:effectLst/>
            </c:spPr>
          </c:marker>
          <c:dLbls>
            <c:numFmt formatCode="#,##0" sourceLinked="0"/>
            <c:spPr>
              <a:noFill/>
              <a:ln>
                <a:noFill/>
              </a:ln>
              <a:effectLst/>
            </c:spPr>
            <c:txPr>
              <a:bodyPr/>
              <a:lstStyle/>
              <a:p>
                <a:pPr>
                  <a:defRPr sz="1200" b="1" i="0" u="none" strike="noStrike">
                    <a:solidFill>
                      <a:srgbClr val="0B2545"/>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January</c:v>
                </c:pt>
                <c:pt idx="1">
                  <c:v>February</c:v>
                </c:pt>
                <c:pt idx="2">
                  <c:v>March</c:v>
                </c:pt>
                <c:pt idx="3">
                  <c:v>April</c:v>
                </c:pt>
                <c:pt idx="4">
                  <c:v>May</c:v>
                </c:pt>
                <c:pt idx="5">
                  <c:v>June</c:v>
                </c:pt>
              </c:strCache>
            </c:strRef>
          </c:cat>
          <c:val>
            <c:numRef>
              <c:f>Sheet1!$B$2:$B$7</c:f>
              <c:numCache>
                <c:formatCode>General</c:formatCode>
                <c:ptCount val="6"/>
                <c:pt idx="0">
                  <c:v>2580</c:v>
                </c:pt>
                <c:pt idx="1">
                  <c:v>1940</c:v>
                </c:pt>
                <c:pt idx="2">
                  <c:v>6050</c:v>
                </c:pt>
                <c:pt idx="3">
                  <c:v>2200</c:v>
                </c:pt>
                <c:pt idx="4">
                  <c:v>3750</c:v>
                </c:pt>
                <c:pt idx="5">
                  <c:v>7720</c:v>
                </c:pt>
              </c:numCache>
            </c:numRef>
          </c:val>
          <c:smooth val="0"/>
          <c:extLst>
            <c:ext xmlns:c16="http://schemas.microsoft.com/office/drawing/2014/chart" uri="{C3380CC4-5D6E-409C-BE32-E72D297353CC}">
              <c16:uniqueId val="{00000000-C63D-4294-A0C8-7F7C9442811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Consumption (kWh)</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kWh</c:v>
                </c:pt>
              </c:strCache>
            </c:strRef>
          </c:tx>
          <c:spPr>
            <a:solidFill>
              <a:srgbClr val="C0392B"/>
            </a:solidFill>
            <a:effectLst/>
          </c:spPr>
          <c:invertIfNegative val="0"/>
          <c:dLbls>
            <c:numFmt formatCode="#,##0" sourceLinked="0"/>
            <c:spPr>
              <a:noFill/>
              <a:ln>
                <a:noFill/>
              </a:ln>
              <a:effectLst/>
            </c:spPr>
            <c:txPr>
              <a:bodyPr/>
              <a:lstStyle/>
              <a:p>
                <a:pPr>
                  <a:defRPr sz="1300" b="1"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Industrial Works Ltd</c:v>
                </c:pt>
                <c:pt idx="1">
                  <c:v>Prime Plastics</c:v>
                </c:pt>
                <c:pt idx="2">
                  <c:v>Naija Foods Ltd</c:v>
                </c:pt>
                <c:pt idx="3">
                  <c:v>Lakeside Hotel</c:v>
                </c:pt>
              </c:strCache>
            </c:strRef>
          </c:cat>
          <c:val>
            <c:numRef>
              <c:f>Sheet1!$B$2:$B$5</c:f>
              <c:numCache>
                <c:formatCode>General</c:formatCode>
                <c:ptCount val="4"/>
                <c:pt idx="0">
                  <c:v>3600</c:v>
                </c:pt>
                <c:pt idx="1">
                  <c:v>3200</c:v>
                </c:pt>
                <c:pt idx="2">
                  <c:v>2800</c:v>
                </c:pt>
                <c:pt idx="3">
                  <c:v>1750</c:v>
                </c:pt>
              </c:numCache>
            </c:numRef>
          </c:val>
          <c:extLst>
            <c:ext xmlns:c16="http://schemas.microsoft.com/office/drawing/2014/chart" uri="{C3380CC4-5D6E-409C-BE32-E72D297353CC}">
              <c16:uniqueId val="{00000000-7823-4292-910E-BBFE3D04157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Consumption (kWh)</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Share of Consumption</c:v>
                </c:pt>
              </c:strCache>
            </c:strRef>
          </c:tx>
          <c:spPr>
            <a:solidFill>
              <a:schemeClr val="accent1"/>
            </a:solidFill>
            <a:ln w="9525" cap="flat">
              <a:solidFill>
                <a:srgbClr val="F9F9F9"/>
              </a:solidFill>
              <a:prstDash val="solid"/>
              <a:round/>
            </a:ln>
            <a:effectLst/>
          </c:spPr>
          <c:dPt>
            <c:idx val="0"/>
            <c:bubble3D val="0"/>
            <c:spPr>
              <a:solidFill>
                <a:srgbClr val="0B2545"/>
              </a:solidFill>
              <a:effectLst/>
            </c:spPr>
            <c:extLst>
              <c:ext xmlns:c16="http://schemas.microsoft.com/office/drawing/2014/chart" uri="{C3380CC4-5D6E-409C-BE32-E72D297353CC}">
                <c16:uniqueId val="{00000001-FCBC-4825-B6EF-51163B629435}"/>
              </c:ext>
            </c:extLst>
          </c:dPt>
          <c:dPt>
            <c:idx val="1"/>
            <c:bubble3D val="0"/>
            <c:spPr>
              <a:solidFill>
                <a:srgbClr val="F4A300"/>
              </a:solidFill>
              <a:effectLst/>
            </c:spPr>
            <c:extLst>
              <c:ext xmlns:c16="http://schemas.microsoft.com/office/drawing/2014/chart" uri="{C3380CC4-5D6E-409C-BE32-E72D297353CC}">
                <c16:uniqueId val="{00000003-FCBC-4825-B6EF-51163B629435}"/>
              </c:ext>
            </c:extLst>
          </c:dPt>
          <c:dLbls>
            <c:dLbl>
              <c:idx val="0"/>
              <c:numFmt formatCode="0%" sourceLinked="0"/>
              <c:spPr/>
              <c:txPr>
                <a:bodyPr/>
                <a:lstStyle/>
                <a:p>
                  <a:pPr>
                    <a:defRPr sz="15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CBC-4825-B6EF-51163B629435}"/>
                </c:ext>
              </c:extLst>
            </c:dLbl>
            <c:dLbl>
              <c:idx val="1"/>
              <c:numFmt formatCode="0%" sourceLinked="0"/>
              <c:spPr/>
              <c:txPr>
                <a:bodyPr/>
                <a:lstStyle/>
                <a:p>
                  <a:pPr>
                    <a:defRPr sz="15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CBC-4825-B6EF-51163B629435}"/>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Low Outage (71%)</c:v>
                </c:pt>
                <c:pt idx="1">
                  <c:v>High Outage (29%)</c:v>
                </c:pt>
              </c:strCache>
            </c:strRef>
          </c:cat>
          <c:val>
            <c:numRef>
              <c:f>Sheet1!$B$2:$B$3</c:f>
              <c:numCache>
                <c:formatCode>General</c:formatCode>
                <c:ptCount val="2"/>
                <c:pt idx="0">
                  <c:v>71</c:v>
                </c:pt>
                <c:pt idx="1">
                  <c:v>29</c:v>
                </c:pt>
              </c:numCache>
            </c:numRef>
          </c:val>
          <c:extLst>
            <c:ext xmlns:c16="http://schemas.microsoft.com/office/drawing/2014/chart" uri="{C3380CC4-5D6E-409C-BE32-E72D297353CC}">
              <c16:uniqueId val="{00000004-FCBC-4825-B6EF-51163B629435}"/>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200">
              <a:solidFill>
                <a:srgbClr val="0B2545"/>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1036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20.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545"/>
          </a:solidFill>
          <a:ln/>
        </p:spPr>
      </p:sp>
      <p:sp>
        <p:nvSpPr>
          <p:cNvPr id="3" name="Shape 1"/>
          <p:cNvSpPr/>
          <p:nvPr/>
        </p:nvSpPr>
        <p:spPr>
          <a:xfrm>
            <a:off x="9052560" y="-2011680"/>
            <a:ext cx="5943600" cy="5943600"/>
          </a:xfrm>
          <a:prstGeom prst="ellipse">
            <a:avLst/>
          </a:prstGeom>
          <a:solidFill>
            <a:srgbClr val="13315C"/>
          </a:solidFill>
          <a:ln/>
        </p:spPr>
      </p:sp>
      <p:sp>
        <p:nvSpPr>
          <p:cNvPr id="4" name="Shape 2"/>
          <p:cNvSpPr/>
          <p:nvPr/>
        </p:nvSpPr>
        <p:spPr>
          <a:xfrm>
            <a:off x="10607040" y="4206240"/>
            <a:ext cx="3657600" cy="3657600"/>
          </a:xfrm>
          <a:prstGeom prst="ellipse">
            <a:avLst/>
          </a:prstGeom>
          <a:solidFill>
            <a:srgbClr val="0E2E52"/>
          </a:solidFill>
          <a:ln/>
        </p:spPr>
      </p:sp>
      <p:sp>
        <p:nvSpPr>
          <p:cNvPr id="5" name="Shape 3"/>
          <p:cNvSpPr/>
          <p:nvPr/>
        </p:nvSpPr>
        <p:spPr>
          <a:xfrm>
            <a:off x="822960" y="685800"/>
            <a:ext cx="868680" cy="868680"/>
          </a:xfrm>
          <a:prstGeom prst="ellipse">
            <a:avLst/>
          </a:prstGeom>
          <a:solidFill>
            <a:srgbClr val="F4A300"/>
          </a:solidFill>
          <a:ln/>
        </p:spPr>
      </p:sp>
      <p:pic>
        <p:nvPicPr>
          <p:cNvPr id="6" name="Image 0" descr="icons/bolt_0B2545.png"/>
          <p:cNvPicPr>
            <a:picLocks noChangeAspect="1"/>
          </p:cNvPicPr>
          <p:nvPr/>
        </p:nvPicPr>
        <p:blipFill>
          <a:blip r:embed="rId3"/>
          <a:stretch>
            <a:fillRect/>
          </a:stretch>
        </p:blipFill>
        <p:spPr>
          <a:xfrm>
            <a:off x="1048817" y="911657"/>
            <a:ext cx="416966" cy="416966"/>
          </a:xfrm>
          <a:prstGeom prst="rect">
            <a:avLst/>
          </a:prstGeom>
        </p:spPr>
      </p:pic>
      <p:sp>
        <p:nvSpPr>
          <p:cNvPr id="7" name="Text 4"/>
          <p:cNvSpPr txBox="1"/>
          <p:nvPr/>
        </p:nvSpPr>
        <p:spPr>
          <a:xfrm>
            <a:off x="822960" y="2331720"/>
            <a:ext cx="8229600" cy="365760"/>
          </a:xfrm>
          <a:prstGeom prst="rect">
            <a:avLst/>
          </a:prstGeom>
          <a:noFill/>
          <a:ln/>
        </p:spPr>
        <p:txBody>
          <a:bodyPr wrap="square" rtlCol="0" anchor="ctr"/>
          <a:lstStyle/>
          <a:p>
            <a:pPr marL="0" indent="0">
              <a:buNone/>
            </a:pPr>
            <a:r>
              <a:rPr lang="en-US" sz="1500" b="1" kern="0" spc="300" dirty="0">
                <a:solidFill>
                  <a:srgbClr val="F4A300"/>
                </a:solidFill>
                <a:latin typeface="Calibri" pitchFamily="34" charset="0"/>
                <a:ea typeface="Calibri" pitchFamily="34" charset="-122"/>
                <a:cs typeface="Calibri" pitchFamily="34" charset="-120"/>
              </a:rPr>
              <a:t>A PYTHON PROJECT ON</a:t>
            </a:r>
            <a:endParaRPr lang="en-US" sz="1500" dirty="0"/>
          </a:p>
        </p:txBody>
      </p:sp>
      <p:sp>
        <p:nvSpPr>
          <p:cNvPr id="8" name="Text 5"/>
          <p:cNvSpPr txBox="1"/>
          <p:nvPr/>
        </p:nvSpPr>
        <p:spPr>
          <a:xfrm>
            <a:off x="822960" y="2697480"/>
            <a:ext cx="9875520" cy="118872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Energy Consumption Analysis System</a:t>
            </a:r>
            <a:endParaRPr lang="en-US" sz="4200" dirty="0"/>
          </a:p>
        </p:txBody>
      </p:sp>
      <p:sp>
        <p:nvSpPr>
          <p:cNvPr id="9" name="Text 6"/>
          <p:cNvSpPr txBox="1"/>
          <p:nvPr/>
        </p:nvSpPr>
        <p:spPr>
          <a:xfrm>
            <a:off x="822960" y="3703320"/>
            <a:ext cx="9144000" cy="502920"/>
          </a:xfrm>
          <a:prstGeom prst="rect">
            <a:avLst/>
          </a:prstGeom>
          <a:noFill/>
          <a:ln/>
        </p:spPr>
        <p:txBody>
          <a:bodyPr wrap="square" rtlCol="0" anchor="ctr"/>
          <a:lstStyle/>
          <a:p>
            <a:pPr marL="0" indent="0">
              <a:buNone/>
            </a:pPr>
            <a:r>
              <a:rPr lang="en-US" sz="2000" i="1" dirty="0">
                <a:solidFill>
                  <a:srgbClr val="CADCFC"/>
                </a:solidFill>
                <a:latin typeface="Cambria" pitchFamily="34" charset="0"/>
                <a:ea typeface="Cambria" pitchFamily="34" charset="-122"/>
                <a:cs typeface="Cambria" pitchFamily="34" charset="-120"/>
              </a:rPr>
              <a:t>for a Nigerian Energy Company</a:t>
            </a:r>
            <a:endParaRPr lang="en-US" sz="2000" dirty="0"/>
          </a:p>
        </p:txBody>
      </p:sp>
      <p:sp>
        <p:nvSpPr>
          <p:cNvPr id="10" name="Shape 7"/>
          <p:cNvSpPr/>
          <p:nvPr/>
        </p:nvSpPr>
        <p:spPr>
          <a:xfrm>
            <a:off x="822960" y="4434840"/>
            <a:ext cx="3840480" cy="0"/>
          </a:xfrm>
          <a:prstGeom prst="line">
            <a:avLst/>
          </a:prstGeom>
          <a:noFill/>
          <a:ln w="25400">
            <a:solidFill>
              <a:srgbClr val="F4A300"/>
            </a:solidFill>
            <a:prstDash val="solid"/>
          </a:ln>
        </p:spPr>
      </p:sp>
      <p:sp>
        <p:nvSpPr>
          <p:cNvPr id="11" name="Text 8"/>
          <p:cNvSpPr txBox="1"/>
          <p:nvPr/>
        </p:nvSpPr>
        <p:spPr>
          <a:xfrm>
            <a:off x="822960" y="4709160"/>
            <a:ext cx="5486400" cy="274320"/>
          </a:xfrm>
          <a:prstGeom prst="rect">
            <a:avLst/>
          </a:prstGeom>
          <a:noFill/>
          <a:ln/>
        </p:spPr>
        <p:txBody>
          <a:bodyPr wrap="square" rtlCol="0" anchor="ctr"/>
          <a:lstStyle/>
          <a:p>
            <a:pPr marL="0" indent="0">
              <a:buNone/>
            </a:pPr>
            <a:r>
              <a:rPr lang="en-US" sz="1100" b="1" kern="0" spc="200" dirty="0">
                <a:solidFill>
                  <a:srgbClr val="F4A300"/>
                </a:solidFill>
                <a:latin typeface="Calibri" pitchFamily="34" charset="0"/>
                <a:ea typeface="Calibri" pitchFamily="34" charset="-122"/>
                <a:cs typeface="Calibri" pitchFamily="34" charset="-120"/>
              </a:rPr>
              <a:t>DEVELOPED BY  •  TEAM A</a:t>
            </a:r>
            <a:endParaRPr lang="en-US" sz="1100" dirty="0"/>
          </a:p>
        </p:txBody>
      </p:sp>
      <p:sp>
        <p:nvSpPr>
          <p:cNvPr id="12" name="Text 9"/>
          <p:cNvSpPr txBox="1"/>
          <p:nvPr/>
        </p:nvSpPr>
        <p:spPr>
          <a:xfrm>
            <a:off x="822960" y="5010912"/>
            <a:ext cx="10058400" cy="4572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Gomes Vivian   •  Oseni Latifat  •  Ismaila Ainoko Aminu  •  Ositadinma Chigozie</a:t>
            </a:r>
            <a:endParaRPr lang="en-US" sz="1400" dirty="0"/>
          </a:p>
        </p:txBody>
      </p:sp>
      <p:sp>
        <p:nvSpPr>
          <p:cNvPr id="13" name="Text 10"/>
          <p:cNvSpPr txBox="1"/>
          <p:nvPr/>
        </p:nvSpPr>
        <p:spPr>
          <a:xfrm>
            <a:off x="822960" y="6263640"/>
            <a:ext cx="9144000" cy="320040"/>
          </a:xfrm>
          <a:prstGeom prst="rect">
            <a:avLst/>
          </a:prstGeom>
          <a:noFill/>
          <a:ln/>
        </p:spPr>
        <p:txBody>
          <a:bodyPr wrap="square" rtlCol="0" anchor="ctr"/>
          <a:lstStyle/>
          <a:p>
            <a:pPr marL="0" indent="0">
              <a:buNone/>
            </a:pPr>
            <a:r>
              <a:rPr lang="en-US" sz="1100" i="1" dirty="0">
                <a:solidFill>
                  <a:srgbClr val="9FB3D9"/>
                </a:solidFill>
                <a:latin typeface="Calibri" pitchFamily="34" charset="0"/>
                <a:ea typeface="Calibri" pitchFamily="34" charset="-122"/>
                <a:cs typeface="Calibri" pitchFamily="34" charset="-120"/>
              </a:rPr>
              <a:t>Submitted to Python Study Group SmartBixCrux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WHAT WE'LL COVER</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Presentation Roadmap</a:t>
            </a:r>
            <a:endParaRPr lang="en-US" sz="3000" dirty="0"/>
          </a:p>
        </p:txBody>
      </p:sp>
      <p:sp>
        <p:nvSpPr>
          <p:cNvPr id="4" name="Shape 2"/>
          <p:cNvSpPr/>
          <p:nvPr/>
        </p:nvSpPr>
        <p:spPr>
          <a:xfrm>
            <a:off x="548640" y="1600200"/>
            <a:ext cx="5257800" cy="896112"/>
          </a:xfrm>
          <a:prstGeom prst="roundRect">
            <a:avLst>
              <a:gd name="adj" fmla="val 7143"/>
            </a:avLst>
          </a:prstGeom>
          <a:solidFill>
            <a:srgbClr val="FFFFFF"/>
          </a:solidFill>
          <a:ln w="12700">
            <a:solidFill>
              <a:srgbClr val="E2E8F0"/>
            </a:solidFill>
            <a:prstDash val="solid"/>
          </a:ln>
        </p:spPr>
      </p:sp>
      <p:sp>
        <p:nvSpPr>
          <p:cNvPr id="5" name="Text 3"/>
          <p:cNvSpPr txBox="1"/>
          <p:nvPr/>
        </p:nvSpPr>
        <p:spPr>
          <a:xfrm>
            <a:off x="713232" y="1728216"/>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01</a:t>
            </a:r>
            <a:endParaRPr lang="en-US" sz="2200" dirty="0"/>
          </a:p>
        </p:txBody>
      </p:sp>
      <p:sp>
        <p:nvSpPr>
          <p:cNvPr id="6" name="Shape 4"/>
          <p:cNvSpPr/>
          <p:nvPr/>
        </p:nvSpPr>
        <p:spPr>
          <a:xfrm>
            <a:off x="1325880" y="1819656"/>
            <a:ext cx="457200" cy="457200"/>
          </a:xfrm>
          <a:prstGeom prst="ellipse">
            <a:avLst/>
          </a:prstGeom>
          <a:solidFill>
            <a:srgbClr val="0B2545"/>
          </a:solidFill>
          <a:ln/>
        </p:spPr>
      </p:sp>
      <p:pic>
        <p:nvPicPr>
          <p:cNvPr id="7" name="Image 0" descr="icons/globe_FFFFFF.png"/>
          <p:cNvPicPr>
            <a:picLocks noChangeAspect="1"/>
          </p:cNvPicPr>
          <p:nvPr/>
        </p:nvPicPr>
        <p:blipFill>
          <a:blip r:embed="rId3"/>
          <a:stretch>
            <a:fillRect/>
          </a:stretch>
        </p:blipFill>
        <p:spPr>
          <a:xfrm>
            <a:off x="1444752" y="1938528"/>
            <a:ext cx="219456" cy="219456"/>
          </a:xfrm>
          <a:prstGeom prst="rect">
            <a:avLst/>
          </a:prstGeom>
        </p:spPr>
      </p:pic>
      <p:sp>
        <p:nvSpPr>
          <p:cNvPr id="8" name="Text 5"/>
          <p:cNvSpPr txBox="1"/>
          <p:nvPr/>
        </p:nvSpPr>
        <p:spPr>
          <a:xfrm>
            <a:off x="1920240" y="1600200"/>
            <a:ext cx="3749040" cy="896112"/>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Introduction &amp; Problem Statement</a:t>
            </a:r>
            <a:endParaRPr lang="en-US" sz="1350" dirty="0"/>
          </a:p>
        </p:txBody>
      </p:sp>
      <p:sp>
        <p:nvSpPr>
          <p:cNvPr id="9" name="Shape 6"/>
          <p:cNvSpPr/>
          <p:nvPr/>
        </p:nvSpPr>
        <p:spPr>
          <a:xfrm>
            <a:off x="548640" y="2660904"/>
            <a:ext cx="5257800" cy="896112"/>
          </a:xfrm>
          <a:prstGeom prst="roundRect">
            <a:avLst>
              <a:gd name="adj" fmla="val 7143"/>
            </a:avLst>
          </a:prstGeom>
          <a:solidFill>
            <a:srgbClr val="FFFFFF"/>
          </a:solidFill>
          <a:ln w="12700">
            <a:solidFill>
              <a:srgbClr val="E2E8F0"/>
            </a:solidFill>
            <a:prstDash val="solid"/>
          </a:ln>
        </p:spPr>
      </p:sp>
      <p:sp>
        <p:nvSpPr>
          <p:cNvPr id="10" name="Text 7"/>
          <p:cNvSpPr txBox="1"/>
          <p:nvPr/>
        </p:nvSpPr>
        <p:spPr>
          <a:xfrm>
            <a:off x="713232" y="2788920"/>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02</a:t>
            </a:r>
            <a:endParaRPr lang="en-US" sz="2200" dirty="0"/>
          </a:p>
        </p:txBody>
      </p:sp>
      <p:sp>
        <p:nvSpPr>
          <p:cNvPr id="11" name="Shape 8"/>
          <p:cNvSpPr/>
          <p:nvPr/>
        </p:nvSpPr>
        <p:spPr>
          <a:xfrm>
            <a:off x="1325880" y="2880360"/>
            <a:ext cx="457200" cy="457200"/>
          </a:xfrm>
          <a:prstGeom prst="ellipse">
            <a:avLst/>
          </a:prstGeom>
          <a:solidFill>
            <a:srgbClr val="0B2545"/>
          </a:solidFill>
          <a:ln/>
        </p:spPr>
      </p:sp>
      <p:pic>
        <p:nvPicPr>
          <p:cNvPr id="12" name="Image 1" descr="icons/target_FFFFFF.png"/>
          <p:cNvPicPr>
            <a:picLocks noChangeAspect="1"/>
          </p:cNvPicPr>
          <p:nvPr/>
        </p:nvPicPr>
        <p:blipFill>
          <a:blip r:embed="rId4"/>
          <a:stretch>
            <a:fillRect/>
          </a:stretch>
        </p:blipFill>
        <p:spPr>
          <a:xfrm>
            <a:off x="1444752" y="2999232"/>
            <a:ext cx="219456" cy="219456"/>
          </a:xfrm>
          <a:prstGeom prst="rect">
            <a:avLst/>
          </a:prstGeom>
        </p:spPr>
      </p:pic>
      <p:sp>
        <p:nvSpPr>
          <p:cNvPr id="13" name="Text 9"/>
          <p:cNvSpPr txBox="1"/>
          <p:nvPr/>
        </p:nvSpPr>
        <p:spPr>
          <a:xfrm>
            <a:off x="1920240" y="2660904"/>
            <a:ext cx="3749040" cy="896112"/>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Aim, Objectives &amp; Industry Relevance</a:t>
            </a:r>
            <a:endParaRPr lang="en-US" sz="1350" dirty="0"/>
          </a:p>
        </p:txBody>
      </p:sp>
      <p:sp>
        <p:nvSpPr>
          <p:cNvPr id="14" name="Shape 10"/>
          <p:cNvSpPr/>
          <p:nvPr/>
        </p:nvSpPr>
        <p:spPr>
          <a:xfrm>
            <a:off x="548640" y="3721608"/>
            <a:ext cx="5257800" cy="896112"/>
          </a:xfrm>
          <a:prstGeom prst="roundRect">
            <a:avLst>
              <a:gd name="adj" fmla="val 7143"/>
            </a:avLst>
          </a:prstGeom>
          <a:solidFill>
            <a:srgbClr val="FFFFFF"/>
          </a:solidFill>
          <a:ln w="12700">
            <a:solidFill>
              <a:srgbClr val="E2E8F0"/>
            </a:solidFill>
            <a:prstDash val="solid"/>
          </a:ln>
        </p:spPr>
      </p:sp>
      <p:sp>
        <p:nvSpPr>
          <p:cNvPr id="15" name="Text 11"/>
          <p:cNvSpPr txBox="1"/>
          <p:nvPr/>
        </p:nvSpPr>
        <p:spPr>
          <a:xfrm>
            <a:off x="713232" y="3849624"/>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03</a:t>
            </a:r>
            <a:endParaRPr lang="en-US" sz="2200" dirty="0"/>
          </a:p>
        </p:txBody>
      </p:sp>
      <p:sp>
        <p:nvSpPr>
          <p:cNvPr id="16" name="Shape 12"/>
          <p:cNvSpPr/>
          <p:nvPr/>
        </p:nvSpPr>
        <p:spPr>
          <a:xfrm>
            <a:off x="1325880" y="3941064"/>
            <a:ext cx="457200" cy="457200"/>
          </a:xfrm>
          <a:prstGeom prst="ellipse">
            <a:avLst/>
          </a:prstGeom>
          <a:solidFill>
            <a:srgbClr val="0B2545"/>
          </a:solidFill>
          <a:ln/>
        </p:spPr>
      </p:sp>
      <p:pic>
        <p:nvPicPr>
          <p:cNvPr id="17" name="Image 2" descr="icons/database_FFFFFF.png"/>
          <p:cNvPicPr>
            <a:picLocks noChangeAspect="1"/>
          </p:cNvPicPr>
          <p:nvPr/>
        </p:nvPicPr>
        <p:blipFill>
          <a:blip r:embed="rId5"/>
          <a:stretch>
            <a:fillRect/>
          </a:stretch>
        </p:blipFill>
        <p:spPr>
          <a:xfrm>
            <a:off x="1444752" y="4059936"/>
            <a:ext cx="219456" cy="219456"/>
          </a:xfrm>
          <a:prstGeom prst="rect">
            <a:avLst/>
          </a:prstGeom>
        </p:spPr>
      </p:pic>
      <p:sp>
        <p:nvSpPr>
          <p:cNvPr id="18" name="Text 13"/>
          <p:cNvSpPr txBox="1"/>
          <p:nvPr/>
        </p:nvSpPr>
        <p:spPr>
          <a:xfrm>
            <a:off x="1920240" y="3721608"/>
            <a:ext cx="3749040" cy="896112"/>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Dataset Description</a:t>
            </a:r>
            <a:endParaRPr lang="en-US" sz="1350" dirty="0"/>
          </a:p>
        </p:txBody>
      </p:sp>
      <p:sp>
        <p:nvSpPr>
          <p:cNvPr id="19" name="Shape 14"/>
          <p:cNvSpPr/>
          <p:nvPr/>
        </p:nvSpPr>
        <p:spPr>
          <a:xfrm>
            <a:off x="548640" y="4782312"/>
            <a:ext cx="5257800" cy="896112"/>
          </a:xfrm>
          <a:prstGeom prst="roundRect">
            <a:avLst>
              <a:gd name="adj" fmla="val 7143"/>
            </a:avLst>
          </a:prstGeom>
          <a:solidFill>
            <a:srgbClr val="FFFFFF"/>
          </a:solidFill>
          <a:ln w="12700">
            <a:solidFill>
              <a:srgbClr val="E2E8F0"/>
            </a:solidFill>
            <a:prstDash val="solid"/>
          </a:ln>
        </p:spPr>
      </p:sp>
      <p:sp>
        <p:nvSpPr>
          <p:cNvPr id="20" name="Text 15"/>
          <p:cNvSpPr txBox="1"/>
          <p:nvPr/>
        </p:nvSpPr>
        <p:spPr>
          <a:xfrm>
            <a:off x="713232" y="4910328"/>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04</a:t>
            </a:r>
            <a:endParaRPr lang="en-US" sz="2200" dirty="0"/>
          </a:p>
        </p:txBody>
      </p:sp>
      <p:sp>
        <p:nvSpPr>
          <p:cNvPr id="21" name="Shape 16"/>
          <p:cNvSpPr/>
          <p:nvPr/>
        </p:nvSpPr>
        <p:spPr>
          <a:xfrm>
            <a:off x="1325880" y="5001768"/>
            <a:ext cx="457200" cy="457200"/>
          </a:xfrm>
          <a:prstGeom prst="ellipse">
            <a:avLst/>
          </a:prstGeom>
          <a:solidFill>
            <a:srgbClr val="0B2545"/>
          </a:solidFill>
          <a:ln/>
        </p:spPr>
      </p:sp>
      <p:pic>
        <p:nvPicPr>
          <p:cNvPr id="22" name="Image 3" descr="icons/cogs_FFFFFF.png"/>
          <p:cNvPicPr>
            <a:picLocks noChangeAspect="1"/>
          </p:cNvPicPr>
          <p:nvPr/>
        </p:nvPicPr>
        <p:blipFill>
          <a:blip r:embed="rId6"/>
          <a:stretch>
            <a:fillRect/>
          </a:stretch>
        </p:blipFill>
        <p:spPr>
          <a:xfrm>
            <a:off x="1444752" y="5120640"/>
            <a:ext cx="219456" cy="219456"/>
          </a:xfrm>
          <a:prstGeom prst="rect">
            <a:avLst/>
          </a:prstGeom>
        </p:spPr>
      </p:pic>
      <p:sp>
        <p:nvSpPr>
          <p:cNvPr id="23" name="Text 17"/>
          <p:cNvSpPr txBox="1"/>
          <p:nvPr/>
        </p:nvSpPr>
        <p:spPr>
          <a:xfrm>
            <a:off x="1920240" y="4782312"/>
            <a:ext cx="3749040" cy="896112"/>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Methodology</a:t>
            </a:r>
            <a:endParaRPr lang="en-US" sz="1350" dirty="0"/>
          </a:p>
        </p:txBody>
      </p:sp>
      <p:sp>
        <p:nvSpPr>
          <p:cNvPr id="24" name="Shape 18"/>
          <p:cNvSpPr/>
          <p:nvPr/>
        </p:nvSpPr>
        <p:spPr>
          <a:xfrm>
            <a:off x="6172200" y="1600200"/>
            <a:ext cx="5257800" cy="896112"/>
          </a:xfrm>
          <a:prstGeom prst="roundRect">
            <a:avLst>
              <a:gd name="adj" fmla="val 7143"/>
            </a:avLst>
          </a:prstGeom>
          <a:solidFill>
            <a:srgbClr val="FFFFFF"/>
          </a:solidFill>
          <a:ln w="12700">
            <a:solidFill>
              <a:srgbClr val="E2E8F0"/>
            </a:solidFill>
            <a:prstDash val="solid"/>
          </a:ln>
        </p:spPr>
      </p:sp>
      <p:sp>
        <p:nvSpPr>
          <p:cNvPr id="25" name="Text 19"/>
          <p:cNvSpPr txBox="1"/>
          <p:nvPr/>
        </p:nvSpPr>
        <p:spPr>
          <a:xfrm>
            <a:off x="6336792" y="1728216"/>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05</a:t>
            </a:r>
            <a:endParaRPr lang="en-US" sz="2200" dirty="0"/>
          </a:p>
        </p:txBody>
      </p:sp>
      <p:sp>
        <p:nvSpPr>
          <p:cNvPr id="26" name="Shape 20"/>
          <p:cNvSpPr/>
          <p:nvPr/>
        </p:nvSpPr>
        <p:spPr>
          <a:xfrm>
            <a:off x="6949440" y="1819656"/>
            <a:ext cx="457200" cy="457200"/>
          </a:xfrm>
          <a:prstGeom prst="ellipse">
            <a:avLst/>
          </a:prstGeom>
          <a:solidFill>
            <a:srgbClr val="0B2545"/>
          </a:solidFill>
          <a:ln/>
        </p:spPr>
      </p:sp>
      <p:pic>
        <p:nvPicPr>
          <p:cNvPr id="27" name="Image 4" descr="icons/chartbar_FFFFFF.png"/>
          <p:cNvPicPr>
            <a:picLocks noChangeAspect="1"/>
          </p:cNvPicPr>
          <p:nvPr/>
        </p:nvPicPr>
        <p:blipFill>
          <a:blip r:embed="rId7"/>
          <a:stretch>
            <a:fillRect/>
          </a:stretch>
        </p:blipFill>
        <p:spPr>
          <a:xfrm>
            <a:off x="7068312" y="1938528"/>
            <a:ext cx="219456" cy="219456"/>
          </a:xfrm>
          <a:prstGeom prst="rect">
            <a:avLst/>
          </a:prstGeom>
        </p:spPr>
      </p:pic>
      <p:sp>
        <p:nvSpPr>
          <p:cNvPr id="28" name="Text 21"/>
          <p:cNvSpPr txBox="1"/>
          <p:nvPr/>
        </p:nvSpPr>
        <p:spPr>
          <a:xfrm>
            <a:off x="7543800" y="1600200"/>
            <a:ext cx="3749040" cy="896112"/>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Analysis &amp; Discussion</a:t>
            </a:r>
            <a:endParaRPr lang="en-US" sz="1350" dirty="0"/>
          </a:p>
        </p:txBody>
      </p:sp>
      <p:sp>
        <p:nvSpPr>
          <p:cNvPr id="29" name="Shape 22"/>
          <p:cNvSpPr/>
          <p:nvPr/>
        </p:nvSpPr>
        <p:spPr>
          <a:xfrm>
            <a:off x="6172200" y="2660904"/>
            <a:ext cx="5257800" cy="896112"/>
          </a:xfrm>
          <a:prstGeom prst="roundRect">
            <a:avLst>
              <a:gd name="adj" fmla="val 7143"/>
            </a:avLst>
          </a:prstGeom>
          <a:solidFill>
            <a:srgbClr val="FFFFFF"/>
          </a:solidFill>
          <a:ln w="12700">
            <a:solidFill>
              <a:srgbClr val="E2E8F0"/>
            </a:solidFill>
            <a:prstDash val="solid"/>
          </a:ln>
        </p:spPr>
      </p:sp>
      <p:sp>
        <p:nvSpPr>
          <p:cNvPr id="30" name="Text 23"/>
          <p:cNvSpPr txBox="1"/>
          <p:nvPr/>
        </p:nvSpPr>
        <p:spPr>
          <a:xfrm>
            <a:off x="6336792" y="2788920"/>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06</a:t>
            </a:r>
            <a:endParaRPr lang="en-US" sz="2200" dirty="0"/>
          </a:p>
        </p:txBody>
      </p:sp>
      <p:sp>
        <p:nvSpPr>
          <p:cNvPr id="31" name="Shape 24"/>
          <p:cNvSpPr/>
          <p:nvPr/>
        </p:nvSpPr>
        <p:spPr>
          <a:xfrm>
            <a:off x="6949440" y="2880360"/>
            <a:ext cx="457200" cy="457200"/>
          </a:xfrm>
          <a:prstGeom prst="ellipse">
            <a:avLst/>
          </a:prstGeom>
          <a:solidFill>
            <a:srgbClr val="0B2545"/>
          </a:solidFill>
          <a:ln/>
        </p:spPr>
      </p:sp>
      <p:pic>
        <p:nvPicPr>
          <p:cNvPr id="32" name="Image 5" descr="icons/search_FFFFFF.png"/>
          <p:cNvPicPr>
            <a:picLocks noChangeAspect="1"/>
          </p:cNvPicPr>
          <p:nvPr/>
        </p:nvPicPr>
        <p:blipFill>
          <a:blip r:embed="rId8"/>
          <a:stretch>
            <a:fillRect/>
          </a:stretch>
        </p:blipFill>
        <p:spPr>
          <a:xfrm>
            <a:off x="7068312" y="2999232"/>
            <a:ext cx="219456" cy="219456"/>
          </a:xfrm>
          <a:prstGeom prst="rect">
            <a:avLst/>
          </a:prstGeom>
        </p:spPr>
      </p:pic>
      <p:sp>
        <p:nvSpPr>
          <p:cNvPr id="33" name="Text 25"/>
          <p:cNvSpPr txBox="1"/>
          <p:nvPr/>
        </p:nvSpPr>
        <p:spPr>
          <a:xfrm>
            <a:off x="7543800" y="2660904"/>
            <a:ext cx="3749040" cy="896112"/>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Research Findings</a:t>
            </a:r>
            <a:endParaRPr lang="en-US" sz="1350" dirty="0"/>
          </a:p>
        </p:txBody>
      </p:sp>
      <p:sp>
        <p:nvSpPr>
          <p:cNvPr id="34" name="Shape 26"/>
          <p:cNvSpPr/>
          <p:nvPr/>
        </p:nvSpPr>
        <p:spPr>
          <a:xfrm>
            <a:off x="6172200" y="3721608"/>
            <a:ext cx="5257800" cy="896112"/>
          </a:xfrm>
          <a:prstGeom prst="roundRect">
            <a:avLst>
              <a:gd name="adj" fmla="val 7143"/>
            </a:avLst>
          </a:prstGeom>
          <a:solidFill>
            <a:srgbClr val="FFFFFF"/>
          </a:solidFill>
          <a:ln w="12700">
            <a:solidFill>
              <a:srgbClr val="E2E8F0"/>
            </a:solidFill>
            <a:prstDash val="solid"/>
          </a:ln>
        </p:spPr>
      </p:sp>
      <p:sp>
        <p:nvSpPr>
          <p:cNvPr id="35" name="Text 27"/>
          <p:cNvSpPr txBox="1"/>
          <p:nvPr/>
        </p:nvSpPr>
        <p:spPr>
          <a:xfrm>
            <a:off x="6336792" y="3849624"/>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07</a:t>
            </a:r>
            <a:endParaRPr lang="en-US" sz="2200" dirty="0"/>
          </a:p>
        </p:txBody>
      </p:sp>
      <p:sp>
        <p:nvSpPr>
          <p:cNvPr id="36" name="Shape 28"/>
          <p:cNvSpPr/>
          <p:nvPr/>
        </p:nvSpPr>
        <p:spPr>
          <a:xfrm>
            <a:off x="6949440" y="3941064"/>
            <a:ext cx="457200" cy="457200"/>
          </a:xfrm>
          <a:prstGeom prst="ellipse">
            <a:avLst/>
          </a:prstGeom>
          <a:solidFill>
            <a:srgbClr val="0B2545"/>
          </a:solidFill>
          <a:ln/>
        </p:spPr>
      </p:sp>
      <p:pic>
        <p:nvPicPr>
          <p:cNvPr id="37" name="Image 6" descr="icons/scale_FFFFFF.png"/>
          <p:cNvPicPr>
            <a:picLocks noChangeAspect="1"/>
          </p:cNvPicPr>
          <p:nvPr/>
        </p:nvPicPr>
        <p:blipFill>
          <a:blip r:embed="rId9"/>
          <a:stretch>
            <a:fillRect/>
          </a:stretch>
        </p:blipFill>
        <p:spPr>
          <a:xfrm>
            <a:off x="7068312" y="4059936"/>
            <a:ext cx="219456" cy="219456"/>
          </a:xfrm>
          <a:prstGeom prst="rect">
            <a:avLst/>
          </a:prstGeom>
        </p:spPr>
      </p:pic>
      <p:sp>
        <p:nvSpPr>
          <p:cNvPr id="38" name="Text 29"/>
          <p:cNvSpPr txBox="1"/>
          <p:nvPr/>
        </p:nvSpPr>
        <p:spPr>
          <a:xfrm>
            <a:off x="7543800" y="3721608"/>
            <a:ext cx="3749040" cy="896112"/>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Recommendations &amp; Limitations</a:t>
            </a:r>
            <a:endParaRPr lang="en-US" sz="1350" dirty="0"/>
          </a:p>
        </p:txBody>
      </p:sp>
      <p:sp>
        <p:nvSpPr>
          <p:cNvPr id="39" name="Shape 30"/>
          <p:cNvSpPr/>
          <p:nvPr/>
        </p:nvSpPr>
        <p:spPr>
          <a:xfrm>
            <a:off x="6172200" y="4782312"/>
            <a:ext cx="5257800" cy="896112"/>
          </a:xfrm>
          <a:prstGeom prst="roundRect">
            <a:avLst>
              <a:gd name="adj" fmla="val 7143"/>
            </a:avLst>
          </a:prstGeom>
          <a:solidFill>
            <a:srgbClr val="FFFFFF"/>
          </a:solidFill>
          <a:ln w="12700">
            <a:solidFill>
              <a:srgbClr val="E2E8F0"/>
            </a:solidFill>
            <a:prstDash val="solid"/>
          </a:ln>
        </p:spPr>
      </p:sp>
      <p:sp>
        <p:nvSpPr>
          <p:cNvPr id="40" name="Text 31"/>
          <p:cNvSpPr txBox="1"/>
          <p:nvPr/>
        </p:nvSpPr>
        <p:spPr>
          <a:xfrm>
            <a:off x="6336792" y="4910328"/>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08</a:t>
            </a:r>
            <a:endParaRPr lang="en-US" sz="2200" dirty="0"/>
          </a:p>
        </p:txBody>
      </p:sp>
      <p:sp>
        <p:nvSpPr>
          <p:cNvPr id="41" name="Shape 32"/>
          <p:cNvSpPr/>
          <p:nvPr/>
        </p:nvSpPr>
        <p:spPr>
          <a:xfrm>
            <a:off x="6949440" y="5001768"/>
            <a:ext cx="457200" cy="457200"/>
          </a:xfrm>
          <a:prstGeom prst="ellipse">
            <a:avLst/>
          </a:prstGeom>
          <a:solidFill>
            <a:srgbClr val="0B2545"/>
          </a:solidFill>
          <a:ln/>
        </p:spPr>
      </p:sp>
      <p:pic>
        <p:nvPicPr>
          <p:cNvPr id="42" name="Image 7" descr="icons/check_FFFFFF.png"/>
          <p:cNvPicPr>
            <a:picLocks noChangeAspect="1"/>
          </p:cNvPicPr>
          <p:nvPr/>
        </p:nvPicPr>
        <p:blipFill>
          <a:blip r:embed="rId10"/>
          <a:stretch>
            <a:fillRect/>
          </a:stretch>
        </p:blipFill>
        <p:spPr>
          <a:xfrm>
            <a:off x="7068312" y="5120640"/>
            <a:ext cx="219456" cy="219456"/>
          </a:xfrm>
          <a:prstGeom prst="rect">
            <a:avLst/>
          </a:prstGeom>
        </p:spPr>
      </p:pic>
      <p:sp>
        <p:nvSpPr>
          <p:cNvPr id="43" name="Text 33"/>
          <p:cNvSpPr txBox="1"/>
          <p:nvPr/>
        </p:nvSpPr>
        <p:spPr>
          <a:xfrm>
            <a:off x="7543800" y="4782312"/>
            <a:ext cx="3749040" cy="896112"/>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Conclusion</a:t>
            </a:r>
            <a:endParaRPr lang="en-US" sz="1350" dirty="0"/>
          </a:p>
        </p:txBody>
      </p:sp>
      <p:sp>
        <p:nvSpPr>
          <p:cNvPr id="44" name="Text 3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45" name="Text 35"/>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Introduction</a:t>
            </a:r>
            <a:endParaRPr lang="en-US" sz="3000" dirty="0"/>
          </a:p>
        </p:txBody>
      </p:sp>
      <p:sp>
        <p:nvSpPr>
          <p:cNvPr id="5" name="Text 3"/>
          <p:cNvSpPr txBox="1"/>
          <p:nvPr/>
        </p:nvSpPr>
        <p:spPr>
          <a:xfrm>
            <a:off x="548640" y="1508760"/>
            <a:ext cx="6400800" cy="1463040"/>
          </a:xfrm>
          <a:prstGeom prst="rect">
            <a:avLst/>
          </a:prstGeom>
          <a:noFill/>
          <a:ln/>
        </p:spPr>
        <p:txBody>
          <a:bodyPr wrap="square" rtlCol="0" anchor="ctr"/>
          <a:lstStyle/>
          <a:p>
            <a:pPr marL="0" indent="0">
              <a:lnSpc>
                <a:spcPct val="125000"/>
              </a:lnSpc>
              <a:buNone/>
            </a:pPr>
            <a:r>
              <a:rPr lang="en-US" sz="1350" dirty="0">
                <a:solidFill>
                  <a:srgbClr val="0B2545"/>
                </a:solidFill>
                <a:latin typeface="Calibri" pitchFamily="34" charset="0"/>
                <a:ea typeface="Calibri" pitchFamily="34" charset="-122"/>
                <a:cs typeface="Calibri" pitchFamily="34" charset="-120"/>
              </a:rPr>
              <a:t>Access to reliable electricity remains an important development challenge across Africa, particularly in Sub-Saharan Africa. Although the continent has significant energy resources, a large proportion of its population still lacks reliable and affordable electricity.</a:t>
            </a:r>
            <a:endParaRPr lang="en-US" sz="1350" dirty="0"/>
          </a:p>
        </p:txBody>
      </p:sp>
      <p:sp>
        <p:nvSpPr>
          <p:cNvPr id="6" name="Text 4"/>
          <p:cNvSpPr txBox="1"/>
          <p:nvPr/>
        </p:nvSpPr>
        <p:spPr>
          <a:xfrm>
            <a:off x="548640" y="2971800"/>
            <a:ext cx="6400800" cy="2011680"/>
          </a:xfrm>
          <a:prstGeom prst="rect">
            <a:avLst/>
          </a:prstGeom>
          <a:noFill/>
          <a:ln/>
        </p:spPr>
        <p:txBody>
          <a:bodyPr wrap="square" rtlCol="0" anchor="ctr"/>
          <a:lstStyle/>
          <a:p>
            <a:pPr marL="0" indent="0">
              <a:lnSpc>
                <a:spcPct val="125000"/>
              </a:lnSpc>
              <a:buNone/>
            </a:pPr>
            <a:r>
              <a:rPr lang="en-US" sz="1350" dirty="0">
                <a:solidFill>
                  <a:srgbClr val="0B2545"/>
                </a:solidFill>
                <a:latin typeface="Calibri" pitchFamily="34" charset="0"/>
                <a:ea typeface="Calibri" pitchFamily="34" charset="-122"/>
                <a:cs typeface="Calibri" pitchFamily="34" charset="-120"/>
              </a:rPr>
              <a:t>The challenge goes beyond generation. It also involves how electricity is distributed, who has access, how much is consumed, what it costs, and how reliable supply actually is. Access describes whether a service can be obtained; consumption describes how much of it is actually used — a community can have access yet still show low consumption because of unreliable supply, high cost, or affordability limits.</a:t>
            </a:r>
            <a:endParaRPr lang="en-US" sz="1350" dirty="0"/>
          </a:p>
        </p:txBody>
      </p:sp>
      <p:sp>
        <p:nvSpPr>
          <p:cNvPr id="7" name="Shape 5"/>
          <p:cNvSpPr/>
          <p:nvPr/>
        </p:nvSpPr>
        <p:spPr>
          <a:xfrm>
            <a:off x="7269480" y="1508760"/>
            <a:ext cx="4389120" cy="4480560"/>
          </a:xfrm>
          <a:prstGeom prst="roundRect">
            <a:avLst>
              <a:gd name="adj" fmla="val 1667"/>
            </a:avLst>
          </a:prstGeom>
          <a:solidFill>
            <a:srgbClr val="0B2545"/>
          </a:solidFill>
          <a:ln/>
        </p:spPr>
      </p:sp>
      <p:sp>
        <p:nvSpPr>
          <p:cNvPr id="8" name="Shape 6"/>
          <p:cNvSpPr/>
          <p:nvPr/>
        </p:nvSpPr>
        <p:spPr>
          <a:xfrm>
            <a:off x="7543800" y="1783080"/>
            <a:ext cx="502920" cy="502920"/>
          </a:xfrm>
          <a:prstGeom prst="ellipse">
            <a:avLst/>
          </a:prstGeom>
          <a:solidFill>
            <a:srgbClr val="F4A300"/>
          </a:solidFill>
          <a:ln/>
        </p:spPr>
      </p:sp>
      <p:pic>
        <p:nvPicPr>
          <p:cNvPr id="9" name="Image 0" descr="icons/globe_0B2545.png"/>
          <p:cNvPicPr>
            <a:picLocks noChangeAspect="1"/>
          </p:cNvPicPr>
          <p:nvPr/>
        </p:nvPicPr>
        <p:blipFill>
          <a:blip r:embed="rId3"/>
          <a:stretch>
            <a:fillRect/>
          </a:stretch>
        </p:blipFill>
        <p:spPr>
          <a:xfrm>
            <a:off x="7674559" y="1913839"/>
            <a:ext cx="241402" cy="241402"/>
          </a:xfrm>
          <a:prstGeom prst="rect">
            <a:avLst/>
          </a:prstGeom>
        </p:spPr>
      </p:pic>
      <p:sp>
        <p:nvSpPr>
          <p:cNvPr id="10" name="Text 7"/>
          <p:cNvSpPr txBox="1"/>
          <p:nvPr/>
        </p:nvSpPr>
        <p:spPr>
          <a:xfrm>
            <a:off x="8183880" y="1810512"/>
            <a:ext cx="3291840"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Mission 300</a:t>
            </a:r>
            <a:endParaRPr lang="en-US" sz="1600" dirty="0"/>
          </a:p>
        </p:txBody>
      </p:sp>
      <p:sp>
        <p:nvSpPr>
          <p:cNvPr id="11" name="Text 8"/>
          <p:cNvSpPr txBox="1"/>
          <p:nvPr/>
        </p:nvSpPr>
        <p:spPr>
          <a:xfrm>
            <a:off x="7543800" y="2423160"/>
            <a:ext cx="3886200" cy="1371600"/>
          </a:xfrm>
          <a:prstGeom prst="rect">
            <a:avLst/>
          </a:prstGeom>
          <a:noFill/>
          <a:ln/>
        </p:spPr>
        <p:txBody>
          <a:bodyPr wrap="square"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A joint World Bank Group / African Development Bank initiative to give first-time electricity access to 300 million people in Africa by 2030, combining grid connections, renewable mini-grids and stand-alone off-grid systems.</a:t>
            </a:r>
            <a:endParaRPr lang="en-US" sz="1150" dirty="0"/>
          </a:p>
        </p:txBody>
      </p:sp>
      <p:sp>
        <p:nvSpPr>
          <p:cNvPr id="12" name="Shape 9"/>
          <p:cNvSpPr/>
          <p:nvPr/>
        </p:nvSpPr>
        <p:spPr>
          <a:xfrm>
            <a:off x="7543800" y="3931920"/>
            <a:ext cx="3886200" cy="0"/>
          </a:xfrm>
          <a:prstGeom prst="line">
            <a:avLst/>
          </a:prstGeom>
          <a:noFill/>
          <a:ln w="12700">
            <a:solidFill>
              <a:srgbClr val="13315C"/>
            </a:solidFill>
            <a:prstDash val="solid"/>
          </a:ln>
        </p:spPr>
      </p:sp>
      <p:sp>
        <p:nvSpPr>
          <p:cNvPr id="13" name="Shape 10"/>
          <p:cNvSpPr/>
          <p:nvPr/>
        </p:nvSpPr>
        <p:spPr>
          <a:xfrm>
            <a:off x="7543800" y="4114800"/>
            <a:ext cx="502920" cy="502920"/>
          </a:xfrm>
          <a:prstGeom prst="ellipse">
            <a:avLst/>
          </a:prstGeom>
          <a:solidFill>
            <a:srgbClr val="F4A300"/>
          </a:solidFill>
          <a:ln/>
        </p:spPr>
      </p:sp>
      <p:pic>
        <p:nvPicPr>
          <p:cNvPr id="14" name="Image 1" descr="icons/pin_0B2545.png"/>
          <p:cNvPicPr>
            <a:picLocks noChangeAspect="1"/>
          </p:cNvPicPr>
          <p:nvPr/>
        </p:nvPicPr>
        <p:blipFill>
          <a:blip r:embed="rId4"/>
          <a:stretch>
            <a:fillRect/>
          </a:stretch>
        </p:blipFill>
        <p:spPr>
          <a:xfrm>
            <a:off x="7674559" y="4245559"/>
            <a:ext cx="241402" cy="241402"/>
          </a:xfrm>
          <a:prstGeom prst="rect">
            <a:avLst/>
          </a:prstGeom>
        </p:spPr>
      </p:pic>
      <p:sp>
        <p:nvSpPr>
          <p:cNvPr id="15" name="Text 11"/>
          <p:cNvSpPr txBox="1"/>
          <p:nvPr/>
        </p:nvSpPr>
        <p:spPr>
          <a:xfrm>
            <a:off x="8183880" y="4142232"/>
            <a:ext cx="3291840"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Nigeria's Context</a:t>
            </a:r>
            <a:endParaRPr lang="en-US" sz="1600" dirty="0"/>
          </a:p>
        </p:txBody>
      </p:sp>
      <p:sp>
        <p:nvSpPr>
          <p:cNvPr id="16" name="Text 12"/>
          <p:cNvSpPr txBox="1"/>
          <p:nvPr/>
        </p:nvSpPr>
        <p:spPr>
          <a:xfrm>
            <a:off x="7543800" y="4754880"/>
            <a:ext cx="3886200" cy="1188720"/>
          </a:xfrm>
          <a:prstGeom prst="rect">
            <a:avLst/>
          </a:prstGeom>
          <a:noFill/>
          <a:ln/>
        </p:spPr>
        <p:txBody>
          <a:bodyPr wrap="square"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Nigeria has considerable energy resources and generation potential, yet gaps remain between availability, reliable access and actual consumption. NEP, the Rural Electrification Agency and DARES all target underserved and unserved areas.</a:t>
            </a:r>
            <a:endParaRPr lang="en-US" sz="1150" dirty="0"/>
          </a:p>
        </p:txBody>
      </p:sp>
      <p:sp>
        <p:nvSpPr>
          <p:cNvPr id="17" name="Shape 13"/>
          <p:cNvSpPr/>
          <p:nvPr/>
        </p:nvSpPr>
        <p:spPr>
          <a:xfrm>
            <a:off x="548640" y="5257800"/>
            <a:ext cx="6400800" cy="777240"/>
          </a:xfrm>
          <a:prstGeom prst="roundRect">
            <a:avLst>
              <a:gd name="adj" fmla="val 7059"/>
            </a:avLst>
          </a:prstGeom>
          <a:solidFill>
            <a:srgbClr val="F7F9FC"/>
          </a:solidFill>
          <a:ln w="12700">
            <a:solidFill>
              <a:srgbClr val="E2E8F0"/>
            </a:solidFill>
            <a:prstDash val="solid"/>
          </a:ln>
        </p:spPr>
      </p:sp>
      <p:sp>
        <p:nvSpPr>
          <p:cNvPr id="18" name="Text 14"/>
          <p:cNvSpPr txBox="1"/>
          <p:nvPr/>
        </p:nvSpPr>
        <p:spPr>
          <a:xfrm>
            <a:off x="731520" y="5330952"/>
            <a:ext cx="6035040" cy="640080"/>
          </a:xfrm>
          <a:prstGeom prst="rect">
            <a:avLst/>
          </a:prstGeom>
          <a:noFill/>
          <a:ln/>
        </p:spPr>
        <p:txBody>
          <a:bodyPr wrap="square" rtlCol="0" anchor="ctr"/>
          <a:lstStyle/>
          <a:p>
            <a:pPr marL="0" indent="0">
              <a:lnSpc>
                <a:spcPct val="115000"/>
              </a:lnSpc>
              <a:buNone/>
            </a:pPr>
            <a:r>
              <a:rPr lang="en-US" sz="1150" i="1" dirty="0">
                <a:solidFill>
                  <a:srgbClr val="0B2545"/>
                </a:solidFill>
                <a:latin typeface="Calibri" pitchFamily="34" charset="0"/>
                <a:ea typeface="Calibri" pitchFamily="34" charset="-122"/>
                <a:cs typeface="Calibri" pitchFamily="34" charset="-120"/>
              </a:rPr>
              <a:t>This project approaches the energy challenge from a data perspective — turning structured electricity-consumption records into useful information about demand, cost, customer groups, locations and usage patterns.</a:t>
            </a:r>
            <a:endParaRPr lang="en-US" sz="1150" dirty="0"/>
          </a:p>
        </p:txBody>
      </p:sp>
      <p:sp>
        <p:nvSpPr>
          <p:cNvPr id="19" name="Text 15"/>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0" name="Text 16"/>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Problem Statement</a:t>
            </a:r>
            <a:endParaRPr lang="en-US" sz="3000" dirty="0"/>
          </a:p>
        </p:txBody>
      </p:sp>
      <p:sp>
        <p:nvSpPr>
          <p:cNvPr id="5" name="Shape 3"/>
          <p:cNvSpPr/>
          <p:nvPr/>
        </p:nvSpPr>
        <p:spPr>
          <a:xfrm>
            <a:off x="548640" y="1691640"/>
            <a:ext cx="731520" cy="731520"/>
          </a:xfrm>
          <a:prstGeom prst="ellipse">
            <a:avLst/>
          </a:prstGeom>
          <a:solidFill>
            <a:srgbClr val="C0392B"/>
          </a:solidFill>
          <a:ln/>
        </p:spPr>
      </p:sp>
      <p:pic>
        <p:nvPicPr>
          <p:cNvPr id="6" name="Image 0" descr="icons/alert_FFFFFF.png"/>
          <p:cNvPicPr>
            <a:picLocks noChangeAspect="1"/>
          </p:cNvPicPr>
          <p:nvPr/>
        </p:nvPicPr>
        <p:blipFill>
          <a:blip r:embed="rId3"/>
          <a:stretch>
            <a:fillRect/>
          </a:stretch>
        </p:blipFill>
        <p:spPr>
          <a:xfrm>
            <a:off x="738835" y="1881835"/>
            <a:ext cx="351130" cy="351130"/>
          </a:xfrm>
          <a:prstGeom prst="rect">
            <a:avLst/>
          </a:prstGeom>
        </p:spPr>
      </p:pic>
      <p:sp>
        <p:nvSpPr>
          <p:cNvPr id="7" name="Text 4"/>
          <p:cNvSpPr txBox="1"/>
          <p:nvPr/>
        </p:nvSpPr>
        <p:spPr>
          <a:xfrm>
            <a:off x="1508760" y="1645920"/>
            <a:ext cx="9966960" cy="1188720"/>
          </a:xfrm>
          <a:prstGeom prst="rect">
            <a:avLst/>
          </a:prstGeom>
          <a:noFill/>
          <a:ln/>
        </p:spPr>
        <p:txBody>
          <a:bodyPr wrap="square" rtlCol="0" anchor="ctr"/>
          <a:lstStyle/>
          <a:p>
            <a:pPr marL="0" indent="0">
              <a:lnSpc>
                <a:spcPct val="125000"/>
              </a:lnSpc>
              <a:buNone/>
            </a:pPr>
            <a:r>
              <a:rPr lang="en-US" sz="1500" dirty="0">
                <a:solidFill>
                  <a:srgbClr val="0B2545"/>
                </a:solidFill>
                <a:latin typeface="Calibri" pitchFamily="34" charset="0"/>
                <a:ea typeface="Calibri" pitchFamily="34" charset="-122"/>
                <a:cs typeface="Calibri" pitchFamily="34" charset="-120"/>
              </a:rPr>
              <a:t>Despite Africa's considerable energy resources, electricity access and consumption remain major challenges — especially in Sub-Saharan Africa. The problem isn't only whether electricity can be generated; it must also reach the people who need it, stay reliable, and remain affordable.</a:t>
            </a:r>
            <a:endParaRPr lang="en-US" sz="1500" dirty="0"/>
          </a:p>
        </p:txBody>
      </p:sp>
      <p:sp>
        <p:nvSpPr>
          <p:cNvPr id="8" name="Shape 5"/>
          <p:cNvSpPr/>
          <p:nvPr/>
        </p:nvSpPr>
        <p:spPr>
          <a:xfrm>
            <a:off x="548640" y="2971800"/>
            <a:ext cx="11064240" cy="0"/>
          </a:xfrm>
          <a:prstGeom prst="line">
            <a:avLst/>
          </a:prstGeom>
          <a:noFill/>
          <a:ln w="12700">
            <a:solidFill>
              <a:srgbClr val="E2E8F0"/>
            </a:solidFill>
            <a:prstDash val="solid"/>
          </a:ln>
        </p:spPr>
      </p:sp>
      <p:sp>
        <p:nvSpPr>
          <p:cNvPr id="9" name="Shape 6"/>
          <p:cNvSpPr/>
          <p:nvPr/>
        </p:nvSpPr>
        <p:spPr>
          <a:xfrm>
            <a:off x="548640" y="3337560"/>
            <a:ext cx="3520440" cy="2606040"/>
          </a:xfrm>
          <a:prstGeom prst="roundRect">
            <a:avLst>
              <a:gd name="adj" fmla="val 2807"/>
            </a:avLst>
          </a:prstGeom>
          <a:solidFill>
            <a:srgbClr val="F7F9FC"/>
          </a:solidFill>
          <a:ln w="12700">
            <a:solidFill>
              <a:srgbClr val="E2E8F0"/>
            </a:solidFill>
            <a:prstDash val="solid"/>
          </a:ln>
        </p:spPr>
      </p:sp>
      <p:sp>
        <p:nvSpPr>
          <p:cNvPr id="10" name="Shape 7"/>
          <p:cNvSpPr/>
          <p:nvPr/>
        </p:nvSpPr>
        <p:spPr>
          <a:xfrm>
            <a:off x="804672" y="3593592"/>
            <a:ext cx="548640" cy="548640"/>
          </a:xfrm>
          <a:prstGeom prst="ellipse">
            <a:avLst/>
          </a:prstGeom>
          <a:solidFill>
            <a:srgbClr val="0B2545"/>
          </a:solidFill>
          <a:ln/>
        </p:spPr>
      </p:sp>
      <p:pic>
        <p:nvPicPr>
          <p:cNvPr id="11" name="Image 1" descr="icons/industry_FFFFFF.png"/>
          <p:cNvPicPr>
            <a:picLocks noChangeAspect="1"/>
          </p:cNvPicPr>
          <p:nvPr/>
        </p:nvPicPr>
        <p:blipFill>
          <a:blip r:embed="rId4"/>
          <a:stretch>
            <a:fillRect/>
          </a:stretch>
        </p:blipFill>
        <p:spPr>
          <a:xfrm>
            <a:off x="947318" y="3736238"/>
            <a:ext cx="263347" cy="263347"/>
          </a:xfrm>
          <a:prstGeom prst="rect">
            <a:avLst/>
          </a:prstGeom>
        </p:spPr>
      </p:pic>
      <p:sp>
        <p:nvSpPr>
          <p:cNvPr id="12" name="Text 8"/>
          <p:cNvSpPr txBox="1"/>
          <p:nvPr/>
        </p:nvSpPr>
        <p:spPr>
          <a:xfrm>
            <a:off x="804672" y="4251960"/>
            <a:ext cx="3008376" cy="41148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Nigeria's Reality</a:t>
            </a:r>
            <a:endParaRPr lang="en-US" sz="1500" dirty="0"/>
          </a:p>
        </p:txBody>
      </p:sp>
      <p:sp>
        <p:nvSpPr>
          <p:cNvPr id="13" name="Text 9"/>
          <p:cNvSpPr txBox="1"/>
          <p:nvPr/>
        </p:nvSpPr>
        <p:spPr>
          <a:xfrm>
            <a:off x="804672" y="4663440"/>
            <a:ext cx="3008376" cy="1188720"/>
          </a:xfrm>
          <a:prstGeom prst="rect">
            <a:avLst/>
          </a:prstGeom>
          <a:noFill/>
          <a:ln/>
        </p:spPr>
        <p:txBody>
          <a:bodyPr wrap="square" rtlCol="0" anchor="ctr"/>
          <a:lstStyle/>
          <a:p>
            <a:pPr marL="0" indent="0">
              <a:lnSpc>
                <a:spcPct val="120000"/>
              </a:lnSpc>
              <a:buNone/>
            </a:pPr>
            <a:r>
              <a:rPr lang="en-US" sz="1150" dirty="0">
                <a:solidFill>
                  <a:srgbClr val="5A6B7B"/>
                </a:solidFill>
                <a:latin typeface="Calibri" pitchFamily="34" charset="0"/>
                <a:ea typeface="Calibri" pitchFamily="34" charset="-122"/>
                <a:cs typeface="Calibri" pitchFamily="34" charset="-120"/>
              </a:rPr>
              <a:t>Substantial gas and hydropower resources exist, yet availability and consumption don't always translate into reliable access for every user.</a:t>
            </a:r>
            <a:endParaRPr lang="en-US" sz="1150" dirty="0"/>
          </a:p>
        </p:txBody>
      </p:sp>
      <p:sp>
        <p:nvSpPr>
          <p:cNvPr id="14" name="Shape 10"/>
          <p:cNvSpPr/>
          <p:nvPr/>
        </p:nvSpPr>
        <p:spPr>
          <a:xfrm>
            <a:off x="4325112" y="3337560"/>
            <a:ext cx="3520440" cy="2606040"/>
          </a:xfrm>
          <a:prstGeom prst="roundRect">
            <a:avLst>
              <a:gd name="adj" fmla="val 2807"/>
            </a:avLst>
          </a:prstGeom>
          <a:solidFill>
            <a:srgbClr val="F7F9FC"/>
          </a:solidFill>
          <a:ln w="12700">
            <a:solidFill>
              <a:srgbClr val="E2E8F0"/>
            </a:solidFill>
            <a:prstDash val="solid"/>
          </a:ln>
        </p:spPr>
      </p:sp>
      <p:sp>
        <p:nvSpPr>
          <p:cNvPr id="15" name="Shape 11"/>
          <p:cNvSpPr/>
          <p:nvPr/>
        </p:nvSpPr>
        <p:spPr>
          <a:xfrm>
            <a:off x="4581144" y="3593592"/>
            <a:ext cx="548640" cy="548640"/>
          </a:xfrm>
          <a:prstGeom prst="ellipse">
            <a:avLst/>
          </a:prstGeom>
          <a:solidFill>
            <a:srgbClr val="0B2545"/>
          </a:solidFill>
          <a:ln/>
        </p:spPr>
      </p:sp>
      <p:pic>
        <p:nvPicPr>
          <p:cNvPr id="16" name="Image 2" descr="icons/network_FFFFFF.png"/>
          <p:cNvPicPr>
            <a:picLocks noChangeAspect="1"/>
          </p:cNvPicPr>
          <p:nvPr/>
        </p:nvPicPr>
        <p:blipFill>
          <a:blip r:embed="rId5"/>
          <a:stretch>
            <a:fillRect/>
          </a:stretch>
        </p:blipFill>
        <p:spPr>
          <a:xfrm>
            <a:off x="4723790" y="3736238"/>
            <a:ext cx="263347" cy="263347"/>
          </a:xfrm>
          <a:prstGeom prst="rect">
            <a:avLst/>
          </a:prstGeom>
        </p:spPr>
      </p:pic>
      <p:sp>
        <p:nvSpPr>
          <p:cNvPr id="17" name="Text 12"/>
          <p:cNvSpPr txBox="1"/>
          <p:nvPr/>
        </p:nvSpPr>
        <p:spPr>
          <a:xfrm>
            <a:off x="4581144" y="4251960"/>
            <a:ext cx="3008376" cy="41148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Structural Gaps</a:t>
            </a:r>
            <a:endParaRPr lang="en-US" sz="1500" dirty="0"/>
          </a:p>
        </p:txBody>
      </p:sp>
      <p:sp>
        <p:nvSpPr>
          <p:cNvPr id="18" name="Text 13"/>
          <p:cNvSpPr txBox="1"/>
          <p:nvPr/>
        </p:nvSpPr>
        <p:spPr>
          <a:xfrm>
            <a:off x="4581144" y="4663440"/>
            <a:ext cx="3008376" cy="1188720"/>
          </a:xfrm>
          <a:prstGeom prst="rect">
            <a:avLst/>
          </a:prstGeom>
          <a:noFill/>
          <a:ln/>
        </p:spPr>
        <p:txBody>
          <a:bodyPr wrap="square" rtlCol="0" anchor="ctr"/>
          <a:lstStyle/>
          <a:p>
            <a:pPr marL="0" indent="0">
              <a:lnSpc>
                <a:spcPct val="120000"/>
              </a:lnSpc>
              <a:buNone/>
            </a:pPr>
            <a:r>
              <a:rPr lang="en-US" sz="1150" dirty="0">
                <a:solidFill>
                  <a:srgbClr val="5A6B7B"/>
                </a:solidFill>
                <a:latin typeface="Calibri" pitchFamily="34" charset="0"/>
                <a:ea typeface="Calibri" pitchFamily="34" charset="-122"/>
                <a:cs typeface="Calibri" pitchFamily="34" charset="-120"/>
              </a:rPr>
              <a:t>Location, customer type, electricity cost and outages all shape how electricity actually gets consumed across the country.</a:t>
            </a:r>
            <a:endParaRPr lang="en-US" sz="1150" dirty="0"/>
          </a:p>
        </p:txBody>
      </p:sp>
      <p:sp>
        <p:nvSpPr>
          <p:cNvPr id="19" name="Shape 14"/>
          <p:cNvSpPr/>
          <p:nvPr/>
        </p:nvSpPr>
        <p:spPr>
          <a:xfrm>
            <a:off x="8101584" y="3337560"/>
            <a:ext cx="3520440" cy="2606040"/>
          </a:xfrm>
          <a:prstGeom prst="roundRect">
            <a:avLst>
              <a:gd name="adj" fmla="val 2807"/>
            </a:avLst>
          </a:prstGeom>
          <a:solidFill>
            <a:srgbClr val="F7F9FC"/>
          </a:solidFill>
          <a:ln w="12700">
            <a:solidFill>
              <a:srgbClr val="E2E8F0"/>
            </a:solidFill>
            <a:prstDash val="solid"/>
          </a:ln>
        </p:spPr>
      </p:sp>
      <p:sp>
        <p:nvSpPr>
          <p:cNvPr id="20" name="Shape 15"/>
          <p:cNvSpPr/>
          <p:nvPr/>
        </p:nvSpPr>
        <p:spPr>
          <a:xfrm>
            <a:off x="8357616" y="3593592"/>
            <a:ext cx="548640" cy="548640"/>
          </a:xfrm>
          <a:prstGeom prst="ellipse">
            <a:avLst/>
          </a:prstGeom>
          <a:solidFill>
            <a:srgbClr val="0B2545"/>
          </a:solidFill>
          <a:ln/>
        </p:spPr>
      </p:sp>
      <p:pic>
        <p:nvPicPr>
          <p:cNvPr id="21" name="Image 3" descr="icons/chartbar_FFFFFF.png"/>
          <p:cNvPicPr>
            <a:picLocks noChangeAspect="1"/>
          </p:cNvPicPr>
          <p:nvPr/>
        </p:nvPicPr>
        <p:blipFill>
          <a:blip r:embed="rId6"/>
          <a:stretch>
            <a:fillRect/>
          </a:stretch>
        </p:blipFill>
        <p:spPr>
          <a:xfrm>
            <a:off x="8500262" y="3736238"/>
            <a:ext cx="263347" cy="263347"/>
          </a:xfrm>
          <a:prstGeom prst="rect">
            <a:avLst/>
          </a:prstGeom>
        </p:spPr>
      </p:pic>
      <p:sp>
        <p:nvSpPr>
          <p:cNvPr id="22" name="Text 16"/>
          <p:cNvSpPr txBox="1"/>
          <p:nvPr/>
        </p:nvSpPr>
        <p:spPr>
          <a:xfrm>
            <a:off x="8357616" y="4251960"/>
            <a:ext cx="3008376" cy="411480"/>
          </a:xfrm>
          <a:prstGeom prst="rect">
            <a:avLst/>
          </a:prstGeom>
          <a:noFill/>
          <a:ln/>
        </p:spPr>
        <p:txBody>
          <a:bodyPr wrap="square"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The Data Gap</a:t>
            </a:r>
            <a:endParaRPr lang="en-US" sz="1500" dirty="0"/>
          </a:p>
        </p:txBody>
      </p:sp>
      <p:sp>
        <p:nvSpPr>
          <p:cNvPr id="23" name="Text 17"/>
          <p:cNvSpPr txBox="1"/>
          <p:nvPr/>
        </p:nvSpPr>
        <p:spPr>
          <a:xfrm>
            <a:off x="8357616" y="4663440"/>
            <a:ext cx="3008376" cy="1188720"/>
          </a:xfrm>
          <a:prstGeom prst="rect">
            <a:avLst/>
          </a:prstGeom>
          <a:noFill/>
          <a:ln/>
        </p:spPr>
        <p:txBody>
          <a:bodyPr wrap="square" rtlCol="0" anchor="ctr"/>
          <a:lstStyle/>
          <a:p>
            <a:pPr marL="0" indent="0">
              <a:lnSpc>
                <a:spcPct val="120000"/>
              </a:lnSpc>
              <a:buNone/>
            </a:pPr>
            <a:r>
              <a:rPr lang="en-US" sz="1150" dirty="0">
                <a:solidFill>
                  <a:srgbClr val="5A6B7B"/>
                </a:solidFill>
                <a:latin typeface="Calibri" pitchFamily="34" charset="0"/>
                <a:ea typeface="Calibri" pitchFamily="34" charset="-122"/>
                <a:cs typeface="Calibri" pitchFamily="34" charset="-120"/>
              </a:rPr>
              <a:t>Without structured analysis, consumption records stay individual data points — with no clear picture of demand, customer segments, or cases needing investigation.</a:t>
            </a:r>
            <a:endParaRPr lang="en-US" sz="1150" dirty="0"/>
          </a:p>
        </p:txBody>
      </p:sp>
      <p:sp>
        <p:nvSpPr>
          <p:cNvPr id="24" name="Text 1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5" name="Text 1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Aim &amp; Objectives</a:t>
            </a:r>
            <a:endParaRPr lang="en-US" sz="3000" dirty="0"/>
          </a:p>
        </p:txBody>
      </p:sp>
      <p:sp>
        <p:nvSpPr>
          <p:cNvPr id="5" name="Shape 3"/>
          <p:cNvSpPr/>
          <p:nvPr/>
        </p:nvSpPr>
        <p:spPr>
          <a:xfrm>
            <a:off x="548640" y="1600200"/>
            <a:ext cx="11109960" cy="1554480"/>
          </a:xfrm>
          <a:prstGeom prst="roundRect">
            <a:avLst>
              <a:gd name="adj" fmla="val 4706"/>
            </a:avLst>
          </a:prstGeom>
          <a:solidFill>
            <a:srgbClr val="0B2545"/>
          </a:solidFill>
          <a:ln/>
        </p:spPr>
      </p:sp>
      <p:sp>
        <p:nvSpPr>
          <p:cNvPr id="6" name="Shape 4"/>
          <p:cNvSpPr/>
          <p:nvPr/>
        </p:nvSpPr>
        <p:spPr>
          <a:xfrm>
            <a:off x="868680" y="1920240"/>
            <a:ext cx="868680" cy="868680"/>
          </a:xfrm>
          <a:prstGeom prst="ellipse">
            <a:avLst/>
          </a:prstGeom>
          <a:solidFill>
            <a:srgbClr val="F4A300"/>
          </a:solidFill>
          <a:ln/>
        </p:spPr>
      </p:sp>
      <p:pic>
        <p:nvPicPr>
          <p:cNvPr id="7" name="Image 0" descr="icons/target_0B2545.png"/>
          <p:cNvPicPr>
            <a:picLocks noChangeAspect="1"/>
          </p:cNvPicPr>
          <p:nvPr/>
        </p:nvPicPr>
        <p:blipFill>
          <a:blip r:embed="rId3"/>
          <a:stretch>
            <a:fillRect/>
          </a:stretch>
        </p:blipFill>
        <p:spPr>
          <a:xfrm>
            <a:off x="1094537" y="2146097"/>
            <a:ext cx="416966" cy="416966"/>
          </a:xfrm>
          <a:prstGeom prst="rect">
            <a:avLst/>
          </a:prstGeom>
        </p:spPr>
      </p:pic>
      <p:sp>
        <p:nvSpPr>
          <p:cNvPr id="8" name="Text 5"/>
          <p:cNvSpPr txBox="1"/>
          <p:nvPr/>
        </p:nvSpPr>
        <p:spPr>
          <a:xfrm>
            <a:off x="1920240" y="1737360"/>
            <a:ext cx="9509760" cy="1280160"/>
          </a:xfrm>
          <a:prstGeom prst="rect">
            <a:avLst/>
          </a:prstGeom>
          <a:noFill/>
          <a:ln/>
        </p:spPr>
        <p:txBody>
          <a:bodyPr wrap="square" rtlCol="0" anchor="ctr"/>
          <a:lstStyle/>
          <a:p>
            <a:pPr marL="0" indent="0">
              <a:lnSpc>
                <a:spcPct val="125000"/>
              </a:lnSpc>
              <a:buNone/>
            </a:pPr>
            <a:r>
              <a:rPr lang="en-US" sz="1550" i="1" dirty="0">
                <a:solidFill>
                  <a:srgbClr val="FFFFFF"/>
                </a:solidFill>
                <a:latin typeface="Cambria" pitchFamily="34" charset="0"/>
                <a:ea typeface="Cambria" pitchFamily="34" charset="-122"/>
                <a:cs typeface="Cambria" pitchFamily="34" charset="-120"/>
              </a:rPr>
              <a:t>The major aim of this project is to develop a Python-based Energy Consumption Analysis System that analyzes structured electricity-consumption records and provides useful insights into consumption, electricity cost, customer groups, locations and usage patterns.</a:t>
            </a:r>
            <a:endParaRPr lang="en-US" sz="1550" dirty="0"/>
          </a:p>
        </p:txBody>
      </p:sp>
      <p:sp>
        <p:nvSpPr>
          <p:cNvPr id="9" name="Text 6"/>
          <p:cNvSpPr txBox="1"/>
          <p:nvPr/>
        </p:nvSpPr>
        <p:spPr>
          <a:xfrm>
            <a:off x="548640" y="3429000"/>
            <a:ext cx="5486400" cy="274320"/>
          </a:xfrm>
          <a:prstGeom prst="rect">
            <a:avLst/>
          </a:prstGeom>
          <a:noFill/>
          <a:ln/>
        </p:spPr>
        <p:txBody>
          <a:bodyPr wrap="square" rtlCol="0" anchor="ctr"/>
          <a:lstStyle/>
          <a:p>
            <a:pPr marL="0" indent="0">
              <a:buNone/>
            </a:pPr>
            <a:r>
              <a:rPr lang="en-US" sz="1150" b="1" kern="0" spc="150" dirty="0">
                <a:solidFill>
                  <a:srgbClr val="F4A300"/>
                </a:solidFill>
                <a:latin typeface="Calibri" pitchFamily="34" charset="0"/>
                <a:ea typeface="Calibri" pitchFamily="34" charset="-122"/>
                <a:cs typeface="Calibri" pitchFamily="34" charset="-120"/>
              </a:rPr>
              <a:t>THE PROJECT SET OUT TO:</a:t>
            </a:r>
            <a:endParaRPr lang="en-US" sz="1150" dirty="0"/>
          </a:p>
        </p:txBody>
      </p:sp>
      <p:sp>
        <p:nvSpPr>
          <p:cNvPr id="10" name="Shape 7"/>
          <p:cNvSpPr/>
          <p:nvPr/>
        </p:nvSpPr>
        <p:spPr>
          <a:xfrm>
            <a:off x="548640" y="3840480"/>
            <a:ext cx="457200" cy="457200"/>
          </a:xfrm>
          <a:prstGeom prst="ellipse">
            <a:avLst/>
          </a:prstGeom>
          <a:solidFill>
            <a:srgbClr val="0B2545"/>
          </a:solidFill>
          <a:ln/>
        </p:spPr>
      </p:sp>
      <p:pic>
        <p:nvPicPr>
          <p:cNvPr id="11" name="Image 1" descr="icons/database_FFFFFF.png"/>
          <p:cNvPicPr>
            <a:picLocks noChangeAspect="1"/>
          </p:cNvPicPr>
          <p:nvPr/>
        </p:nvPicPr>
        <p:blipFill>
          <a:blip r:embed="rId4"/>
          <a:stretch>
            <a:fillRect/>
          </a:stretch>
        </p:blipFill>
        <p:spPr>
          <a:xfrm>
            <a:off x="667512" y="3959352"/>
            <a:ext cx="219456" cy="219456"/>
          </a:xfrm>
          <a:prstGeom prst="rect">
            <a:avLst/>
          </a:prstGeom>
        </p:spPr>
      </p:pic>
      <p:sp>
        <p:nvSpPr>
          <p:cNvPr id="12" name="Text 8"/>
          <p:cNvSpPr txBox="1"/>
          <p:nvPr/>
        </p:nvSpPr>
        <p:spPr>
          <a:xfrm>
            <a:off x="1207008" y="3813048"/>
            <a:ext cx="4690872" cy="292608"/>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Structure the data</a:t>
            </a:r>
            <a:endParaRPr lang="en-US" sz="1250" dirty="0"/>
          </a:p>
        </p:txBody>
      </p:sp>
      <p:sp>
        <p:nvSpPr>
          <p:cNvPr id="13" name="Text 9"/>
          <p:cNvSpPr txBox="1"/>
          <p:nvPr/>
        </p:nvSpPr>
        <p:spPr>
          <a:xfrm>
            <a:off x="1207008" y="4087368"/>
            <a:ext cx="4690872" cy="548640"/>
          </a:xfrm>
          <a:prstGeom prst="rect">
            <a:avLst/>
          </a:prstGeom>
          <a:noFill/>
          <a:ln/>
        </p:spPr>
        <p:txBody>
          <a:bodyPr wrap="square" rtlCol="0" anchor="t"/>
          <a:lstStyle/>
          <a:p>
            <a:pPr marL="0" indent="0">
              <a:lnSpc>
                <a:spcPct val="112000"/>
              </a:lnSpc>
              <a:buNone/>
            </a:pPr>
            <a:r>
              <a:rPr lang="en-US" sz="1050" dirty="0">
                <a:solidFill>
                  <a:srgbClr val="5A6B7B"/>
                </a:solidFill>
                <a:latin typeface="Calibri" pitchFamily="34" charset="0"/>
                <a:ea typeface="Calibri" pitchFamily="34" charset="-122"/>
                <a:cs typeface="Calibri" pitchFamily="34" charset="-120"/>
              </a:rPr>
              <a:t>Organize electricity-consumption records using Python lists and dictionaries.</a:t>
            </a:r>
            <a:endParaRPr lang="en-US" sz="1050" dirty="0"/>
          </a:p>
        </p:txBody>
      </p:sp>
      <p:sp>
        <p:nvSpPr>
          <p:cNvPr id="14" name="Shape 10"/>
          <p:cNvSpPr/>
          <p:nvPr/>
        </p:nvSpPr>
        <p:spPr>
          <a:xfrm>
            <a:off x="6309360" y="3840480"/>
            <a:ext cx="457200" cy="457200"/>
          </a:xfrm>
          <a:prstGeom prst="ellipse">
            <a:avLst/>
          </a:prstGeom>
          <a:solidFill>
            <a:srgbClr val="0B2545"/>
          </a:solidFill>
          <a:ln/>
        </p:spPr>
      </p:sp>
      <p:pic>
        <p:nvPicPr>
          <p:cNvPr id="15" name="Image 2" descr="icons/check_FFFFFF.png"/>
          <p:cNvPicPr>
            <a:picLocks noChangeAspect="1"/>
          </p:cNvPicPr>
          <p:nvPr/>
        </p:nvPicPr>
        <p:blipFill>
          <a:blip r:embed="rId5"/>
          <a:stretch>
            <a:fillRect/>
          </a:stretch>
        </p:blipFill>
        <p:spPr>
          <a:xfrm>
            <a:off x="6428232" y="3959352"/>
            <a:ext cx="219456" cy="219456"/>
          </a:xfrm>
          <a:prstGeom prst="rect">
            <a:avLst/>
          </a:prstGeom>
        </p:spPr>
      </p:pic>
      <p:sp>
        <p:nvSpPr>
          <p:cNvPr id="16" name="Text 11"/>
          <p:cNvSpPr txBox="1"/>
          <p:nvPr/>
        </p:nvSpPr>
        <p:spPr>
          <a:xfrm>
            <a:off x="6967728" y="3813048"/>
            <a:ext cx="4690872" cy="292608"/>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Validate the dataset</a:t>
            </a:r>
            <a:endParaRPr lang="en-US" sz="1250" dirty="0"/>
          </a:p>
        </p:txBody>
      </p:sp>
      <p:sp>
        <p:nvSpPr>
          <p:cNvPr id="17" name="Text 12"/>
          <p:cNvSpPr txBox="1"/>
          <p:nvPr/>
        </p:nvSpPr>
        <p:spPr>
          <a:xfrm>
            <a:off x="6967728" y="4087368"/>
            <a:ext cx="4690872" cy="548640"/>
          </a:xfrm>
          <a:prstGeom prst="rect">
            <a:avLst/>
          </a:prstGeom>
          <a:noFill/>
          <a:ln/>
        </p:spPr>
        <p:txBody>
          <a:bodyPr wrap="square" rtlCol="0" anchor="t"/>
          <a:lstStyle/>
          <a:p>
            <a:pPr marL="0" indent="0">
              <a:lnSpc>
                <a:spcPct val="112000"/>
              </a:lnSpc>
              <a:buNone/>
            </a:pPr>
            <a:r>
              <a:rPr lang="en-US" sz="1050" dirty="0">
                <a:solidFill>
                  <a:srgbClr val="5A6B7B"/>
                </a:solidFill>
                <a:latin typeface="Calibri" pitchFamily="34" charset="0"/>
                <a:ea typeface="Calibri" pitchFamily="34" charset="-122"/>
                <a:cs typeface="Calibri" pitchFamily="34" charset="-120"/>
              </a:rPr>
              <a:t>Check for missing IDs, invalid values, duplicates and inconsistent records.</a:t>
            </a:r>
            <a:endParaRPr lang="en-US" sz="1050" dirty="0"/>
          </a:p>
        </p:txBody>
      </p:sp>
      <p:sp>
        <p:nvSpPr>
          <p:cNvPr id="18" name="Shape 13"/>
          <p:cNvSpPr/>
          <p:nvPr/>
        </p:nvSpPr>
        <p:spPr>
          <a:xfrm>
            <a:off x="548640" y="5074920"/>
            <a:ext cx="457200" cy="457200"/>
          </a:xfrm>
          <a:prstGeom prst="ellipse">
            <a:avLst/>
          </a:prstGeom>
          <a:solidFill>
            <a:srgbClr val="0B2545"/>
          </a:solidFill>
          <a:ln/>
        </p:spPr>
      </p:sp>
      <p:pic>
        <p:nvPicPr>
          <p:cNvPr id="19" name="Image 3" descr="icons/chartbar_FFFFFF.png"/>
          <p:cNvPicPr>
            <a:picLocks noChangeAspect="1"/>
          </p:cNvPicPr>
          <p:nvPr/>
        </p:nvPicPr>
        <p:blipFill>
          <a:blip r:embed="rId6"/>
          <a:stretch>
            <a:fillRect/>
          </a:stretch>
        </p:blipFill>
        <p:spPr>
          <a:xfrm>
            <a:off x="667512" y="5193792"/>
            <a:ext cx="219456" cy="219456"/>
          </a:xfrm>
          <a:prstGeom prst="rect">
            <a:avLst/>
          </a:prstGeom>
        </p:spPr>
      </p:pic>
      <p:sp>
        <p:nvSpPr>
          <p:cNvPr id="20" name="Text 14"/>
          <p:cNvSpPr txBox="1"/>
          <p:nvPr/>
        </p:nvSpPr>
        <p:spPr>
          <a:xfrm>
            <a:off x="1207008" y="5047488"/>
            <a:ext cx="4690872" cy="292608"/>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Calculate core metrics</a:t>
            </a:r>
            <a:endParaRPr lang="en-US" sz="1250" dirty="0"/>
          </a:p>
        </p:txBody>
      </p:sp>
      <p:sp>
        <p:nvSpPr>
          <p:cNvPr id="21" name="Text 15"/>
          <p:cNvSpPr txBox="1"/>
          <p:nvPr/>
        </p:nvSpPr>
        <p:spPr>
          <a:xfrm>
            <a:off x="1207008" y="5321808"/>
            <a:ext cx="4690872" cy="548640"/>
          </a:xfrm>
          <a:prstGeom prst="rect">
            <a:avLst/>
          </a:prstGeom>
          <a:noFill/>
          <a:ln/>
        </p:spPr>
        <p:txBody>
          <a:bodyPr wrap="square" rtlCol="0" anchor="t"/>
          <a:lstStyle/>
          <a:p>
            <a:pPr marL="0" indent="0">
              <a:lnSpc>
                <a:spcPct val="112000"/>
              </a:lnSpc>
              <a:buNone/>
            </a:pPr>
            <a:r>
              <a:rPr lang="en-US" sz="1050" dirty="0">
                <a:solidFill>
                  <a:srgbClr val="5A6B7B"/>
                </a:solidFill>
                <a:latin typeface="Calibri" pitchFamily="34" charset="0"/>
                <a:ea typeface="Calibri" pitchFamily="34" charset="-122"/>
                <a:cs typeface="Calibri" pitchFamily="34" charset="-120"/>
              </a:rPr>
              <a:t>Total, average, maximum and minimum consumption across all customers.</a:t>
            </a:r>
            <a:endParaRPr lang="en-US" sz="1050" dirty="0"/>
          </a:p>
        </p:txBody>
      </p:sp>
      <p:sp>
        <p:nvSpPr>
          <p:cNvPr id="22" name="Shape 16"/>
          <p:cNvSpPr/>
          <p:nvPr/>
        </p:nvSpPr>
        <p:spPr>
          <a:xfrm>
            <a:off x="6309360" y="5074920"/>
            <a:ext cx="457200" cy="457200"/>
          </a:xfrm>
          <a:prstGeom prst="ellipse">
            <a:avLst/>
          </a:prstGeom>
          <a:solidFill>
            <a:srgbClr val="0B2545"/>
          </a:solidFill>
          <a:ln/>
        </p:spPr>
      </p:sp>
      <p:pic>
        <p:nvPicPr>
          <p:cNvPr id="23" name="Image 4" descr="icons/money_FFFFFF.png"/>
          <p:cNvPicPr>
            <a:picLocks noChangeAspect="1"/>
          </p:cNvPicPr>
          <p:nvPr/>
        </p:nvPicPr>
        <p:blipFill>
          <a:blip r:embed="rId7"/>
          <a:stretch>
            <a:fillRect/>
          </a:stretch>
        </p:blipFill>
        <p:spPr>
          <a:xfrm>
            <a:off x="6428232" y="5193792"/>
            <a:ext cx="219456" cy="219456"/>
          </a:xfrm>
          <a:prstGeom prst="rect">
            <a:avLst/>
          </a:prstGeom>
        </p:spPr>
      </p:pic>
      <p:sp>
        <p:nvSpPr>
          <p:cNvPr id="24" name="Text 17"/>
          <p:cNvSpPr txBox="1"/>
          <p:nvPr/>
        </p:nvSpPr>
        <p:spPr>
          <a:xfrm>
            <a:off x="6967728" y="5047488"/>
            <a:ext cx="4690872" cy="292608"/>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Analyze cost</a:t>
            </a:r>
            <a:endParaRPr lang="en-US" sz="1250" dirty="0"/>
          </a:p>
        </p:txBody>
      </p:sp>
      <p:sp>
        <p:nvSpPr>
          <p:cNvPr id="25" name="Text 18"/>
          <p:cNvSpPr txBox="1"/>
          <p:nvPr/>
        </p:nvSpPr>
        <p:spPr>
          <a:xfrm>
            <a:off x="6967728" y="5321808"/>
            <a:ext cx="4690872" cy="548640"/>
          </a:xfrm>
          <a:prstGeom prst="rect">
            <a:avLst/>
          </a:prstGeom>
          <a:noFill/>
          <a:ln/>
        </p:spPr>
        <p:txBody>
          <a:bodyPr wrap="square" rtlCol="0" anchor="t"/>
          <a:lstStyle/>
          <a:p>
            <a:pPr marL="0" indent="0">
              <a:lnSpc>
                <a:spcPct val="112000"/>
              </a:lnSpc>
              <a:buNone/>
            </a:pPr>
            <a:r>
              <a:rPr lang="en-US" sz="1050" dirty="0">
                <a:solidFill>
                  <a:srgbClr val="5A6B7B"/>
                </a:solidFill>
                <a:latin typeface="Calibri" pitchFamily="34" charset="0"/>
                <a:ea typeface="Calibri" pitchFamily="34" charset="-122"/>
                <a:cs typeface="Calibri" pitchFamily="34" charset="-120"/>
              </a:rPr>
              <a:t>Individual and overall electricity cost, based on consumption and tariff.</a:t>
            </a:r>
            <a:endParaRPr lang="en-US" sz="1050" dirty="0"/>
          </a:p>
        </p:txBody>
      </p:sp>
      <p:sp>
        <p:nvSpPr>
          <p:cNvPr id="26" name="Text 19"/>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7" name="Text 20"/>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AIM &amp; OBJECTIVES,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Objectives (continued)</a:t>
            </a:r>
            <a:endParaRPr lang="en-US" sz="3000" dirty="0"/>
          </a:p>
        </p:txBody>
      </p:sp>
      <p:sp>
        <p:nvSpPr>
          <p:cNvPr id="4" name="Shape 2"/>
          <p:cNvSpPr/>
          <p:nvPr/>
        </p:nvSpPr>
        <p:spPr>
          <a:xfrm>
            <a:off x="548640" y="1600200"/>
            <a:ext cx="3520440" cy="2057400"/>
          </a:xfrm>
          <a:prstGeom prst="roundRect">
            <a:avLst>
              <a:gd name="adj" fmla="val 3556"/>
            </a:avLst>
          </a:prstGeom>
          <a:solidFill>
            <a:srgbClr val="F7F9FC"/>
          </a:solidFill>
          <a:ln w="12700">
            <a:solidFill>
              <a:srgbClr val="E2E8F0"/>
            </a:solidFill>
            <a:prstDash val="solid"/>
          </a:ln>
        </p:spPr>
      </p:sp>
      <p:sp>
        <p:nvSpPr>
          <p:cNvPr id="5" name="Shape 3"/>
          <p:cNvSpPr/>
          <p:nvPr/>
        </p:nvSpPr>
        <p:spPr>
          <a:xfrm>
            <a:off x="749808" y="1783080"/>
            <a:ext cx="438912" cy="438912"/>
          </a:xfrm>
          <a:prstGeom prst="ellipse">
            <a:avLst/>
          </a:prstGeom>
          <a:solidFill>
            <a:srgbClr val="0B2545"/>
          </a:solidFill>
          <a:ln/>
        </p:spPr>
      </p:sp>
      <p:pic>
        <p:nvPicPr>
          <p:cNvPr id="6" name="Image 0" descr="icons/pin_FFFFFF.png"/>
          <p:cNvPicPr>
            <a:picLocks noChangeAspect="1"/>
          </p:cNvPicPr>
          <p:nvPr/>
        </p:nvPicPr>
        <p:blipFill>
          <a:blip r:embed="rId3"/>
          <a:stretch>
            <a:fillRect/>
          </a:stretch>
        </p:blipFill>
        <p:spPr>
          <a:xfrm>
            <a:off x="863925" y="1897197"/>
            <a:ext cx="210678" cy="210678"/>
          </a:xfrm>
          <a:prstGeom prst="rect">
            <a:avLst/>
          </a:prstGeom>
        </p:spPr>
      </p:pic>
      <p:sp>
        <p:nvSpPr>
          <p:cNvPr id="7" name="Text 4"/>
          <p:cNvSpPr txBox="1"/>
          <p:nvPr/>
        </p:nvSpPr>
        <p:spPr>
          <a:xfrm>
            <a:off x="749808" y="2313432"/>
            <a:ext cx="3118104" cy="36576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Compare locations</a:t>
            </a:r>
            <a:endParaRPr lang="en-US" sz="1250" dirty="0"/>
          </a:p>
        </p:txBody>
      </p:sp>
      <p:sp>
        <p:nvSpPr>
          <p:cNvPr id="8" name="Text 5"/>
          <p:cNvSpPr txBox="1"/>
          <p:nvPr/>
        </p:nvSpPr>
        <p:spPr>
          <a:xfrm>
            <a:off x="749808" y="2651760"/>
            <a:ext cx="3118104" cy="914400"/>
          </a:xfrm>
          <a:prstGeom prst="rect">
            <a:avLst/>
          </a:prstGeom>
          <a:noFill/>
          <a:ln/>
        </p:spPr>
        <p:txBody>
          <a:bodyPr wrap="square" rtlCol="0" anchor="t"/>
          <a:lstStyle/>
          <a:p>
            <a:pPr marL="0" indent="0">
              <a:lnSpc>
                <a:spcPct val="115000"/>
              </a:lnSpc>
              <a:buNone/>
            </a:pPr>
            <a:r>
              <a:rPr lang="en-US" sz="1000" dirty="0">
                <a:solidFill>
                  <a:srgbClr val="5A6B7B"/>
                </a:solidFill>
                <a:latin typeface="Calibri" pitchFamily="34" charset="0"/>
                <a:ea typeface="Calibri" pitchFamily="34" charset="-122"/>
                <a:cs typeface="Calibri" pitchFamily="34" charset="-120"/>
              </a:rPr>
              <a:t>Analyze consumption across Lagos, Abuja and Ibadan by applying classification thresholds and finding highest/lowest consumers.</a:t>
            </a:r>
            <a:endParaRPr lang="en-US" sz="1000" dirty="0"/>
          </a:p>
        </p:txBody>
      </p:sp>
      <p:sp>
        <p:nvSpPr>
          <p:cNvPr id="9" name="Shape 6"/>
          <p:cNvSpPr/>
          <p:nvPr/>
        </p:nvSpPr>
        <p:spPr>
          <a:xfrm>
            <a:off x="4325112" y="1600200"/>
            <a:ext cx="3520440" cy="2057400"/>
          </a:xfrm>
          <a:prstGeom prst="roundRect">
            <a:avLst>
              <a:gd name="adj" fmla="val 3556"/>
            </a:avLst>
          </a:prstGeom>
          <a:solidFill>
            <a:srgbClr val="F7F9FC"/>
          </a:solidFill>
          <a:ln w="12700">
            <a:solidFill>
              <a:srgbClr val="E2E8F0"/>
            </a:solidFill>
            <a:prstDash val="solid"/>
          </a:ln>
        </p:spPr>
      </p:sp>
      <p:sp>
        <p:nvSpPr>
          <p:cNvPr id="10" name="Shape 7"/>
          <p:cNvSpPr/>
          <p:nvPr/>
        </p:nvSpPr>
        <p:spPr>
          <a:xfrm>
            <a:off x="4526280" y="1783080"/>
            <a:ext cx="438912" cy="438912"/>
          </a:xfrm>
          <a:prstGeom prst="ellipse">
            <a:avLst/>
          </a:prstGeom>
          <a:solidFill>
            <a:srgbClr val="0B2545"/>
          </a:solidFill>
          <a:ln/>
        </p:spPr>
      </p:sp>
      <p:pic>
        <p:nvPicPr>
          <p:cNvPr id="11" name="Image 1" descr="icons/industry_FFFFFF.png"/>
          <p:cNvPicPr>
            <a:picLocks noChangeAspect="1"/>
          </p:cNvPicPr>
          <p:nvPr/>
        </p:nvPicPr>
        <p:blipFill>
          <a:blip r:embed="rId4"/>
          <a:stretch>
            <a:fillRect/>
          </a:stretch>
        </p:blipFill>
        <p:spPr>
          <a:xfrm>
            <a:off x="4640397" y="1897197"/>
            <a:ext cx="210678" cy="210678"/>
          </a:xfrm>
          <a:prstGeom prst="rect">
            <a:avLst/>
          </a:prstGeom>
        </p:spPr>
      </p:pic>
      <p:sp>
        <p:nvSpPr>
          <p:cNvPr id="12" name="Text 8"/>
          <p:cNvSpPr txBox="1"/>
          <p:nvPr/>
        </p:nvSpPr>
        <p:spPr>
          <a:xfrm>
            <a:off x="4526280" y="2313432"/>
            <a:ext cx="3118104" cy="36576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Compare customer types</a:t>
            </a:r>
            <a:endParaRPr lang="en-US" sz="1250" dirty="0"/>
          </a:p>
        </p:txBody>
      </p:sp>
      <p:sp>
        <p:nvSpPr>
          <p:cNvPr id="13" name="Text 9"/>
          <p:cNvSpPr txBox="1"/>
          <p:nvPr/>
        </p:nvSpPr>
        <p:spPr>
          <a:xfrm>
            <a:off x="4526280" y="2651760"/>
            <a:ext cx="3118104" cy="914400"/>
          </a:xfrm>
          <a:prstGeom prst="rect">
            <a:avLst/>
          </a:prstGeom>
          <a:noFill/>
          <a:ln/>
        </p:spPr>
        <p:txBody>
          <a:bodyPr wrap="square" rtlCol="0" anchor="t"/>
          <a:lstStyle/>
          <a:p>
            <a:pPr marL="0" indent="0">
              <a:lnSpc>
                <a:spcPct val="115000"/>
              </a:lnSpc>
              <a:buNone/>
            </a:pPr>
            <a:r>
              <a:rPr lang="en-US" sz="1000" dirty="0">
                <a:solidFill>
                  <a:srgbClr val="5A6B7B"/>
                </a:solidFill>
                <a:latin typeface="Calibri" pitchFamily="34" charset="0"/>
                <a:ea typeface="Calibri" pitchFamily="34" charset="-122"/>
                <a:cs typeface="Calibri" pitchFamily="34" charset="-120"/>
              </a:rPr>
              <a:t>Examine differences among residential, SME, industrial, hospital, school and agricultural users.</a:t>
            </a:r>
            <a:endParaRPr lang="en-US" sz="1000" dirty="0"/>
          </a:p>
        </p:txBody>
      </p:sp>
      <p:sp>
        <p:nvSpPr>
          <p:cNvPr id="14" name="Shape 10"/>
          <p:cNvSpPr/>
          <p:nvPr/>
        </p:nvSpPr>
        <p:spPr>
          <a:xfrm>
            <a:off x="8101584" y="1600200"/>
            <a:ext cx="3520440" cy="2057400"/>
          </a:xfrm>
          <a:prstGeom prst="roundRect">
            <a:avLst>
              <a:gd name="adj" fmla="val 3556"/>
            </a:avLst>
          </a:prstGeom>
          <a:solidFill>
            <a:srgbClr val="F7F9FC"/>
          </a:solidFill>
          <a:ln w="12700">
            <a:solidFill>
              <a:srgbClr val="E2E8F0"/>
            </a:solidFill>
            <a:prstDash val="solid"/>
          </a:ln>
        </p:spPr>
      </p:sp>
      <p:sp>
        <p:nvSpPr>
          <p:cNvPr id="15" name="Shape 11"/>
          <p:cNvSpPr/>
          <p:nvPr/>
        </p:nvSpPr>
        <p:spPr>
          <a:xfrm>
            <a:off x="8302752" y="1783080"/>
            <a:ext cx="438912" cy="438912"/>
          </a:xfrm>
          <a:prstGeom prst="ellipse">
            <a:avLst/>
          </a:prstGeom>
          <a:solidFill>
            <a:srgbClr val="0B2545"/>
          </a:solidFill>
          <a:ln/>
        </p:spPr>
      </p:sp>
      <p:pic>
        <p:nvPicPr>
          <p:cNvPr id="16" name="Image 2" descr="icons/calendar_FFFFFF.png"/>
          <p:cNvPicPr>
            <a:picLocks noChangeAspect="1"/>
          </p:cNvPicPr>
          <p:nvPr/>
        </p:nvPicPr>
        <p:blipFill>
          <a:blip r:embed="rId5"/>
          <a:stretch>
            <a:fillRect/>
          </a:stretch>
        </p:blipFill>
        <p:spPr>
          <a:xfrm>
            <a:off x="8416869" y="1897197"/>
            <a:ext cx="210678" cy="210678"/>
          </a:xfrm>
          <a:prstGeom prst="rect">
            <a:avLst/>
          </a:prstGeom>
        </p:spPr>
      </p:pic>
      <p:sp>
        <p:nvSpPr>
          <p:cNvPr id="17" name="Text 12"/>
          <p:cNvSpPr txBox="1"/>
          <p:nvPr/>
        </p:nvSpPr>
        <p:spPr>
          <a:xfrm>
            <a:off x="8302752" y="2313432"/>
            <a:ext cx="3118104" cy="36576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Track monthly patterns</a:t>
            </a:r>
            <a:endParaRPr lang="en-US" sz="1250" dirty="0"/>
          </a:p>
        </p:txBody>
      </p:sp>
      <p:sp>
        <p:nvSpPr>
          <p:cNvPr id="18" name="Text 13"/>
          <p:cNvSpPr txBox="1"/>
          <p:nvPr/>
        </p:nvSpPr>
        <p:spPr>
          <a:xfrm>
            <a:off x="8302752" y="2651760"/>
            <a:ext cx="3118104" cy="914400"/>
          </a:xfrm>
          <a:prstGeom prst="rect">
            <a:avLst/>
          </a:prstGeom>
          <a:noFill/>
          <a:ln/>
        </p:spPr>
        <p:txBody>
          <a:bodyPr wrap="square" rtlCol="0" anchor="t"/>
          <a:lstStyle/>
          <a:p>
            <a:pPr marL="0" indent="0">
              <a:lnSpc>
                <a:spcPct val="115000"/>
              </a:lnSpc>
              <a:buNone/>
            </a:pPr>
            <a:r>
              <a:rPr lang="en-US" sz="1000" dirty="0">
                <a:solidFill>
                  <a:srgbClr val="5A6B7B"/>
                </a:solidFill>
                <a:latin typeface="Calibri" pitchFamily="34" charset="0"/>
                <a:ea typeface="Calibri" pitchFamily="34" charset="-122"/>
                <a:cs typeface="Calibri" pitchFamily="34" charset="-120"/>
              </a:rPr>
              <a:t>Examine consumption across the available months to identify changes in electricity use over time.</a:t>
            </a:r>
            <a:endParaRPr lang="en-US" sz="1000" dirty="0"/>
          </a:p>
        </p:txBody>
      </p:sp>
      <p:sp>
        <p:nvSpPr>
          <p:cNvPr id="19" name="Shape 14"/>
          <p:cNvSpPr/>
          <p:nvPr/>
        </p:nvSpPr>
        <p:spPr>
          <a:xfrm>
            <a:off x="548640" y="3886200"/>
            <a:ext cx="3520440" cy="2057400"/>
          </a:xfrm>
          <a:prstGeom prst="roundRect">
            <a:avLst>
              <a:gd name="adj" fmla="val 3556"/>
            </a:avLst>
          </a:prstGeom>
          <a:solidFill>
            <a:srgbClr val="F7F9FC"/>
          </a:solidFill>
          <a:ln w="12700">
            <a:solidFill>
              <a:srgbClr val="E2E8F0"/>
            </a:solidFill>
            <a:prstDash val="solid"/>
          </a:ln>
        </p:spPr>
      </p:sp>
      <p:sp>
        <p:nvSpPr>
          <p:cNvPr id="20" name="Shape 15"/>
          <p:cNvSpPr/>
          <p:nvPr/>
        </p:nvSpPr>
        <p:spPr>
          <a:xfrm>
            <a:off x="749808" y="4069080"/>
            <a:ext cx="438912" cy="438912"/>
          </a:xfrm>
          <a:prstGeom prst="ellipse">
            <a:avLst/>
          </a:prstGeom>
          <a:solidFill>
            <a:srgbClr val="0B2545"/>
          </a:solidFill>
          <a:ln/>
        </p:spPr>
      </p:sp>
      <p:pic>
        <p:nvPicPr>
          <p:cNvPr id="21" name="Image 3" descr="icons/alert_FFFFFF.png"/>
          <p:cNvPicPr>
            <a:picLocks noChangeAspect="1"/>
          </p:cNvPicPr>
          <p:nvPr/>
        </p:nvPicPr>
        <p:blipFill>
          <a:blip r:embed="rId6"/>
          <a:stretch>
            <a:fillRect/>
          </a:stretch>
        </p:blipFill>
        <p:spPr>
          <a:xfrm>
            <a:off x="863925" y="4183197"/>
            <a:ext cx="210678" cy="210678"/>
          </a:xfrm>
          <a:prstGeom prst="rect">
            <a:avLst/>
          </a:prstGeom>
        </p:spPr>
      </p:pic>
      <p:sp>
        <p:nvSpPr>
          <p:cNvPr id="22" name="Text 16"/>
          <p:cNvSpPr txBox="1"/>
          <p:nvPr/>
        </p:nvSpPr>
        <p:spPr>
          <a:xfrm>
            <a:off x="749808" y="4599432"/>
            <a:ext cx="3118104" cy="36576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Flag high-attention cases</a:t>
            </a:r>
            <a:endParaRPr lang="en-US" sz="1250" dirty="0"/>
          </a:p>
        </p:txBody>
      </p:sp>
      <p:sp>
        <p:nvSpPr>
          <p:cNvPr id="23" name="Text 17"/>
          <p:cNvSpPr txBox="1"/>
          <p:nvPr/>
        </p:nvSpPr>
        <p:spPr>
          <a:xfrm>
            <a:off x="749808" y="4937760"/>
            <a:ext cx="3118104" cy="914400"/>
          </a:xfrm>
          <a:prstGeom prst="rect">
            <a:avLst/>
          </a:prstGeom>
          <a:noFill/>
          <a:ln/>
        </p:spPr>
        <p:txBody>
          <a:bodyPr wrap="square" rtlCol="0" anchor="t"/>
          <a:lstStyle/>
          <a:p>
            <a:pPr marL="0" indent="0">
              <a:lnSpc>
                <a:spcPct val="115000"/>
              </a:lnSpc>
              <a:buNone/>
            </a:pPr>
            <a:r>
              <a:rPr lang="en-US" sz="1000" dirty="0">
                <a:solidFill>
                  <a:srgbClr val="5A6B7B"/>
                </a:solidFill>
                <a:latin typeface="Calibri" pitchFamily="34" charset="0"/>
                <a:ea typeface="Calibri" pitchFamily="34" charset="-122"/>
                <a:cs typeface="Calibri" pitchFamily="34" charset="-120"/>
              </a:rPr>
              <a:t>Identify customers who may need further investigation, using defined analytical criteria.</a:t>
            </a:r>
            <a:endParaRPr lang="en-US" sz="1000" dirty="0"/>
          </a:p>
        </p:txBody>
      </p:sp>
      <p:sp>
        <p:nvSpPr>
          <p:cNvPr id="24" name="Shape 18"/>
          <p:cNvSpPr/>
          <p:nvPr/>
        </p:nvSpPr>
        <p:spPr>
          <a:xfrm>
            <a:off x="4325112" y="3886200"/>
            <a:ext cx="3520440" cy="2057400"/>
          </a:xfrm>
          <a:prstGeom prst="roundRect">
            <a:avLst>
              <a:gd name="adj" fmla="val 3556"/>
            </a:avLst>
          </a:prstGeom>
          <a:solidFill>
            <a:srgbClr val="F7F9FC"/>
          </a:solidFill>
          <a:ln w="12700">
            <a:solidFill>
              <a:srgbClr val="E2E8F0"/>
            </a:solidFill>
            <a:prstDash val="solid"/>
          </a:ln>
        </p:spPr>
      </p:sp>
      <p:sp>
        <p:nvSpPr>
          <p:cNvPr id="25" name="Shape 19"/>
          <p:cNvSpPr/>
          <p:nvPr/>
        </p:nvSpPr>
        <p:spPr>
          <a:xfrm>
            <a:off x="4526280" y="4069080"/>
            <a:ext cx="438912" cy="438912"/>
          </a:xfrm>
          <a:prstGeom prst="ellipse">
            <a:avLst/>
          </a:prstGeom>
          <a:solidFill>
            <a:srgbClr val="0B2545"/>
          </a:solidFill>
          <a:ln/>
        </p:spPr>
      </p:sp>
      <p:pic>
        <p:nvPicPr>
          <p:cNvPr id="26" name="Image 4" descr="icons/cogs_FFFFFF.png"/>
          <p:cNvPicPr>
            <a:picLocks noChangeAspect="1"/>
          </p:cNvPicPr>
          <p:nvPr/>
        </p:nvPicPr>
        <p:blipFill>
          <a:blip r:embed="rId7"/>
          <a:stretch>
            <a:fillRect/>
          </a:stretch>
        </p:blipFill>
        <p:spPr>
          <a:xfrm>
            <a:off x="4640397" y="4183197"/>
            <a:ext cx="210678" cy="210678"/>
          </a:xfrm>
          <a:prstGeom prst="rect">
            <a:avLst/>
          </a:prstGeom>
        </p:spPr>
      </p:pic>
      <p:sp>
        <p:nvSpPr>
          <p:cNvPr id="27" name="Text 20"/>
          <p:cNvSpPr txBox="1"/>
          <p:nvPr/>
        </p:nvSpPr>
        <p:spPr>
          <a:xfrm>
            <a:off x="4526280" y="4599432"/>
            <a:ext cx="3118104" cy="36576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Build an interactive system</a:t>
            </a:r>
            <a:endParaRPr lang="en-US" sz="1250" dirty="0"/>
          </a:p>
        </p:txBody>
      </p:sp>
      <p:sp>
        <p:nvSpPr>
          <p:cNvPr id="28" name="Text 21"/>
          <p:cNvSpPr txBox="1"/>
          <p:nvPr/>
        </p:nvSpPr>
        <p:spPr>
          <a:xfrm>
            <a:off x="4526280" y="4937760"/>
            <a:ext cx="3118104" cy="914400"/>
          </a:xfrm>
          <a:prstGeom prst="rect">
            <a:avLst/>
          </a:prstGeom>
          <a:noFill/>
          <a:ln/>
        </p:spPr>
        <p:txBody>
          <a:bodyPr wrap="square" rtlCol="0" anchor="t"/>
          <a:lstStyle/>
          <a:p>
            <a:pPr marL="0" indent="0">
              <a:lnSpc>
                <a:spcPct val="115000"/>
              </a:lnSpc>
              <a:buNone/>
            </a:pPr>
            <a:r>
              <a:rPr lang="en-US" sz="1000" dirty="0">
                <a:solidFill>
                  <a:srgbClr val="5A6B7B"/>
                </a:solidFill>
                <a:latin typeface="Calibri" pitchFamily="34" charset="0"/>
                <a:ea typeface="Calibri" pitchFamily="34" charset="-122"/>
                <a:cs typeface="Calibri" pitchFamily="34" charset="-120"/>
              </a:rPr>
              <a:t>A Python menu system giving users access to each analysis, running until they choose to exit.</a:t>
            </a:r>
            <a:endParaRPr lang="en-US" sz="1000" dirty="0"/>
          </a:p>
        </p:txBody>
      </p:sp>
      <p:sp>
        <p:nvSpPr>
          <p:cNvPr id="29" name="Shape 22"/>
          <p:cNvSpPr/>
          <p:nvPr/>
        </p:nvSpPr>
        <p:spPr>
          <a:xfrm>
            <a:off x="8101584" y="3886200"/>
            <a:ext cx="3520440" cy="2057400"/>
          </a:xfrm>
          <a:prstGeom prst="roundRect">
            <a:avLst>
              <a:gd name="adj" fmla="val 3556"/>
            </a:avLst>
          </a:prstGeom>
          <a:solidFill>
            <a:srgbClr val="F7F9FC"/>
          </a:solidFill>
          <a:ln w="12700">
            <a:solidFill>
              <a:srgbClr val="E2E8F0"/>
            </a:solidFill>
            <a:prstDash val="solid"/>
          </a:ln>
        </p:spPr>
      </p:sp>
      <p:sp>
        <p:nvSpPr>
          <p:cNvPr id="30" name="Shape 23"/>
          <p:cNvSpPr/>
          <p:nvPr/>
        </p:nvSpPr>
        <p:spPr>
          <a:xfrm>
            <a:off x="8302752" y="4069080"/>
            <a:ext cx="438912" cy="438912"/>
          </a:xfrm>
          <a:prstGeom prst="ellipse">
            <a:avLst/>
          </a:prstGeom>
          <a:solidFill>
            <a:srgbClr val="0B2545"/>
          </a:solidFill>
          <a:ln/>
        </p:spPr>
      </p:sp>
      <p:pic>
        <p:nvPicPr>
          <p:cNvPr id="31" name="Image 5" descr="icons/bulb_FFFFFF.png"/>
          <p:cNvPicPr>
            <a:picLocks noChangeAspect="1"/>
          </p:cNvPicPr>
          <p:nvPr/>
        </p:nvPicPr>
        <p:blipFill>
          <a:blip r:embed="rId8"/>
          <a:stretch>
            <a:fillRect/>
          </a:stretch>
        </p:blipFill>
        <p:spPr>
          <a:xfrm>
            <a:off x="8416869" y="4183197"/>
            <a:ext cx="210678" cy="210678"/>
          </a:xfrm>
          <a:prstGeom prst="rect">
            <a:avLst/>
          </a:prstGeom>
        </p:spPr>
      </p:pic>
      <p:sp>
        <p:nvSpPr>
          <p:cNvPr id="32" name="Text 24"/>
          <p:cNvSpPr txBox="1"/>
          <p:nvPr/>
        </p:nvSpPr>
        <p:spPr>
          <a:xfrm>
            <a:off x="8302752" y="4599432"/>
            <a:ext cx="3118104" cy="36576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Demonstrate &amp; lay a foundation</a:t>
            </a:r>
            <a:endParaRPr lang="en-US" sz="1250" dirty="0"/>
          </a:p>
        </p:txBody>
      </p:sp>
      <p:sp>
        <p:nvSpPr>
          <p:cNvPr id="33" name="Text 25"/>
          <p:cNvSpPr txBox="1"/>
          <p:nvPr/>
        </p:nvSpPr>
        <p:spPr>
          <a:xfrm>
            <a:off x="8302752" y="4937760"/>
            <a:ext cx="3118104" cy="914400"/>
          </a:xfrm>
          <a:prstGeom prst="rect">
            <a:avLst/>
          </a:prstGeom>
          <a:noFill/>
          <a:ln/>
        </p:spPr>
        <p:txBody>
          <a:bodyPr wrap="square" rtlCol="0" anchor="t"/>
          <a:lstStyle/>
          <a:p>
            <a:pPr marL="0" indent="0">
              <a:lnSpc>
                <a:spcPct val="115000"/>
              </a:lnSpc>
              <a:buNone/>
            </a:pPr>
            <a:r>
              <a:rPr lang="en-US" sz="1000" dirty="0">
                <a:solidFill>
                  <a:srgbClr val="5A6B7B"/>
                </a:solidFill>
                <a:latin typeface="Calibri" pitchFamily="34" charset="0"/>
                <a:ea typeface="Calibri" pitchFamily="34" charset="-122"/>
                <a:cs typeface="Calibri" pitchFamily="34" charset="-120"/>
              </a:rPr>
              <a:t>Show how Python fundamentals apply to an industry problem, ready to later upgrade to Pandas and external data.</a:t>
            </a:r>
            <a:endParaRPr lang="en-US" sz="1000" dirty="0"/>
          </a:p>
        </p:txBody>
      </p:sp>
      <p:sp>
        <p:nvSpPr>
          <p:cNvPr id="34" name="Text 26"/>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35" name="Text 27"/>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Industry Relevance</a:t>
            </a:r>
            <a:endParaRPr lang="en-US" sz="3000" dirty="0"/>
          </a:p>
        </p:txBody>
      </p:sp>
      <p:sp>
        <p:nvSpPr>
          <p:cNvPr id="5" name="Text 3"/>
          <p:cNvSpPr txBox="1"/>
          <p:nvPr/>
        </p:nvSpPr>
        <p:spPr>
          <a:xfrm>
            <a:off x="548640" y="1463040"/>
            <a:ext cx="10881360" cy="594360"/>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Reliable electricity supports businesses, schools, hospitals, agriculture and households. When it's unavailable, unreliable, or unaffordable, effects extend beyond the electricity sector — this project's relevance spans six areas:</a:t>
            </a:r>
            <a:endParaRPr lang="en-US" sz="1250" dirty="0"/>
          </a:p>
        </p:txBody>
      </p:sp>
      <p:sp>
        <p:nvSpPr>
          <p:cNvPr id="6" name="Shape 4"/>
          <p:cNvSpPr/>
          <p:nvPr/>
        </p:nvSpPr>
        <p:spPr>
          <a:xfrm>
            <a:off x="548640" y="2194560"/>
            <a:ext cx="3520440" cy="1965960"/>
          </a:xfrm>
          <a:prstGeom prst="roundRect">
            <a:avLst>
              <a:gd name="adj" fmla="val 3721"/>
            </a:avLst>
          </a:prstGeom>
          <a:solidFill>
            <a:srgbClr val="F7F9FC"/>
          </a:solidFill>
          <a:ln w="12700">
            <a:solidFill>
              <a:srgbClr val="E2E8F0"/>
            </a:solidFill>
            <a:prstDash val="solid"/>
          </a:ln>
        </p:spPr>
      </p:sp>
      <p:sp>
        <p:nvSpPr>
          <p:cNvPr id="7" name="Shape 5"/>
          <p:cNvSpPr/>
          <p:nvPr/>
        </p:nvSpPr>
        <p:spPr>
          <a:xfrm>
            <a:off x="749808" y="2395728"/>
            <a:ext cx="502920" cy="502920"/>
          </a:xfrm>
          <a:prstGeom prst="ellipse">
            <a:avLst/>
          </a:prstGeom>
          <a:solidFill>
            <a:srgbClr val="0B2545"/>
          </a:solidFill>
          <a:ln/>
        </p:spPr>
      </p:sp>
      <p:pic>
        <p:nvPicPr>
          <p:cNvPr id="8" name="Image 0" descr="icons/network_FFFFFF.png"/>
          <p:cNvPicPr>
            <a:picLocks noChangeAspect="1"/>
          </p:cNvPicPr>
          <p:nvPr/>
        </p:nvPicPr>
        <p:blipFill>
          <a:blip r:embed="rId3"/>
          <a:stretch>
            <a:fillRect/>
          </a:stretch>
        </p:blipFill>
        <p:spPr>
          <a:xfrm>
            <a:off x="880567" y="2526487"/>
            <a:ext cx="241402" cy="241402"/>
          </a:xfrm>
          <a:prstGeom prst="rect">
            <a:avLst/>
          </a:prstGeom>
        </p:spPr>
      </p:pic>
      <p:sp>
        <p:nvSpPr>
          <p:cNvPr id="9" name="Text 6"/>
          <p:cNvSpPr txBox="1"/>
          <p:nvPr/>
        </p:nvSpPr>
        <p:spPr>
          <a:xfrm>
            <a:off x="749808" y="3017520"/>
            <a:ext cx="3118104"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Energy Planning</a:t>
            </a:r>
            <a:endParaRPr lang="en-US" sz="1300" dirty="0"/>
          </a:p>
        </p:txBody>
      </p:sp>
      <p:sp>
        <p:nvSpPr>
          <p:cNvPr id="10" name="Text 7"/>
          <p:cNvSpPr txBox="1"/>
          <p:nvPr/>
        </p:nvSpPr>
        <p:spPr>
          <a:xfrm>
            <a:off x="749808" y="3355848"/>
            <a:ext cx="3118104" cy="731520"/>
          </a:xfrm>
          <a:prstGeom prst="rect">
            <a:avLst/>
          </a:prstGeom>
          <a:noFill/>
          <a:ln/>
        </p:spPr>
        <p:txBody>
          <a:bodyPr wrap="square"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Understand demand across locations and customer groups to support infrastructure decisions.</a:t>
            </a:r>
            <a:endParaRPr lang="en-US" sz="1050" dirty="0"/>
          </a:p>
        </p:txBody>
      </p:sp>
      <p:sp>
        <p:nvSpPr>
          <p:cNvPr id="11" name="Shape 8"/>
          <p:cNvSpPr/>
          <p:nvPr/>
        </p:nvSpPr>
        <p:spPr>
          <a:xfrm>
            <a:off x="4325112" y="2194560"/>
            <a:ext cx="3520440" cy="1965960"/>
          </a:xfrm>
          <a:prstGeom prst="roundRect">
            <a:avLst>
              <a:gd name="adj" fmla="val 3721"/>
            </a:avLst>
          </a:prstGeom>
          <a:solidFill>
            <a:srgbClr val="F7F9FC"/>
          </a:solidFill>
          <a:ln w="12700">
            <a:solidFill>
              <a:srgbClr val="E2E8F0"/>
            </a:solidFill>
            <a:prstDash val="solid"/>
          </a:ln>
        </p:spPr>
      </p:sp>
      <p:sp>
        <p:nvSpPr>
          <p:cNvPr id="12" name="Shape 9"/>
          <p:cNvSpPr/>
          <p:nvPr/>
        </p:nvSpPr>
        <p:spPr>
          <a:xfrm>
            <a:off x="4526280" y="2395728"/>
            <a:ext cx="502920" cy="502920"/>
          </a:xfrm>
          <a:prstGeom prst="ellipse">
            <a:avLst/>
          </a:prstGeom>
          <a:solidFill>
            <a:srgbClr val="0B2545"/>
          </a:solidFill>
          <a:ln/>
        </p:spPr>
      </p:sp>
      <p:pic>
        <p:nvPicPr>
          <p:cNvPr id="13" name="Image 1" descr="icons/bulb_FFFFFF.png"/>
          <p:cNvPicPr>
            <a:picLocks noChangeAspect="1"/>
          </p:cNvPicPr>
          <p:nvPr/>
        </p:nvPicPr>
        <p:blipFill>
          <a:blip r:embed="rId4"/>
          <a:stretch>
            <a:fillRect/>
          </a:stretch>
        </p:blipFill>
        <p:spPr>
          <a:xfrm>
            <a:off x="4657039" y="2526487"/>
            <a:ext cx="241402" cy="241402"/>
          </a:xfrm>
          <a:prstGeom prst="rect">
            <a:avLst/>
          </a:prstGeom>
        </p:spPr>
      </p:pic>
      <p:sp>
        <p:nvSpPr>
          <p:cNvPr id="14" name="Text 10"/>
          <p:cNvSpPr txBox="1"/>
          <p:nvPr/>
        </p:nvSpPr>
        <p:spPr>
          <a:xfrm>
            <a:off x="4526280" y="3017520"/>
            <a:ext cx="3118104"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Energy Efficiency</a:t>
            </a:r>
            <a:endParaRPr lang="en-US" sz="1300" dirty="0"/>
          </a:p>
        </p:txBody>
      </p:sp>
      <p:sp>
        <p:nvSpPr>
          <p:cNvPr id="15" name="Text 11"/>
          <p:cNvSpPr txBox="1"/>
          <p:nvPr/>
        </p:nvSpPr>
        <p:spPr>
          <a:xfrm>
            <a:off x="4526280" y="3355848"/>
            <a:ext cx="3118104" cy="731520"/>
          </a:xfrm>
          <a:prstGeom prst="rect">
            <a:avLst/>
          </a:prstGeom>
          <a:noFill/>
          <a:ln/>
        </p:spPr>
        <p:txBody>
          <a:bodyPr wrap="square"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Unusually high consumption flags cases worth investigating for efficiency opportunities.</a:t>
            </a:r>
            <a:endParaRPr lang="en-US" sz="1050" dirty="0"/>
          </a:p>
        </p:txBody>
      </p:sp>
      <p:sp>
        <p:nvSpPr>
          <p:cNvPr id="16" name="Shape 12"/>
          <p:cNvSpPr/>
          <p:nvPr/>
        </p:nvSpPr>
        <p:spPr>
          <a:xfrm>
            <a:off x="8101584" y="2194560"/>
            <a:ext cx="3520440" cy="1965960"/>
          </a:xfrm>
          <a:prstGeom prst="roundRect">
            <a:avLst>
              <a:gd name="adj" fmla="val 3721"/>
            </a:avLst>
          </a:prstGeom>
          <a:solidFill>
            <a:srgbClr val="F7F9FC"/>
          </a:solidFill>
          <a:ln w="12700">
            <a:solidFill>
              <a:srgbClr val="E2E8F0"/>
            </a:solidFill>
            <a:prstDash val="solid"/>
          </a:ln>
        </p:spPr>
      </p:sp>
      <p:sp>
        <p:nvSpPr>
          <p:cNvPr id="17" name="Shape 13"/>
          <p:cNvSpPr/>
          <p:nvPr/>
        </p:nvSpPr>
        <p:spPr>
          <a:xfrm>
            <a:off x="8302752" y="2395728"/>
            <a:ext cx="502920" cy="502920"/>
          </a:xfrm>
          <a:prstGeom prst="ellipse">
            <a:avLst/>
          </a:prstGeom>
          <a:solidFill>
            <a:srgbClr val="2E8B57"/>
          </a:solidFill>
          <a:ln/>
        </p:spPr>
      </p:sp>
      <p:pic>
        <p:nvPicPr>
          <p:cNvPr id="18" name="Image 2" descr="icons/leaf_FFFFFF.png"/>
          <p:cNvPicPr>
            <a:picLocks noChangeAspect="1"/>
          </p:cNvPicPr>
          <p:nvPr/>
        </p:nvPicPr>
        <p:blipFill>
          <a:blip r:embed="rId5"/>
          <a:stretch>
            <a:fillRect/>
          </a:stretch>
        </p:blipFill>
        <p:spPr>
          <a:xfrm>
            <a:off x="8433511" y="2526487"/>
            <a:ext cx="241402" cy="241402"/>
          </a:xfrm>
          <a:prstGeom prst="rect">
            <a:avLst/>
          </a:prstGeom>
        </p:spPr>
      </p:pic>
      <p:sp>
        <p:nvSpPr>
          <p:cNvPr id="19" name="Text 14"/>
          <p:cNvSpPr txBox="1"/>
          <p:nvPr/>
        </p:nvSpPr>
        <p:spPr>
          <a:xfrm>
            <a:off x="8302752" y="3017520"/>
            <a:ext cx="3118104"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Renewable Planning</a:t>
            </a:r>
            <a:endParaRPr lang="en-US" sz="1300" dirty="0"/>
          </a:p>
        </p:txBody>
      </p:sp>
      <p:sp>
        <p:nvSpPr>
          <p:cNvPr id="20" name="Text 15"/>
          <p:cNvSpPr txBox="1"/>
          <p:nvPr/>
        </p:nvSpPr>
        <p:spPr>
          <a:xfrm>
            <a:off x="8302752" y="3355848"/>
            <a:ext cx="3118104" cy="731520"/>
          </a:xfrm>
          <a:prstGeom prst="rect">
            <a:avLst/>
          </a:prstGeom>
          <a:noFill/>
          <a:ln/>
        </p:spPr>
        <p:txBody>
          <a:bodyPr wrap="square"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Compare consumption with renewable share to find high-demand, low-renewable customers.</a:t>
            </a:r>
            <a:endParaRPr lang="en-US" sz="1050" dirty="0"/>
          </a:p>
        </p:txBody>
      </p:sp>
      <p:sp>
        <p:nvSpPr>
          <p:cNvPr id="21" name="Shape 16"/>
          <p:cNvSpPr/>
          <p:nvPr/>
        </p:nvSpPr>
        <p:spPr>
          <a:xfrm>
            <a:off x="548640" y="4361688"/>
            <a:ext cx="3520440" cy="1965960"/>
          </a:xfrm>
          <a:prstGeom prst="roundRect">
            <a:avLst>
              <a:gd name="adj" fmla="val 3721"/>
            </a:avLst>
          </a:prstGeom>
          <a:solidFill>
            <a:srgbClr val="F7F9FC"/>
          </a:solidFill>
          <a:ln w="12700">
            <a:solidFill>
              <a:srgbClr val="E2E8F0"/>
            </a:solidFill>
            <a:prstDash val="solid"/>
          </a:ln>
        </p:spPr>
      </p:sp>
      <p:sp>
        <p:nvSpPr>
          <p:cNvPr id="22" name="Shape 17"/>
          <p:cNvSpPr/>
          <p:nvPr/>
        </p:nvSpPr>
        <p:spPr>
          <a:xfrm>
            <a:off x="749808" y="4562856"/>
            <a:ext cx="502920" cy="502920"/>
          </a:xfrm>
          <a:prstGeom prst="ellipse">
            <a:avLst/>
          </a:prstGeom>
          <a:solidFill>
            <a:srgbClr val="0B2545"/>
          </a:solidFill>
          <a:ln/>
        </p:spPr>
      </p:sp>
      <p:pic>
        <p:nvPicPr>
          <p:cNvPr id="23" name="Image 3" descr="icons/pin_FFFFFF.png"/>
          <p:cNvPicPr>
            <a:picLocks noChangeAspect="1"/>
          </p:cNvPicPr>
          <p:nvPr/>
        </p:nvPicPr>
        <p:blipFill>
          <a:blip r:embed="rId6"/>
          <a:stretch>
            <a:fillRect/>
          </a:stretch>
        </p:blipFill>
        <p:spPr>
          <a:xfrm>
            <a:off x="880567" y="4693615"/>
            <a:ext cx="241402" cy="241402"/>
          </a:xfrm>
          <a:prstGeom prst="rect">
            <a:avLst/>
          </a:prstGeom>
        </p:spPr>
      </p:pic>
      <p:sp>
        <p:nvSpPr>
          <p:cNvPr id="24" name="Text 18"/>
          <p:cNvSpPr txBox="1"/>
          <p:nvPr/>
        </p:nvSpPr>
        <p:spPr>
          <a:xfrm>
            <a:off x="749808" y="5184648"/>
            <a:ext cx="3118104"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Infrastructure &amp; Access</a:t>
            </a:r>
            <a:endParaRPr lang="en-US" sz="1300" dirty="0"/>
          </a:p>
        </p:txBody>
      </p:sp>
      <p:sp>
        <p:nvSpPr>
          <p:cNvPr id="25" name="Text 19"/>
          <p:cNvSpPr txBox="1"/>
          <p:nvPr/>
        </p:nvSpPr>
        <p:spPr>
          <a:xfrm>
            <a:off x="749808" y="5522976"/>
            <a:ext cx="3118104" cy="731520"/>
          </a:xfrm>
          <a:prstGeom prst="rect">
            <a:avLst/>
          </a:prstGeom>
          <a:noFill/>
          <a:ln/>
        </p:spPr>
        <p:txBody>
          <a:bodyPr wrap="square"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Consumption differences by location complement wider electricity-access initiatives.</a:t>
            </a:r>
            <a:endParaRPr lang="en-US" sz="1050" dirty="0"/>
          </a:p>
        </p:txBody>
      </p:sp>
      <p:sp>
        <p:nvSpPr>
          <p:cNvPr id="26" name="Shape 20"/>
          <p:cNvSpPr/>
          <p:nvPr/>
        </p:nvSpPr>
        <p:spPr>
          <a:xfrm>
            <a:off x="4325112" y="4361688"/>
            <a:ext cx="3520440" cy="1965960"/>
          </a:xfrm>
          <a:prstGeom prst="roundRect">
            <a:avLst>
              <a:gd name="adj" fmla="val 3721"/>
            </a:avLst>
          </a:prstGeom>
          <a:solidFill>
            <a:srgbClr val="F7F9FC"/>
          </a:solidFill>
          <a:ln w="12700">
            <a:solidFill>
              <a:srgbClr val="E2E8F0"/>
            </a:solidFill>
            <a:prstDash val="solid"/>
          </a:ln>
        </p:spPr>
      </p:sp>
      <p:sp>
        <p:nvSpPr>
          <p:cNvPr id="27" name="Shape 21"/>
          <p:cNvSpPr/>
          <p:nvPr/>
        </p:nvSpPr>
        <p:spPr>
          <a:xfrm>
            <a:off x="4526280" y="4562856"/>
            <a:ext cx="502920" cy="502920"/>
          </a:xfrm>
          <a:prstGeom prst="ellipse">
            <a:avLst/>
          </a:prstGeom>
          <a:solidFill>
            <a:srgbClr val="0B2545"/>
          </a:solidFill>
          <a:ln/>
        </p:spPr>
      </p:sp>
      <p:pic>
        <p:nvPicPr>
          <p:cNvPr id="28" name="Image 4" descr="icons/money_FFFFFF.png"/>
          <p:cNvPicPr>
            <a:picLocks noChangeAspect="1"/>
          </p:cNvPicPr>
          <p:nvPr/>
        </p:nvPicPr>
        <p:blipFill>
          <a:blip r:embed="rId7"/>
          <a:stretch>
            <a:fillRect/>
          </a:stretch>
        </p:blipFill>
        <p:spPr>
          <a:xfrm>
            <a:off x="4657039" y="4693615"/>
            <a:ext cx="241402" cy="241402"/>
          </a:xfrm>
          <a:prstGeom prst="rect">
            <a:avLst/>
          </a:prstGeom>
        </p:spPr>
      </p:pic>
      <p:sp>
        <p:nvSpPr>
          <p:cNvPr id="29" name="Text 22"/>
          <p:cNvSpPr txBox="1"/>
          <p:nvPr/>
        </p:nvSpPr>
        <p:spPr>
          <a:xfrm>
            <a:off x="4526280" y="5184648"/>
            <a:ext cx="3118104"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Cost &amp; Affordability</a:t>
            </a:r>
            <a:endParaRPr lang="en-US" sz="1300" dirty="0"/>
          </a:p>
        </p:txBody>
      </p:sp>
      <p:sp>
        <p:nvSpPr>
          <p:cNvPr id="30" name="Text 23"/>
          <p:cNvSpPr txBox="1"/>
          <p:nvPr/>
        </p:nvSpPr>
        <p:spPr>
          <a:xfrm>
            <a:off x="4526280" y="5522976"/>
            <a:ext cx="3118104" cy="731520"/>
          </a:xfrm>
          <a:prstGeom prst="rect">
            <a:avLst/>
          </a:prstGeom>
          <a:noFill/>
          <a:ln/>
        </p:spPr>
        <p:txBody>
          <a:bodyPr wrap="square"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Consumption and tariff data together inform discussions on electricity affordability.</a:t>
            </a:r>
            <a:endParaRPr lang="en-US" sz="1050" dirty="0"/>
          </a:p>
        </p:txBody>
      </p:sp>
      <p:sp>
        <p:nvSpPr>
          <p:cNvPr id="31" name="Shape 24"/>
          <p:cNvSpPr/>
          <p:nvPr/>
        </p:nvSpPr>
        <p:spPr>
          <a:xfrm>
            <a:off x="8101584" y="4361688"/>
            <a:ext cx="3520440" cy="1965960"/>
          </a:xfrm>
          <a:prstGeom prst="roundRect">
            <a:avLst>
              <a:gd name="adj" fmla="val 3721"/>
            </a:avLst>
          </a:prstGeom>
          <a:solidFill>
            <a:srgbClr val="F7F9FC"/>
          </a:solidFill>
          <a:ln w="12700">
            <a:solidFill>
              <a:srgbClr val="E2E8F0"/>
            </a:solidFill>
            <a:prstDash val="solid"/>
          </a:ln>
        </p:spPr>
      </p:sp>
      <p:sp>
        <p:nvSpPr>
          <p:cNvPr id="32" name="Shape 25"/>
          <p:cNvSpPr/>
          <p:nvPr/>
        </p:nvSpPr>
        <p:spPr>
          <a:xfrm>
            <a:off x="8302752" y="4562856"/>
            <a:ext cx="502920" cy="502920"/>
          </a:xfrm>
          <a:prstGeom prst="ellipse">
            <a:avLst/>
          </a:prstGeom>
          <a:solidFill>
            <a:srgbClr val="0B2545"/>
          </a:solidFill>
          <a:ln/>
        </p:spPr>
      </p:sp>
      <p:pic>
        <p:nvPicPr>
          <p:cNvPr id="33" name="Image 5" descr="icons/users_FFFFFF.png"/>
          <p:cNvPicPr>
            <a:picLocks noChangeAspect="1"/>
          </p:cNvPicPr>
          <p:nvPr/>
        </p:nvPicPr>
        <p:blipFill>
          <a:blip r:embed="rId8"/>
          <a:stretch>
            <a:fillRect/>
          </a:stretch>
        </p:blipFill>
        <p:spPr>
          <a:xfrm>
            <a:off x="8433511" y="4693615"/>
            <a:ext cx="241402" cy="241402"/>
          </a:xfrm>
          <a:prstGeom prst="rect">
            <a:avLst/>
          </a:prstGeom>
        </p:spPr>
      </p:pic>
      <p:sp>
        <p:nvSpPr>
          <p:cNvPr id="34" name="Text 26"/>
          <p:cNvSpPr txBox="1"/>
          <p:nvPr/>
        </p:nvSpPr>
        <p:spPr>
          <a:xfrm>
            <a:off x="8302752" y="5184648"/>
            <a:ext cx="3118104"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Business Intelligence</a:t>
            </a:r>
            <a:endParaRPr lang="en-US" sz="1300" dirty="0"/>
          </a:p>
        </p:txBody>
      </p:sp>
      <p:sp>
        <p:nvSpPr>
          <p:cNvPr id="35" name="Text 27"/>
          <p:cNvSpPr txBox="1"/>
          <p:nvPr/>
        </p:nvSpPr>
        <p:spPr>
          <a:xfrm>
            <a:off x="8302752" y="5522976"/>
            <a:ext cx="3118104" cy="731520"/>
          </a:xfrm>
          <a:prstGeom prst="rect">
            <a:avLst/>
          </a:prstGeom>
          <a:noFill/>
          <a:ln/>
        </p:spPr>
        <p:txBody>
          <a:bodyPr wrap="square"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Turns customer and consumption records into information for operational decisions.</a:t>
            </a:r>
            <a:endParaRPr lang="en-US" sz="1050" dirty="0"/>
          </a:p>
        </p:txBody>
      </p:sp>
      <p:sp>
        <p:nvSpPr>
          <p:cNvPr id="36" name="Text 2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37" name="Text 2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Dataset Description</a:t>
            </a:r>
            <a:endParaRPr lang="en-US" sz="3000" dirty="0"/>
          </a:p>
        </p:txBody>
      </p:sp>
      <p:sp>
        <p:nvSpPr>
          <p:cNvPr id="5" name="Text 3"/>
          <p:cNvSpPr txBox="1"/>
          <p:nvPr/>
        </p:nvSpPr>
        <p:spPr>
          <a:xfrm>
            <a:off x="548640" y="1463040"/>
            <a:ext cx="6035040" cy="1371600"/>
          </a:xfrm>
          <a:prstGeom prst="rect">
            <a:avLst/>
          </a:prstGeom>
          <a:noFill/>
          <a:ln/>
        </p:spPr>
        <p:txBody>
          <a:bodyPr wrap="square" rtlCol="0" anchor="ctr"/>
          <a:lstStyle/>
          <a:p>
            <a:pPr marL="0" indent="0">
              <a:lnSpc>
                <a:spcPct val="125000"/>
              </a:lnSpc>
              <a:buNone/>
            </a:pPr>
            <a:r>
              <a:rPr lang="en-US" sz="1300" dirty="0">
                <a:solidFill>
                  <a:srgbClr val="0B2545"/>
                </a:solidFill>
                <a:latin typeface="Calibri" pitchFamily="34" charset="0"/>
                <a:ea typeface="Calibri" pitchFamily="34" charset="-122"/>
                <a:cs typeface="Calibri" pitchFamily="34" charset="-120"/>
              </a:rPr>
              <a:t>An energy consultancy firm collected electricity consumption information from different customers to support analysis of consumption patterns, cost, customer categories, locations, monthly consumption, outages, renewable-energy usage and payment status.</a:t>
            </a:r>
            <a:endParaRPr lang="en-US" sz="1300" dirty="0"/>
          </a:p>
        </p:txBody>
      </p:sp>
      <p:sp>
        <p:nvSpPr>
          <p:cNvPr id="6" name="Shape 4"/>
          <p:cNvSpPr/>
          <p:nvPr/>
        </p:nvSpPr>
        <p:spPr>
          <a:xfrm>
            <a:off x="548640" y="2971800"/>
            <a:ext cx="2834640" cy="1371600"/>
          </a:xfrm>
          <a:prstGeom prst="roundRect">
            <a:avLst>
              <a:gd name="adj" fmla="val 5333"/>
            </a:avLst>
          </a:prstGeom>
          <a:solidFill>
            <a:srgbClr val="F7F9FC"/>
          </a:solidFill>
          <a:ln w="12700">
            <a:solidFill>
              <a:srgbClr val="E2E8F0"/>
            </a:solidFill>
            <a:prstDash val="solid"/>
          </a:ln>
        </p:spPr>
      </p:sp>
      <p:sp>
        <p:nvSpPr>
          <p:cNvPr id="7" name="Text 5"/>
          <p:cNvSpPr txBox="1"/>
          <p:nvPr/>
        </p:nvSpPr>
        <p:spPr>
          <a:xfrm>
            <a:off x="685800" y="3136392"/>
            <a:ext cx="2560320" cy="685800"/>
          </a:xfrm>
          <a:prstGeom prst="rect">
            <a:avLst/>
          </a:prstGeom>
          <a:noFill/>
          <a:ln/>
        </p:spPr>
        <p:txBody>
          <a:bodyPr wrap="square" rtlCol="0" anchor="b"/>
          <a:lstStyle/>
          <a:p>
            <a:pPr marL="0" indent="0" algn="ctr">
              <a:buNone/>
            </a:pPr>
            <a:r>
              <a:rPr lang="en-US" sz="4400" b="1" dirty="0">
                <a:solidFill>
                  <a:srgbClr val="0B2545"/>
                </a:solidFill>
                <a:latin typeface="Cambria" pitchFamily="34" charset="0"/>
                <a:ea typeface="Cambria" pitchFamily="34" charset="-122"/>
                <a:cs typeface="Cambria" pitchFamily="34" charset="-120"/>
              </a:rPr>
              <a:t>20</a:t>
            </a:r>
            <a:endParaRPr lang="en-US" sz="4400" dirty="0"/>
          </a:p>
        </p:txBody>
      </p:sp>
      <p:sp>
        <p:nvSpPr>
          <p:cNvPr id="8" name="Text 6"/>
          <p:cNvSpPr txBox="1"/>
          <p:nvPr/>
        </p:nvSpPr>
        <p:spPr>
          <a:xfrm>
            <a:off x="685800" y="3840480"/>
            <a:ext cx="25603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Sample customer records</a:t>
            </a:r>
            <a:endParaRPr lang="en-US" sz="1100" dirty="0"/>
          </a:p>
        </p:txBody>
      </p:sp>
      <p:sp>
        <p:nvSpPr>
          <p:cNvPr id="9" name="Shape 7"/>
          <p:cNvSpPr/>
          <p:nvPr/>
        </p:nvSpPr>
        <p:spPr>
          <a:xfrm>
            <a:off x="3566160" y="2971800"/>
            <a:ext cx="2834640" cy="1371600"/>
          </a:xfrm>
          <a:prstGeom prst="roundRect">
            <a:avLst>
              <a:gd name="adj" fmla="val 5333"/>
            </a:avLst>
          </a:prstGeom>
          <a:solidFill>
            <a:srgbClr val="F7F9FC"/>
          </a:solidFill>
          <a:ln w="12700">
            <a:solidFill>
              <a:srgbClr val="E2E8F0"/>
            </a:solidFill>
            <a:prstDash val="solid"/>
          </a:ln>
        </p:spPr>
      </p:sp>
      <p:sp>
        <p:nvSpPr>
          <p:cNvPr id="10" name="Text 8"/>
          <p:cNvSpPr txBox="1"/>
          <p:nvPr/>
        </p:nvSpPr>
        <p:spPr>
          <a:xfrm>
            <a:off x="3703320" y="3136392"/>
            <a:ext cx="2560320" cy="685800"/>
          </a:xfrm>
          <a:prstGeom prst="rect">
            <a:avLst/>
          </a:prstGeom>
          <a:noFill/>
          <a:ln/>
        </p:spPr>
        <p:txBody>
          <a:bodyPr wrap="square" rtlCol="0" anchor="b"/>
          <a:lstStyle/>
          <a:p>
            <a:pPr marL="0" indent="0" algn="ctr">
              <a:buNone/>
            </a:pPr>
            <a:r>
              <a:rPr lang="en-US" sz="4400" b="1" dirty="0">
                <a:solidFill>
                  <a:srgbClr val="0B2545"/>
                </a:solidFill>
                <a:latin typeface="Cambria" pitchFamily="34" charset="0"/>
                <a:ea typeface="Cambria" pitchFamily="34" charset="-122"/>
                <a:cs typeface="Cambria" pitchFamily="34" charset="-120"/>
              </a:rPr>
              <a:t>6</a:t>
            </a:r>
            <a:endParaRPr lang="en-US" sz="4400" dirty="0"/>
          </a:p>
        </p:txBody>
      </p:sp>
      <p:sp>
        <p:nvSpPr>
          <p:cNvPr id="11" name="Text 9"/>
          <p:cNvSpPr txBox="1"/>
          <p:nvPr/>
        </p:nvSpPr>
        <p:spPr>
          <a:xfrm>
            <a:off x="3703320" y="3840480"/>
            <a:ext cx="25603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Months covered (Jan–Jun)</a:t>
            </a:r>
            <a:endParaRPr lang="en-US" sz="1100" dirty="0"/>
          </a:p>
        </p:txBody>
      </p:sp>
      <p:sp>
        <p:nvSpPr>
          <p:cNvPr id="12" name="Shape 10"/>
          <p:cNvSpPr/>
          <p:nvPr/>
        </p:nvSpPr>
        <p:spPr>
          <a:xfrm>
            <a:off x="548640" y="4572000"/>
            <a:ext cx="5852160" cy="1417320"/>
          </a:xfrm>
          <a:prstGeom prst="roundRect">
            <a:avLst>
              <a:gd name="adj" fmla="val 5161"/>
            </a:avLst>
          </a:prstGeom>
          <a:solidFill>
            <a:srgbClr val="F7F9FC"/>
          </a:solidFill>
          <a:ln w="12700">
            <a:solidFill>
              <a:srgbClr val="E2E8F0"/>
            </a:solidFill>
            <a:prstDash val="solid"/>
          </a:ln>
        </p:spPr>
      </p:sp>
      <p:sp>
        <p:nvSpPr>
          <p:cNvPr id="13" name="Text 11"/>
          <p:cNvSpPr txBox="1"/>
          <p:nvPr/>
        </p:nvSpPr>
        <p:spPr>
          <a:xfrm>
            <a:off x="731520" y="4663440"/>
            <a:ext cx="5486400" cy="1234440"/>
          </a:xfrm>
          <a:prstGeom prst="rect">
            <a:avLst/>
          </a:prstGeom>
          <a:noFill/>
          <a:ln/>
        </p:spPr>
        <p:txBody>
          <a:bodyPr wrap="square" rtlCol="0" anchor="ctr"/>
          <a:lstStyle/>
          <a:p>
            <a:pPr marL="0" indent="0">
              <a:lnSpc>
                <a:spcPct val="120000"/>
              </a:lnSpc>
              <a:buNone/>
            </a:pPr>
            <a:r>
              <a:rPr lang="en-US" sz="1150" i="1" dirty="0">
                <a:solidFill>
                  <a:srgbClr val="0B2545"/>
                </a:solidFill>
                <a:latin typeface="Calibri" pitchFamily="34" charset="0"/>
                <a:ea typeface="Calibri" pitchFamily="34" charset="-122"/>
                <a:cs typeface="Calibri" pitchFamily="34" charset="-120"/>
              </a:rPr>
              <a:t>Structured as a Python list of dictionaries — one dictionary per customer record, each key representing a data field (customer ID, type, location, month, consumption, tariff, and more).</a:t>
            </a:r>
            <a:endParaRPr lang="en-US" sz="1150" dirty="0"/>
          </a:p>
        </p:txBody>
      </p:sp>
      <p:sp>
        <p:nvSpPr>
          <p:cNvPr id="14" name="Text 12"/>
          <p:cNvSpPr txBox="1"/>
          <p:nvPr/>
        </p:nvSpPr>
        <p:spPr>
          <a:xfrm>
            <a:off x="6720840" y="1463040"/>
            <a:ext cx="4937760" cy="274320"/>
          </a:xfrm>
          <a:prstGeom prst="rect">
            <a:avLst/>
          </a:prstGeom>
          <a:noFill/>
          <a:ln/>
        </p:spPr>
        <p:txBody>
          <a:bodyPr wrap="square" rtlCol="0" anchor="ctr"/>
          <a:lstStyle/>
          <a:p>
            <a:pPr marL="0" indent="0">
              <a:buNone/>
            </a:pPr>
            <a:r>
              <a:rPr lang="en-US" sz="1100" b="1" kern="0" spc="150" dirty="0">
                <a:solidFill>
                  <a:srgbClr val="F4A300"/>
                </a:solidFill>
                <a:latin typeface="Calibri" pitchFamily="34" charset="0"/>
                <a:ea typeface="Calibri" pitchFamily="34" charset="-122"/>
                <a:cs typeface="Calibri" pitchFamily="34" charset="-120"/>
              </a:rPr>
              <a:t>CUSTOMER TYPES COVERED</a:t>
            </a:r>
            <a:endParaRPr lang="en-US" sz="1100" dirty="0"/>
          </a:p>
        </p:txBody>
      </p:sp>
      <p:sp>
        <p:nvSpPr>
          <p:cNvPr id="15" name="Shape 13"/>
          <p:cNvSpPr/>
          <p:nvPr/>
        </p:nvSpPr>
        <p:spPr>
          <a:xfrm>
            <a:off x="6720840" y="1828800"/>
            <a:ext cx="1600200" cy="914400"/>
          </a:xfrm>
          <a:prstGeom prst="roundRect">
            <a:avLst>
              <a:gd name="adj" fmla="val 8000"/>
            </a:avLst>
          </a:prstGeom>
          <a:solidFill>
            <a:srgbClr val="0B2545"/>
          </a:solidFill>
          <a:ln/>
        </p:spPr>
      </p:sp>
      <p:sp>
        <p:nvSpPr>
          <p:cNvPr id="16" name="Shape 14"/>
          <p:cNvSpPr/>
          <p:nvPr/>
        </p:nvSpPr>
        <p:spPr>
          <a:xfrm>
            <a:off x="7328916" y="1938528"/>
            <a:ext cx="384048" cy="384048"/>
          </a:xfrm>
          <a:prstGeom prst="ellipse">
            <a:avLst/>
          </a:prstGeom>
          <a:solidFill>
            <a:srgbClr val="F4A300"/>
          </a:solidFill>
          <a:ln/>
        </p:spPr>
      </p:sp>
      <p:pic>
        <p:nvPicPr>
          <p:cNvPr id="17" name="Image 0" descr="icons/home_0B2545.png"/>
          <p:cNvPicPr>
            <a:picLocks noChangeAspect="1"/>
          </p:cNvPicPr>
          <p:nvPr/>
        </p:nvPicPr>
        <p:blipFill>
          <a:blip r:embed="rId3"/>
          <a:stretch>
            <a:fillRect/>
          </a:stretch>
        </p:blipFill>
        <p:spPr>
          <a:xfrm>
            <a:off x="7428768" y="2038380"/>
            <a:ext cx="184343" cy="184343"/>
          </a:xfrm>
          <a:prstGeom prst="rect">
            <a:avLst/>
          </a:prstGeom>
        </p:spPr>
      </p:pic>
      <p:sp>
        <p:nvSpPr>
          <p:cNvPr id="18" name="Text 15"/>
          <p:cNvSpPr txBox="1"/>
          <p:nvPr/>
        </p:nvSpPr>
        <p:spPr>
          <a:xfrm>
            <a:off x="6766560" y="237744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Residential</a:t>
            </a:r>
            <a:endParaRPr lang="en-US" sz="950" dirty="0"/>
          </a:p>
        </p:txBody>
      </p:sp>
      <p:sp>
        <p:nvSpPr>
          <p:cNvPr id="19" name="Shape 16"/>
          <p:cNvSpPr/>
          <p:nvPr/>
        </p:nvSpPr>
        <p:spPr>
          <a:xfrm>
            <a:off x="8375904" y="1828800"/>
            <a:ext cx="1600200" cy="914400"/>
          </a:xfrm>
          <a:prstGeom prst="roundRect">
            <a:avLst>
              <a:gd name="adj" fmla="val 8000"/>
            </a:avLst>
          </a:prstGeom>
          <a:solidFill>
            <a:srgbClr val="0B2545"/>
          </a:solidFill>
          <a:ln/>
        </p:spPr>
      </p:sp>
      <p:sp>
        <p:nvSpPr>
          <p:cNvPr id="20" name="Shape 17"/>
          <p:cNvSpPr/>
          <p:nvPr/>
        </p:nvSpPr>
        <p:spPr>
          <a:xfrm>
            <a:off x="8983980" y="1938528"/>
            <a:ext cx="384048" cy="384048"/>
          </a:xfrm>
          <a:prstGeom prst="ellipse">
            <a:avLst/>
          </a:prstGeom>
          <a:solidFill>
            <a:srgbClr val="F4A300"/>
          </a:solidFill>
          <a:ln/>
        </p:spPr>
      </p:sp>
      <p:pic>
        <p:nvPicPr>
          <p:cNvPr id="21" name="Image 1" descr="icons/store_0B2545.png"/>
          <p:cNvPicPr>
            <a:picLocks noChangeAspect="1"/>
          </p:cNvPicPr>
          <p:nvPr/>
        </p:nvPicPr>
        <p:blipFill>
          <a:blip r:embed="rId4"/>
          <a:stretch>
            <a:fillRect/>
          </a:stretch>
        </p:blipFill>
        <p:spPr>
          <a:xfrm>
            <a:off x="9083832" y="2038380"/>
            <a:ext cx="184343" cy="184343"/>
          </a:xfrm>
          <a:prstGeom prst="rect">
            <a:avLst/>
          </a:prstGeom>
        </p:spPr>
      </p:pic>
      <p:sp>
        <p:nvSpPr>
          <p:cNvPr id="22" name="Text 18"/>
          <p:cNvSpPr txBox="1"/>
          <p:nvPr/>
        </p:nvSpPr>
        <p:spPr>
          <a:xfrm>
            <a:off x="8421624" y="237744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SME</a:t>
            </a:r>
            <a:endParaRPr lang="en-US" sz="950" dirty="0"/>
          </a:p>
        </p:txBody>
      </p:sp>
      <p:sp>
        <p:nvSpPr>
          <p:cNvPr id="23" name="Shape 19"/>
          <p:cNvSpPr/>
          <p:nvPr/>
        </p:nvSpPr>
        <p:spPr>
          <a:xfrm>
            <a:off x="10030968" y="1828800"/>
            <a:ext cx="1600200" cy="914400"/>
          </a:xfrm>
          <a:prstGeom prst="roundRect">
            <a:avLst>
              <a:gd name="adj" fmla="val 8000"/>
            </a:avLst>
          </a:prstGeom>
          <a:solidFill>
            <a:srgbClr val="0B2545"/>
          </a:solidFill>
          <a:ln/>
        </p:spPr>
      </p:sp>
      <p:sp>
        <p:nvSpPr>
          <p:cNvPr id="24" name="Shape 20"/>
          <p:cNvSpPr/>
          <p:nvPr/>
        </p:nvSpPr>
        <p:spPr>
          <a:xfrm>
            <a:off x="10639044" y="1938528"/>
            <a:ext cx="384048" cy="384048"/>
          </a:xfrm>
          <a:prstGeom prst="ellipse">
            <a:avLst/>
          </a:prstGeom>
          <a:solidFill>
            <a:srgbClr val="F4A300"/>
          </a:solidFill>
          <a:ln/>
        </p:spPr>
      </p:sp>
      <p:pic>
        <p:nvPicPr>
          <p:cNvPr id="25" name="Image 2" descr="icons/industry_0B2545.png"/>
          <p:cNvPicPr>
            <a:picLocks noChangeAspect="1"/>
          </p:cNvPicPr>
          <p:nvPr/>
        </p:nvPicPr>
        <p:blipFill>
          <a:blip r:embed="rId5"/>
          <a:stretch>
            <a:fillRect/>
          </a:stretch>
        </p:blipFill>
        <p:spPr>
          <a:xfrm>
            <a:off x="10738896" y="2038380"/>
            <a:ext cx="184343" cy="184343"/>
          </a:xfrm>
          <a:prstGeom prst="rect">
            <a:avLst/>
          </a:prstGeom>
        </p:spPr>
      </p:pic>
      <p:sp>
        <p:nvSpPr>
          <p:cNvPr id="26" name="Text 21"/>
          <p:cNvSpPr txBox="1"/>
          <p:nvPr/>
        </p:nvSpPr>
        <p:spPr>
          <a:xfrm>
            <a:off x="10076688" y="237744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Industrial</a:t>
            </a:r>
            <a:endParaRPr lang="en-US" sz="950" dirty="0"/>
          </a:p>
        </p:txBody>
      </p:sp>
      <p:sp>
        <p:nvSpPr>
          <p:cNvPr id="27" name="Shape 22"/>
          <p:cNvSpPr/>
          <p:nvPr/>
        </p:nvSpPr>
        <p:spPr>
          <a:xfrm>
            <a:off x="6720840" y="2880360"/>
            <a:ext cx="1600200" cy="914400"/>
          </a:xfrm>
          <a:prstGeom prst="roundRect">
            <a:avLst>
              <a:gd name="adj" fmla="val 8000"/>
            </a:avLst>
          </a:prstGeom>
          <a:solidFill>
            <a:srgbClr val="0B2545"/>
          </a:solidFill>
          <a:ln/>
        </p:spPr>
      </p:sp>
      <p:sp>
        <p:nvSpPr>
          <p:cNvPr id="28" name="Shape 23"/>
          <p:cNvSpPr/>
          <p:nvPr/>
        </p:nvSpPr>
        <p:spPr>
          <a:xfrm>
            <a:off x="7328916" y="2990088"/>
            <a:ext cx="384048" cy="384048"/>
          </a:xfrm>
          <a:prstGeom prst="ellipse">
            <a:avLst/>
          </a:prstGeom>
          <a:solidFill>
            <a:srgbClr val="F4A300"/>
          </a:solidFill>
          <a:ln/>
        </p:spPr>
      </p:sp>
      <p:pic>
        <p:nvPicPr>
          <p:cNvPr id="29" name="Image 3" descr="icons/hospital_0B2545.png"/>
          <p:cNvPicPr>
            <a:picLocks noChangeAspect="1"/>
          </p:cNvPicPr>
          <p:nvPr/>
        </p:nvPicPr>
        <p:blipFill>
          <a:blip r:embed="rId6"/>
          <a:stretch>
            <a:fillRect/>
          </a:stretch>
        </p:blipFill>
        <p:spPr>
          <a:xfrm>
            <a:off x="7428768" y="3089940"/>
            <a:ext cx="184343" cy="184343"/>
          </a:xfrm>
          <a:prstGeom prst="rect">
            <a:avLst/>
          </a:prstGeom>
        </p:spPr>
      </p:pic>
      <p:sp>
        <p:nvSpPr>
          <p:cNvPr id="30" name="Text 24"/>
          <p:cNvSpPr txBox="1"/>
          <p:nvPr/>
        </p:nvSpPr>
        <p:spPr>
          <a:xfrm>
            <a:off x="6766560" y="342900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Hospital</a:t>
            </a:r>
            <a:endParaRPr lang="en-US" sz="950" dirty="0"/>
          </a:p>
        </p:txBody>
      </p:sp>
      <p:sp>
        <p:nvSpPr>
          <p:cNvPr id="31" name="Shape 25"/>
          <p:cNvSpPr/>
          <p:nvPr/>
        </p:nvSpPr>
        <p:spPr>
          <a:xfrm>
            <a:off x="8375904" y="2880360"/>
            <a:ext cx="1600200" cy="914400"/>
          </a:xfrm>
          <a:prstGeom prst="roundRect">
            <a:avLst>
              <a:gd name="adj" fmla="val 8000"/>
            </a:avLst>
          </a:prstGeom>
          <a:solidFill>
            <a:srgbClr val="0B2545"/>
          </a:solidFill>
          <a:ln/>
        </p:spPr>
      </p:sp>
      <p:sp>
        <p:nvSpPr>
          <p:cNvPr id="32" name="Shape 26"/>
          <p:cNvSpPr/>
          <p:nvPr/>
        </p:nvSpPr>
        <p:spPr>
          <a:xfrm>
            <a:off x="8983980" y="2990088"/>
            <a:ext cx="384048" cy="384048"/>
          </a:xfrm>
          <a:prstGeom prst="ellipse">
            <a:avLst/>
          </a:prstGeom>
          <a:solidFill>
            <a:srgbClr val="F4A300"/>
          </a:solidFill>
          <a:ln/>
        </p:spPr>
      </p:sp>
      <p:pic>
        <p:nvPicPr>
          <p:cNvPr id="33" name="Image 4" descr="icons/school_0B2545.png"/>
          <p:cNvPicPr>
            <a:picLocks noChangeAspect="1"/>
          </p:cNvPicPr>
          <p:nvPr/>
        </p:nvPicPr>
        <p:blipFill>
          <a:blip r:embed="rId7"/>
          <a:stretch>
            <a:fillRect/>
          </a:stretch>
        </p:blipFill>
        <p:spPr>
          <a:xfrm>
            <a:off x="9083832" y="3089940"/>
            <a:ext cx="184343" cy="184343"/>
          </a:xfrm>
          <a:prstGeom prst="rect">
            <a:avLst/>
          </a:prstGeom>
        </p:spPr>
      </p:pic>
      <p:sp>
        <p:nvSpPr>
          <p:cNvPr id="34" name="Text 27"/>
          <p:cNvSpPr txBox="1"/>
          <p:nvPr/>
        </p:nvSpPr>
        <p:spPr>
          <a:xfrm>
            <a:off x="8421624" y="342900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School</a:t>
            </a:r>
            <a:endParaRPr lang="en-US" sz="950" dirty="0"/>
          </a:p>
        </p:txBody>
      </p:sp>
      <p:sp>
        <p:nvSpPr>
          <p:cNvPr id="35" name="Shape 28"/>
          <p:cNvSpPr/>
          <p:nvPr/>
        </p:nvSpPr>
        <p:spPr>
          <a:xfrm>
            <a:off x="10030968" y="2880360"/>
            <a:ext cx="1600200" cy="914400"/>
          </a:xfrm>
          <a:prstGeom prst="roundRect">
            <a:avLst>
              <a:gd name="adj" fmla="val 8000"/>
            </a:avLst>
          </a:prstGeom>
          <a:solidFill>
            <a:srgbClr val="0B2545"/>
          </a:solidFill>
          <a:ln/>
        </p:spPr>
      </p:sp>
      <p:sp>
        <p:nvSpPr>
          <p:cNvPr id="36" name="Shape 29"/>
          <p:cNvSpPr/>
          <p:nvPr/>
        </p:nvSpPr>
        <p:spPr>
          <a:xfrm>
            <a:off x="10639044" y="2990088"/>
            <a:ext cx="384048" cy="384048"/>
          </a:xfrm>
          <a:prstGeom prst="ellipse">
            <a:avLst/>
          </a:prstGeom>
          <a:solidFill>
            <a:srgbClr val="F4A300"/>
          </a:solidFill>
          <a:ln/>
        </p:spPr>
      </p:sp>
      <p:pic>
        <p:nvPicPr>
          <p:cNvPr id="37" name="Image 5" descr="icons/tractor_0B2545.png"/>
          <p:cNvPicPr>
            <a:picLocks noChangeAspect="1"/>
          </p:cNvPicPr>
          <p:nvPr/>
        </p:nvPicPr>
        <p:blipFill>
          <a:blip r:embed="rId8"/>
          <a:stretch>
            <a:fillRect/>
          </a:stretch>
        </p:blipFill>
        <p:spPr>
          <a:xfrm>
            <a:off x="10738896" y="3089940"/>
            <a:ext cx="184343" cy="184343"/>
          </a:xfrm>
          <a:prstGeom prst="rect">
            <a:avLst/>
          </a:prstGeom>
        </p:spPr>
      </p:pic>
      <p:sp>
        <p:nvSpPr>
          <p:cNvPr id="38" name="Text 30"/>
          <p:cNvSpPr txBox="1"/>
          <p:nvPr/>
        </p:nvSpPr>
        <p:spPr>
          <a:xfrm>
            <a:off x="10076688" y="342900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Agricultural</a:t>
            </a:r>
            <a:endParaRPr lang="en-US" sz="950" dirty="0"/>
          </a:p>
        </p:txBody>
      </p:sp>
      <p:sp>
        <p:nvSpPr>
          <p:cNvPr id="39" name="Text 31"/>
          <p:cNvSpPr txBox="1"/>
          <p:nvPr/>
        </p:nvSpPr>
        <p:spPr>
          <a:xfrm>
            <a:off x="6720840" y="4114800"/>
            <a:ext cx="4937760" cy="274320"/>
          </a:xfrm>
          <a:prstGeom prst="rect">
            <a:avLst/>
          </a:prstGeom>
          <a:noFill/>
          <a:ln/>
        </p:spPr>
        <p:txBody>
          <a:bodyPr wrap="square" rtlCol="0" anchor="ctr"/>
          <a:lstStyle/>
          <a:p>
            <a:pPr marL="0" indent="0">
              <a:buNone/>
            </a:pPr>
            <a:r>
              <a:rPr lang="en-US" sz="1100" b="1" kern="0" spc="150" dirty="0">
                <a:solidFill>
                  <a:srgbClr val="F4A300"/>
                </a:solidFill>
                <a:latin typeface="Calibri" pitchFamily="34" charset="0"/>
                <a:ea typeface="Calibri" pitchFamily="34" charset="-122"/>
                <a:cs typeface="Calibri" pitchFamily="34" charset="-120"/>
              </a:rPr>
              <a:t>LOCATIONS COVERED</a:t>
            </a:r>
            <a:endParaRPr lang="en-US" sz="1100" dirty="0"/>
          </a:p>
        </p:txBody>
      </p:sp>
      <p:sp>
        <p:nvSpPr>
          <p:cNvPr id="40" name="Shape 32"/>
          <p:cNvSpPr/>
          <p:nvPr/>
        </p:nvSpPr>
        <p:spPr>
          <a:xfrm>
            <a:off x="6720840" y="4434840"/>
            <a:ext cx="1600200" cy="914400"/>
          </a:xfrm>
          <a:prstGeom prst="roundRect">
            <a:avLst>
              <a:gd name="adj" fmla="val 8000"/>
            </a:avLst>
          </a:prstGeom>
          <a:solidFill>
            <a:srgbClr val="F7F9FC"/>
          </a:solidFill>
          <a:ln w="12700">
            <a:solidFill>
              <a:srgbClr val="E2E8F0"/>
            </a:solidFill>
            <a:prstDash val="solid"/>
          </a:ln>
        </p:spPr>
      </p:sp>
      <p:sp>
        <p:nvSpPr>
          <p:cNvPr id="41" name="Shape 33"/>
          <p:cNvSpPr/>
          <p:nvPr/>
        </p:nvSpPr>
        <p:spPr>
          <a:xfrm>
            <a:off x="7328916" y="4544568"/>
            <a:ext cx="384048" cy="384048"/>
          </a:xfrm>
          <a:prstGeom prst="ellipse">
            <a:avLst/>
          </a:prstGeom>
          <a:solidFill>
            <a:srgbClr val="0B2545"/>
          </a:solidFill>
          <a:ln/>
        </p:spPr>
      </p:sp>
      <p:pic>
        <p:nvPicPr>
          <p:cNvPr id="42" name="Image 6" descr="icons/pin_FFFFFF.png"/>
          <p:cNvPicPr>
            <a:picLocks noChangeAspect="1"/>
          </p:cNvPicPr>
          <p:nvPr/>
        </p:nvPicPr>
        <p:blipFill>
          <a:blip r:embed="rId9"/>
          <a:stretch>
            <a:fillRect/>
          </a:stretch>
        </p:blipFill>
        <p:spPr>
          <a:xfrm>
            <a:off x="7428768" y="4644420"/>
            <a:ext cx="184343" cy="184343"/>
          </a:xfrm>
          <a:prstGeom prst="rect">
            <a:avLst/>
          </a:prstGeom>
        </p:spPr>
      </p:pic>
      <p:sp>
        <p:nvSpPr>
          <p:cNvPr id="43" name="Text 34"/>
          <p:cNvSpPr txBox="1"/>
          <p:nvPr/>
        </p:nvSpPr>
        <p:spPr>
          <a:xfrm>
            <a:off x="6766560" y="4983480"/>
            <a:ext cx="1508760" cy="320040"/>
          </a:xfrm>
          <a:prstGeom prst="rect">
            <a:avLst/>
          </a:prstGeom>
          <a:noFill/>
          <a:ln/>
        </p:spPr>
        <p:txBody>
          <a:bodyPr wrap="square" rtlCol="0" anchor="ctr"/>
          <a:lstStyle/>
          <a:p>
            <a:pPr marL="0" indent="0" algn="ctr">
              <a:buNone/>
            </a:pPr>
            <a:r>
              <a:rPr lang="en-US" sz="1050" b="1" dirty="0">
                <a:solidFill>
                  <a:srgbClr val="0B2545"/>
                </a:solidFill>
                <a:latin typeface="Calibri" pitchFamily="34" charset="0"/>
                <a:ea typeface="Calibri" pitchFamily="34" charset="-122"/>
                <a:cs typeface="Calibri" pitchFamily="34" charset="-120"/>
              </a:rPr>
              <a:t>Lagos</a:t>
            </a:r>
            <a:endParaRPr lang="en-US" sz="1050" dirty="0"/>
          </a:p>
        </p:txBody>
      </p:sp>
      <p:sp>
        <p:nvSpPr>
          <p:cNvPr id="44" name="Shape 35"/>
          <p:cNvSpPr/>
          <p:nvPr/>
        </p:nvSpPr>
        <p:spPr>
          <a:xfrm>
            <a:off x="8375904" y="4434840"/>
            <a:ext cx="1600200" cy="914400"/>
          </a:xfrm>
          <a:prstGeom prst="roundRect">
            <a:avLst>
              <a:gd name="adj" fmla="val 8000"/>
            </a:avLst>
          </a:prstGeom>
          <a:solidFill>
            <a:srgbClr val="F7F9FC"/>
          </a:solidFill>
          <a:ln w="12700">
            <a:solidFill>
              <a:srgbClr val="E2E8F0"/>
            </a:solidFill>
            <a:prstDash val="solid"/>
          </a:ln>
        </p:spPr>
      </p:sp>
      <p:sp>
        <p:nvSpPr>
          <p:cNvPr id="45" name="Shape 36"/>
          <p:cNvSpPr/>
          <p:nvPr/>
        </p:nvSpPr>
        <p:spPr>
          <a:xfrm>
            <a:off x="8983980" y="4544568"/>
            <a:ext cx="384048" cy="384048"/>
          </a:xfrm>
          <a:prstGeom prst="ellipse">
            <a:avLst/>
          </a:prstGeom>
          <a:solidFill>
            <a:srgbClr val="0B2545"/>
          </a:solidFill>
          <a:ln/>
        </p:spPr>
      </p:sp>
      <p:pic>
        <p:nvPicPr>
          <p:cNvPr id="46" name="Image 7" descr="icons/pin_FFFFFF.png"/>
          <p:cNvPicPr>
            <a:picLocks noChangeAspect="1"/>
          </p:cNvPicPr>
          <p:nvPr/>
        </p:nvPicPr>
        <p:blipFill>
          <a:blip r:embed="rId9"/>
          <a:stretch>
            <a:fillRect/>
          </a:stretch>
        </p:blipFill>
        <p:spPr>
          <a:xfrm>
            <a:off x="9083832" y="4644420"/>
            <a:ext cx="184343" cy="184343"/>
          </a:xfrm>
          <a:prstGeom prst="rect">
            <a:avLst/>
          </a:prstGeom>
        </p:spPr>
      </p:pic>
      <p:sp>
        <p:nvSpPr>
          <p:cNvPr id="47" name="Text 37"/>
          <p:cNvSpPr txBox="1"/>
          <p:nvPr/>
        </p:nvSpPr>
        <p:spPr>
          <a:xfrm>
            <a:off x="8421624" y="4983480"/>
            <a:ext cx="1508760" cy="320040"/>
          </a:xfrm>
          <a:prstGeom prst="rect">
            <a:avLst/>
          </a:prstGeom>
          <a:noFill/>
          <a:ln/>
        </p:spPr>
        <p:txBody>
          <a:bodyPr wrap="square" rtlCol="0" anchor="ctr"/>
          <a:lstStyle/>
          <a:p>
            <a:pPr marL="0" indent="0" algn="ctr">
              <a:buNone/>
            </a:pPr>
            <a:r>
              <a:rPr lang="en-US" sz="1050" b="1" dirty="0">
                <a:solidFill>
                  <a:srgbClr val="0B2545"/>
                </a:solidFill>
                <a:latin typeface="Calibri" pitchFamily="34" charset="0"/>
                <a:ea typeface="Calibri" pitchFamily="34" charset="-122"/>
                <a:cs typeface="Calibri" pitchFamily="34" charset="-120"/>
              </a:rPr>
              <a:t>Abuja</a:t>
            </a:r>
            <a:endParaRPr lang="en-US" sz="1050" dirty="0"/>
          </a:p>
        </p:txBody>
      </p:sp>
      <p:sp>
        <p:nvSpPr>
          <p:cNvPr id="48" name="Shape 38"/>
          <p:cNvSpPr/>
          <p:nvPr/>
        </p:nvSpPr>
        <p:spPr>
          <a:xfrm>
            <a:off x="10030968" y="4434840"/>
            <a:ext cx="1600200" cy="914400"/>
          </a:xfrm>
          <a:prstGeom prst="roundRect">
            <a:avLst>
              <a:gd name="adj" fmla="val 8000"/>
            </a:avLst>
          </a:prstGeom>
          <a:solidFill>
            <a:srgbClr val="F7F9FC"/>
          </a:solidFill>
          <a:ln w="12700">
            <a:solidFill>
              <a:srgbClr val="E2E8F0"/>
            </a:solidFill>
            <a:prstDash val="solid"/>
          </a:ln>
        </p:spPr>
      </p:sp>
      <p:sp>
        <p:nvSpPr>
          <p:cNvPr id="49" name="Shape 39"/>
          <p:cNvSpPr/>
          <p:nvPr/>
        </p:nvSpPr>
        <p:spPr>
          <a:xfrm>
            <a:off x="10639044" y="4544568"/>
            <a:ext cx="384048" cy="384048"/>
          </a:xfrm>
          <a:prstGeom prst="ellipse">
            <a:avLst/>
          </a:prstGeom>
          <a:solidFill>
            <a:srgbClr val="0B2545"/>
          </a:solidFill>
          <a:ln/>
        </p:spPr>
      </p:sp>
      <p:pic>
        <p:nvPicPr>
          <p:cNvPr id="50" name="Image 8" descr="icons/pin_FFFFFF.png"/>
          <p:cNvPicPr>
            <a:picLocks noChangeAspect="1"/>
          </p:cNvPicPr>
          <p:nvPr/>
        </p:nvPicPr>
        <p:blipFill>
          <a:blip r:embed="rId9"/>
          <a:stretch>
            <a:fillRect/>
          </a:stretch>
        </p:blipFill>
        <p:spPr>
          <a:xfrm>
            <a:off x="10738896" y="4644420"/>
            <a:ext cx="184343" cy="184343"/>
          </a:xfrm>
          <a:prstGeom prst="rect">
            <a:avLst/>
          </a:prstGeom>
        </p:spPr>
      </p:pic>
      <p:sp>
        <p:nvSpPr>
          <p:cNvPr id="51" name="Text 40"/>
          <p:cNvSpPr txBox="1"/>
          <p:nvPr/>
        </p:nvSpPr>
        <p:spPr>
          <a:xfrm>
            <a:off x="10076688" y="4983480"/>
            <a:ext cx="1508760" cy="320040"/>
          </a:xfrm>
          <a:prstGeom prst="rect">
            <a:avLst/>
          </a:prstGeom>
          <a:noFill/>
          <a:ln/>
        </p:spPr>
        <p:txBody>
          <a:bodyPr wrap="square" rtlCol="0" anchor="ctr"/>
          <a:lstStyle/>
          <a:p>
            <a:pPr marL="0" indent="0" algn="ctr">
              <a:buNone/>
            </a:pPr>
            <a:r>
              <a:rPr lang="en-US" sz="1050" b="1" dirty="0">
                <a:solidFill>
                  <a:srgbClr val="0B2545"/>
                </a:solidFill>
                <a:latin typeface="Calibri" pitchFamily="34" charset="0"/>
                <a:ea typeface="Calibri" pitchFamily="34" charset="-122"/>
                <a:cs typeface="Calibri" pitchFamily="34" charset="-120"/>
              </a:rPr>
              <a:t>Ibadan</a:t>
            </a:r>
            <a:endParaRPr lang="en-US" sz="1050" dirty="0"/>
          </a:p>
        </p:txBody>
      </p:sp>
      <p:sp>
        <p:nvSpPr>
          <p:cNvPr id="52" name="Text 41"/>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53" name="Text 42"/>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DATASET DESCRIPTION,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Data Dictionary</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389120"/>
        </p:xfrm>
        <a:graphic>
          <a:graphicData uri="http://schemas.openxmlformats.org/drawingml/2006/table">
            <a:tbl>
              <a:tblPr/>
              <a:tblGrid>
                <a:gridCol w="3108960">
                  <a:extLst>
                    <a:ext uri="{9D8B030D-6E8A-4147-A177-3AD203B41FA5}">
                      <a16:colId xmlns:a16="http://schemas.microsoft.com/office/drawing/2014/main" val="20000"/>
                    </a:ext>
                  </a:extLst>
                </a:gridCol>
                <a:gridCol w="7955280">
                  <a:extLst>
                    <a:ext uri="{9D8B030D-6E8A-4147-A177-3AD203B41FA5}">
                      <a16:colId xmlns:a16="http://schemas.microsoft.com/office/drawing/2014/main" val="20001"/>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Description</a:t>
                      </a:r>
                      <a:endParaRPr lang="en-US" sz="12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Customer ID</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Unique identifier assigned to each customer (e.g. C019)</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Customer Name</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Name of the customer</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Customer Type</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Residential, SME, Industrial, Hospital, School, Agricultural</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Location</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Lagos, Abuja, or Ibadan</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Month</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January through June</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Consumption (kWh)</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Electricity consumed in a given period</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Tariff (per kWh)</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Electricity cost applied per kilowatt-hour</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Peak Consumption</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Electricity consumed during peak periods</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Renewable Share</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Percentage of consumption from renewable energy</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Outage Hours</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Number of hours with no electricity supply</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10"/>
                  </a:ext>
                </a:extLst>
              </a:tr>
              <a:tr h="365760">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Payment Status</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2545"/>
                          </a:solidFill>
                          <a:latin typeface="Calibri" pitchFamily="34" charset="0"/>
                          <a:ea typeface="Calibri" pitchFamily="34" charset="-122"/>
                          <a:cs typeface="Calibri" pitchFamily="34" charset="-120"/>
                        </a:rPr>
                        <a:t>Paid or Pending</a:t>
                      </a:r>
                      <a:endParaRPr lang="en-US" sz="115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5" name="Text 2"/>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6" name="Text 3"/>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DATASET DESCRIPTION,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Dataset Limitation</a:t>
            </a:r>
            <a:endParaRPr lang="en-US" sz="3000" dirty="0"/>
          </a:p>
        </p:txBody>
      </p:sp>
      <p:sp>
        <p:nvSpPr>
          <p:cNvPr id="4" name="Shape 2"/>
          <p:cNvSpPr/>
          <p:nvPr/>
        </p:nvSpPr>
        <p:spPr>
          <a:xfrm>
            <a:off x="822960" y="2194560"/>
            <a:ext cx="1280160" cy="1280160"/>
          </a:xfrm>
          <a:prstGeom prst="ellipse">
            <a:avLst/>
          </a:prstGeom>
          <a:solidFill>
            <a:srgbClr val="F4A300"/>
          </a:solidFill>
          <a:ln/>
        </p:spPr>
      </p:sp>
      <p:pic>
        <p:nvPicPr>
          <p:cNvPr id="5" name="Image 0" descr="icons/alert_0B2545.png"/>
          <p:cNvPicPr>
            <a:picLocks noChangeAspect="1"/>
          </p:cNvPicPr>
          <p:nvPr/>
        </p:nvPicPr>
        <p:blipFill>
          <a:blip r:embed="rId3"/>
          <a:stretch>
            <a:fillRect/>
          </a:stretch>
        </p:blipFill>
        <p:spPr>
          <a:xfrm>
            <a:off x="1155802" y="2527402"/>
            <a:ext cx="614477" cy="614477"/>
          </a:xfrm>
          <a:prstGeom prst="rect">
            <a:avLst/>
          </a:prstGeom>
        </p:spPr>
      </p:pic>
      <p:sp>
        <p:nvSpPr>
          <p:cNvPr id="6" name="Text 3"/>
          <p:cNvSpPr txBox="1"/>
          <p:nvPr/>
        </p:nvSpPr>
        <p:spPr>
          <a:xfrm>
            <a:off x="2468880" y="1965960"/>
            <a:ext cx="9052560" cy="914400"/>
          </a:xfrm>
          <a:prstGeom prst="rect">
            <a:avLst/>
          </a:prstGeom>
          <a:noFill/>
          <a:ln/>
        </p:spPr>
        <p:txBody>
          <a:bodyPr wrap="square" rtlCol="0" anchor="ctr"/>
          <a:lstStyle/>
          <a:p>
            <a:pPr marL="0" indent="0">
              <a:lnSpc>
                <a:spcPct val="125000"/>
              </a:lnSpc>
              <a:buNone/>
            </a:pPr>
            <a:r>
              <a:rPr lang="en-US" sz="2000" i="1" dirty="0">
                <a:solidFill>
                  <a:srgbClr val="FFFFFF"/>
                </a:solidFill>
                <a:latin typeface="Cambria" pitchFamily="34" charset="0"/>
                <a:ea typeface="Cambria" pitchFamily="34" charset="-122"/>
                <a:cs typeface="Cambria" pitchFamily="34" charset="-120"/>
              </a:rPr>
              <a:t>The dataset is a simulated instructional dataset and should not be interpreted as official electricity-consumption statistics for Nigeria.</a:t>
            </a:r>
            <a:endParaRPr lang="en-US" sz="2000" dirty="0"/>
          </a:p>
        </p:txBody>
      </p:sp>
      <p:sp>
        <p:nvSpPr>
          <p:cNvPr id="7" name="Text 4"/>
          <p:cNvSpPr txBox="1"/>
          <p:nvPr/>
        </p:nvSpPr>
        <p:spPr>
          <a:xfrm>
            <a:off x="2468880" y="3063240"/>
            <a:ext cx="8686800" cy="731520"/>
          </a:xfrm>
          <a:prstGeom prst="rect">
            <a:avLst/>
          </a:prstGeom>
          <a:noFill/>
          <a:ln/>
        </p:spPr>
        <p:txBody>
          <a:bodyPr wrap="square" rtlCol="0" anchor="ctr"/>
          <a:lstStyle/>
          <a:p>
            <a:pPr marL="0" indent="0">
              <a:lnSpc>
                <a:spcPct val="125000"/>
              </a:lnSpc>
              <a:buNone/>
            </a:pPr>
            <a:r>
              <a:rPr lang="en-US" sz="1400" dirty="0">
                <a:solidFill>
                  <a:srgbClr val="CADCFC"/>
                </a:solidFill>
                <a:latin typeface="Calibri" pitchFamily="34" charset="0"/>
                <a:ea typeface="Calibri" pitchFamily="34" charset="-122"/>
                <a:cs typeface="Calibri" pitchFamily="34" charset="-120"/>
              </a:rPr>
              <a:t>It is designed to demonstrate the application of Python programming and analytical thinking to an energy-consumption problem — not to represent real-world national statistics.</a:t>
            </a:r>
            <a:endParaRPr lang="en-US" sz="1400" dirty="0"/>
          </a:p>
        </p:txBody>
      </p:sp>
      <p:sp>
        <p:nvSpPr>
          <p:cNvPr id="8" name="Text 5"/>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9" name="Text 6"/>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Methodology</a:t>
            </a:r>
            <a:endParaRPr lang="en-US" sz="3000" dirty="0"/>
          </a:p>
        </p:txBody>
      </p:sp>
      <p:sp>
        <p:nvSpPr>
          <p:cNvPr id="5" name="Text 3"/>
          <p:cNvSpPr txBox="1"/>
          <p:nvPr/>
        </p:nvSpPr>
        <p:spPr>
          <a:xfrm>
            <a:off x="548640" y="1463040"/>
            <a:ext cx="10881360" cy="594360"/>
          </a:xfrm>
          <a:prstGeom prst="rect">
            <a:avLst/>
          </a:prstGeom>
          <a:noFill/>
          <a:ln/>
        </p:spPr>
        <p:txBody>
          <a:bodyPr wrap="square" rtlCol="0" anchor="ctr"/>
          <a:lstStyle/>
          <a:p>
            <a:pPr marL="0" indent="0">
              <a:lnSpc>
                <a:spcPct val="120000"/>
              </a:lnSpc>
              <a:buNone/>
            </a:pPr>
            <a:r>
              <a:rPr lang="en-US" sz="1300" dirty="0">
                <a:solidFill>
                  <a:srgbClr val="0B2545"/>
                </a:solidFill>
                <a:latin typeface="Calibri" pitchFamily="34" charset="0"/>
                <a:ea typeface="Calibri" pitchFamily="34" charset="-122"/>
                <a:cs typeface="Calibri" pitchFamily="34" charset="-120"/>
              </a:rPr>
              <a:t>A practical Python-based approach, built around fundamental concepts: variables, lists, dictionaries, indexing, conditionals, for and while loops, nested loops, functions, parameters and return statements.</a:t>
            </a:r>
            <a:endParaRPr lang="en-US" sz="1300" dirty="0"/>
          </a:p>
        </p:txBody>
      </p:sp>
      <p:sp>
        <p:nvSpPr>
          <p:cNvPr id="6" name="Shape 4"/>
          <p:cNvSpPr/>
          <p:nvPr/>
        </p:nvSpPr>
        <p:spPr>
          <a:xfrm>
            <a:off x="548640" y="2331720"/>
            <a:ext cx="548640" cy="548640"/>
          </a:xfrm>
          <a:prstGeom prst="ellipse">
            <a:avLst/>
          </a:prstGeom>
          <a:solidFill>
            <a:srgbClr val="0B2545"/>
          </a:solidFill>
          <a:ln/>
        </p:spPr>
      </p:sp>
      <p:pic>
        <p:nvPicPr>
          <p:cNvPr id="7" name="Image 0" descr="icons/database_FFFFFF.png"/>
          <p:cNvPicPr>
            <a:picLocks noChangeAspect="1"/>
          </p:cNvPicPr>
          <p:nvPr/>
        </p:nvPicPr>
        <p:blipFill>
          <a:blip r:embed="rId3"/>
          <a:stretch>
            <a:fillRect/>
          </a:stretch>
        </p:blipFill>
        <p:spPr>
          <a:xfrm>
            <a:off x="691286" y="2474366"/>
            <a:ext cx="263347" cy="263347"/>
          </a:xfrm>
          <a:prstGeom prst="rect">
            <a:avLst/>
          </a:prstGeom>
        </p:spPr>
      </p:pic>
      <p:sp>
        <p:nvSpPr>
          <p:cNvPr id="8" name="Text 5"/>
          <p:cNvSpPr txBox="1"/>
          <p:nvPr/>
        </p:nvSpPr>
        <p:spPr>
          <a:xfrm>
            <a:off x="1298448" y="2304288"/>
            <a:ext cx="4599432" cy="29260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Data Source &amp; Structure</a:t>
            </a:r>
            <a:endParaRPr lang="en-US" sz="1400" dirty="0"/>
          </a:p>
        </p:txBody>
      </p:sp>
      <p:sp>
        <p:nvSpPr>
          <p:cNvPr id="9" name="Text 6"/>
          <p:cNvSpPr txBox="1"/>
          <p:nvPr/>
        </p:nvSpPr>
        <p:spPr>
          <a:xfrm>
            <a:off x="1298448" y="2578608"/>
            <a:ext cx="4599432" cy="1097280"/>
          </a:xfrm>
          <a:prstGeom prst="rect">
            <a:avLst/>
          </a:prstGeom>
          <a:noFill/>
          <a:ln/>
        </p:spPr>
        <p:txBody>
          <a:bodyPr wrap="square" rtlCol="0" anchor="t"/>
          <a:lstStyle/>
          <a:p>
            <a:pPr marL="0" indent="0">
              <a:lnSpc>
                <a:spcPct val="112000"/>
              </a:lnSpc>
              <a:buNone/>
            </a:pPr>
            <a:r>
              <a:rPr lang="en-US" sz="1150" dirty="0">
                <a:solidFill>
                  <a:srgbClr val="5A6B7B"/>
                </a:solidFill>
                <a:latin typeface="Calibri" pitchFamily="34" charset="0"/>
                <a:ea typeface="Calibri" pitchFamily="34" charset="-122"/>
                <a:cs typeface="Calibri" pitchFamily="34" charset="-120"/>
              </a:rPr>
              <a:t>A 20-record simulated instructional dataset embedded directly in the program, as a Python list of dictionaries. No external CSV files or advanced libraries were used, in line with this stage of the Study Group.</a:t>
            </a:r>
            <a:endParaRPr lang="en-US" sz="1150" dirty="0"/>
          </a:p>
        </p:txBody>
      </p:sp>
      <p:sp>
        <p:nvSpPr>
          <p:cNvPr id="10" name="Shape 7"/>
          <p:cNvSpPr/>
          <p:nvPr/>
        </p:nvSpPr>
        <p:spPr>
          <a:xfrm>
            <a:off x="6263640" y="2331720"/>
            <a:ext cx="548640" cy="548640"/>
          </a:xfrm>
          <a:prstGeom prst="ellipse">
            <a:avLst/>
          </a:prstGeom>
          <a:solidFill>
            <a:srgbClr val="0B2545"/>
          </a:solidFill>
          <a:ln/>
        </p:spPr>
      </p:sp>
      <p:pic>
        <p:nvPicPr>
          <p:cNvPr id="11" name="Image 1" descr="icons/check_FFFFFF.png"/>
          <p:cNvPicPr>
            <a:picLocks noChangeAspect="1"/>
          </p:cNvPicPr>
          <p:nvPr/>
        </p:nvPicPr>
        <p:blipFill>
          <a:blip r:embed="rId4"/>
          <a:stretch>
            <a:fillRect/>
          </a:stretch>
        </p:blipFill>
        <p:spPr>
          <a:xfrm>
            <a:off x="6406286" y="2474366"/>
            <a:ext cx="263347" cy="263347"/>
          </a:xfrm>
          <a:prstGeom prst="rect">
            <a:avLst/>
          </a:prstGeom>
        </p:spPr>
      </p:pic>
      <p:sp>
        <p:nvSpPr>
          <p:cNvPr id="12" name="Text 8"/>
          <p:cNvSpPr txBox="1"/>
          <p:nvPr/>
        </p:nvSpPr>
        <p:spPr>
          <a:xfrm>
            <a:off x="7013448" y="2304288"/>
            <a:ext cx="4599432" cy="29260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Data Preparation &amp; Validation</a:t>
            </a:r>
            <a:endParaRPr lang="en-US" sz="1400" dirty="0"/>
          </a:p>
        </p:txBody>
      </p:sp>
      <p:sp>
        <p:nvSpPr>
          <p:cNvPr id="13" name="Text 9"/>
          <p:cNvSpPr txBox="1"/>
          <p:nvPr/>
        </p:nvSpPr>
        <p:spPr>
          <a:xfrm>
            <a:off x="7013448" y="2578608"/>
            <a:ext cx="4599432" cy="1097280"/>
          </a:xfrm>
          <a:prstGeom prst="rect">
            <a:avLst/>
          </a:prstGeom>
          <a:noFill/>
          <a:ln/>
        </p:spPr>
        <p:txBody>
          <a:bodyPr wrap="square" rtlCol="0" anchor="t"/>
          <a:lstStyle/>
          <a:p>
            <a:pPr marL="0" indent="0">
              <a:lnSpc>
                <a:spcPct val="112000"/>
              </a:lnSpc>
              <a:buNone/>
            </a:pPr>
            <a:r>
              <a:rPr lang="en-US" sz="1150" dirty="0">
                <a:solidFill>
                  <a:srgbClr val="5A6B7B"/>
                </a:solidFill>
                <a:latin typeface="Calibri" pitchFamily="34" charset="0"/>
                <a:ea typeface="Calibri" pitchFamily="34" charset="-122"/>
                <a:cs typeface="Calibri" pitchFamily="34" charset="-120"/>
              </a:rPr>
              <a:t>Checks were built around unique customer IDs, positive consumption values, valid renewable percentages, reasonable outage hours, valid payment statuses and consistent customer-type labels.</a:t>
            </a:r>
            <a:endParaRPr lang="en-US" sz="1150" dirty="0"/>
          </a:p>
        </p:txBody>
      </p:sp>
      <p:sp>
        <p:nvSpPr>
          <p:cNvPr id="14" name="Shape 10"/>
          <p:cNvSpPr/>
          <p:nvPr/>
        </p:nvSpPr>
        <p:spPr>
          <a:xfrm>
            <a:off x="548640" y="4114800"/>
            <a:ext cx="548640" cy="548640"/>
          </a:xfrm>
          <a:prstGeom prst="ellipse">
            <a:avLst/>
          </a:prstGeom>
          <a:solidFill>
            <a:srgbClr val="0B2545"/>
          </a:solidFill>
          <a:ln/>
        </p:spPr>
      </p:sp>
      <p:pic>
        <p:nvPicPr>
          <p:cNvPr id="15" name="Image 2" descr="icons/cogs_FFFFFF.png"/>
          <p:cNvPicPr>
            <a:picLocks noChangeAspect="1"/>
          </p:cNvPicPr>
          <p:nvPr/>
        </p:nvPicPr>
        <p:blipFill>
          <a:blip r:embed="rId5"/>
          <a:stretch>
            <a:fillRect/>
          </a:stretch>
        </p:blipFill>
        <p:spPr>
          <a:xfrm>
            <a:off x="691286" y="4257446"/>
            <a:ext cx="263347" cy="263347"/>
          </a:xfrm>
          <a:prstGeom prst="rect">
            <a:avLst/>
          </a:prstGeom>
        </p:spPr>
      </p:pic>
      <p:sp>
        <p:nvSpPr>
          <p:cNvPr id="16" name="Text 11"/>
          <p:cNvSpPr txBox="1"/>
          <p:nvPr/>
        </p:nvSpPr>
        <p:spPr>
          <a:xfrm>
            <a:off x="1298448" y="4087368"/>
            <a:ext cx="4599432" cy="29260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Processing Approach</a:t>
            </a:r>
            <a:endParaRPr lang="en-US" sz="1400" dirty="0"/>
          </a:p>
        </p:txBody>
      </p:sp>
      <p:sp>
        <p:nvSpPr>
          <p:cNvPr id="17" name="Text 12"/>
          <p:cNvSpPr txBox="1"/>
          <p:nvPr/>
        </p:nvSpPr>
        <p:spPr>
          <a:xfrm>
            <a:off x="1298448" y="4361688"/>
            <a:ext cx="4599432" cy="1097280"/>
          </a:xfrm>
          <a:prstGeom prst="rect">
            <a:avLst/>
          </a:prstGeom>
          <a:noFill/>
          <a:ln/>
        </p:spPr>
        <p:txBody>
          <a:bodyPr wrap="square" rtlCol="0" anchor="t"/>
          <a:lstStyle/>
          <a:p>
            <a:pPr marL="0" indent="0">
              <a:lnSpc>
                <a:spcPct val="112000"/>
              </a:lnSpc>
              <a:buNone/>
            </a:pPr>
            <a:r>
              <a:rPr lang="en-US" sz="1150" dirty="0">
                <a:solidFill>
                  <a:srgbClr val="5A6B7B"/>
                </a:solidFill>
                <a:latin typeface="Calibri" pitchFamily="34" charset="0"/>
                <a:ea typeface="Calibri" pitchFamily="34" charset="-122"/>
                <a:cs typeface="Calibri" pitchFamily="34" charset="-120"/>
              </a:rPr>
              <a:t>Analytical operations were separated into individual functions rather than one large block of code — reused each time a user interacts with the menu.</a:t>
            </a:r>
            <a:endParaRPr lang="en-US" sz="1150" dirty="0"/>
          </a:p>
        </p:txBody>
      </p:sp>
      <p:sp>
        <p:nvSpPr>
          <p:cNvPr id="18" name="Shape 13"/>
          <p:cNvSpPr/>
          <p:nvPr/>
        </p:nvSpPr>
        <p:spPr>
          <a:xfrm>
            <a:off x="6263640" y="4114800"/>
            <a:ext cx="548640" cy="548640"/>
          </a:xfrm>
          <a:prstGeom prst="ellipse">
            <a:avLst/>
          </a:prstGeom>
          <a:solidFill>
            <a:srgbClr val="0B2545"/>
          </a:solidFill>
          <a:ln/>
        </p:spPr>
      </p:sp>
      <p:pic>
        <p:nvPicPr>
          <p:cNvPr id="19" name="Image 3" descr="icons/clipboard_FFFFFF.png"/>
          <p:cNvPicPr>
            <a:picLocks noChangeAspect="1"/>
          </p:cNvPicPr>
          <p:nvPr/>
        </p:nvPicPr>
        <p:blipFill>
          <a:blip r:embed="rId6"/>
          <a:stretch>
            <a:fillRect/>
          </a:stretch>
        </p:blipFill>
        <p:spPr>
          <a:xfrm>
            <a:off x="6406286" y="4257446"/>
            <a:ext cx="263347" cy="263347"/>
          </a:xfrm>
          <a:prstGeom prst="rect">
            <a:avLst/>
          </a:prstGeom>
        </p:spPr>
      </p:pic>
      <p:sp>
        <p:nvSpPr>
          <p:cNvPr id="20" name="Text 14"/>
          <p:cNvSpPr txBox="1"/>
          <p:nvPr/>
        </p:nvSpPr>
        <p:spPr>
          <a:xfrm>
            <a:off x="7013448" y="4087368"/>
            <a:ext cx="4599432" cy="292608"/>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Presentation of Results</a:t>
            </a:r>
            <a:endParaRPr lang="en-US" sz="1400" dirty="0"/>
          </a:p>
        </p:txBody>
      </p:sp>
      <p:sp>
        <p:nvSpPr>
          <p:cNvPr id="21" name="Text 15"/>
          <p:cNvSpPr txBox="1"/>
          <p:nvPr/>
        </p:nvSpPr>
        <p:spPr>
          <a:xfrm>
            <a:off x="7013448" y="4361688"/>
            <a:ext cx="4599432" cy="1097280"/>
          </a:xfrm>
          <a:prstGeom prst="rect">
            <a:avLst/>
          </a:prstGeom>
          <a:noFill/>
          <a:ln/>
        </p:spPr>
        <p:txBody>
          <a:bodyPr wrap="square" rtlCol="0" anchor="t"/>
          <a:lstStyle/>
          <a:p>
            <a:pPr marL="0" indent="0">
              <a:lnSpc>
                <a:spcPct val="112000"/>
              </a:lnSpc>
              <a:buNone/>
            </a:pPr>
            <a:r>
              <a:rPr lang="en-US" sz="1150" dirty="0">
                <a:solidFill>
                  <a:srgbClr val="5A6B7B"/>
                </a:solidFill>
                <a:latin typeface="Calibri" pitchFamily="34" charset="0"/>
                <a:ea typeface="Calibri" pitchFamily="34" charset="-122"/>
                <a:cs typeface="Calibri" pitchFamily="34" charset="-120"/>
              </a:rPr>
              <a:t>Program output is interpreted separately in the Analysis section — consumption patterns, classifications, location and customer-type differences, and monthly patterns.</a:t>
            </a:r>
            <a:endParaRPr lang="en-US" sz="1150" dirty="0"/>
          </a:p>
        </p:txBody>
      </p:sp>
      <p:sp>
        <p:nvSpPr>
          <p:cNvPr id="22" name="Text 16"/>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3" name="Text 17"/>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METHODOLOGY,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Calculation &amp; Grouping Approach</a:t>
            </a:r>
            <a:endParaRPr lang="en-US" sz="3000" dirty="0"/>
          </a:p>
        </p:txBody>
      </p:sp>
      <p:sp>
        <p:nvSpPr>
          <p:cNvPr id="4" name="Shape 2"/>
          <p:cNvSpPr/>
          <p:nvPr/>
        </p:nvSpPr>
        <p:spPr>
          <a:xfrm>
            <a:off x="548640" y="1600200"/>
            <a:ext cx="5349240" cy="4206240"/>
          </a:xfrm>
          <a:prstGeom prst="roundRect">
            <a:avLst>
              <a:gd name="adj" fmla="val 1739"/>
            </a:avLst>
          </a:prstGeom>
          <a:solidFill>
            <a:srgbClr val="F7F9FC"/>
          </a:solidFill>
          <a:ln w="12700">
            <a:solidFill>
              <a:srgbClr val="E2E8F0"/>
            </a:solidFill>
            <a:prstDash val="solid"/>
          </a:ln>
        </p:spPr>
      </p:sp>
      <p:sp>
        <p:nvSpPr>
          <p:cNvPr id="5" name="Shape 3"/>
          <p:cNvSpPr/>
          <p:nvPr/>
        </p:nvSpPr>
        <p:spPr>
          <a:xfrm>
            <a:off x="822960" y="1874520"/>
            <a:ext cx="548640" cy="548640"/>
          </a:xfrm>
          <a:prstGeom prst="ellipse">
            <a:avLst/>
          </a:prstGeom>
          <a:solidFill>
            <a:srgbClr val="0B2545"/>
          </a:solidFill>
          <a:ln/>
        </p:spPr>
      </p:sp>
      <p:pic>
        <p:nvPicPr>
          <p:cNvPr id="6" name="Image 0" descr="icons/chartbar_FFFFFF.png"/>
          <p:cNvPicPr>
            <a:picLocks noChangeAspect="1"/>
          </p:cNvPicPr>
          <p:nvPr/>
        </p:nvPicPr>
        <p:blipFill>
          <a:blip r:embed="rId3"/>
          <a:stretch>
            <a:fillRect/>
          </a:stretch>
        </p:blipFill>
        <p:spPr>
          <a:xfrm>
            <a:off x="965606" y="2017166"/>
            <a:ext cx="263347" cy="263347"/>
          </a:xfrm>
          <a:prstGeom prst="rect">
            <a:avLst/>
          </a:prstGeom>
        </p:spPr>
      </p:pic>
      <p:sp>
        <p:nvSpPr>
          <p:cNvPr id="7" name="Text 4"/>
          <p:cNvSpPr txBox="1"/>
          <p:nvPr/>
        </p:nvSpPr>
        <p:spPr>
          <a:xfrm>
            <a:off x="1508760" y="1920240"/>
            <a:ext cx="4206240" cy="457200"/>
          </a:xfrm>
          <a:prstGeom prst="rect">
            <a:avLst/>
          </a:prstGeom>
          <a:noFill/>
          <a:ln/>
        </p:spPr>
        <p:txBody>
          <a:bodyPr wrap="square" rtlCol="0" anchor="ctr"/>
          <a:lstStyle/>
          <a:p>
            <a:pPr marL="0" indent="0">
              <a:buNone/>
            </a:pPr>
            <a:r>
              <a:rPr lang="en-US" sz="1600" b="1" dirty="0">
                <a:solidFill>
                  <a:srgbClr val="0B2545"/>
                </a:solidFill>
                <a:latin typeface="Cambria" pitchFamily="34" charset="0"/>
                <a:ea typeface="Cambria" pitchFamily="34" charset="-122"/>
                <a:cs typeface="Cambria" pitchFamily="34" charset="-120"/>
              </a:rPr>
              <a:t>Calculation Approach</a:t>
            </a:r>
            <a:endParaRPr lang="en-US" sz="1600" dirty="0"/>
          </a:p>
        </p:txBody>
      </p:sp>
      <p:sp>
        <p:nvSpPr>
          <p:cNvPr id="8" name="Text 5"/>
          <p:cNvSpPr txBox="1"/>
          <p:nvPr/>
        </p:nvSpPr>
        <p:spPr>
          <a:xfrm>
            <a:off x="822960" y="2606040"/>
            <a:ext cx="4800600" cy="3017520"/>
          </a:xfrm>
          <a:prstGeom prst="rect">
            <a:avLst/>
          </a:prstGeom>
          <a:noFill/>
          <a:ln/>
        </p:spPr>
        <p:txBody>
          <a:bodyPr wrap="square" rtlCol="0" anchor="t"/>
          <a:lstStyle/>
          <a:p>
            <a:pPr marL="228600" indent="-228600">
              <a:lnSpc>
                <a:spcPct val="115000"/>
              </a:lnSpc>
              <a:spcAft>
                <a:spcPts val="1400"/>
              </a:spcAft>
              <a:buSzPct val="100000"/>
              <a:buChar char="●"/>
            </a:pPr>
            <a:r>
              <a:rPr lang="en-US" sz="1200" dirty="0">
                <a:solidFill>
                  <a:srgbClr val="0B2545"/>
                </a:solidFill>
                <a:latin typeface="Calibri" pitchFamily="34" charset="0"/>
                <a:ea typeface="Calibri" pitchFamily="34" charset="-122"/>
                <a:cs typeface="Calibri" pitchFamily="34" charset="-120"/>
              </a:rPr>
              <a:t>Totals and averages computed by looping through the list, accumulating values in running variables (total_consumption, total_electricity_cost).</a:t>
            </a:r>
            <a:endParaRPr lang="en-US" sz="1200" dirty="0"/>
          </a:p>
          <a:p>
            <a:pPr marL="228600" indent="-228600">
              <a:lnSpc>
                <a:spcPct val="115000"/>
              </a:lnSpc>
              <a:spcAft>
                <a:spcPts val="1400"/>
              </a:spcAft>
              <a:buSzPct val="100000"/>
              <a:buChar char="●"/>
            </a:pPr>
            <a:r>
              <a:rPr lang="en-US" sz="1200" dirty="0">
                <a:solidFill>
                  <a:srgbClr val="0B2545"/>
                </a:solidFill>
                <a:latin typeface="Calibri" pitchFamily="34" charset="0"/>
                <a:ea typeface="Calibri" pitchFamily="34" charset="-122"/>
                <a:cs typeface="Calibri" pitchFamily="34" charset="-120"/>
              </a:rPr>
              <a:t>Extremes (highest / lowest consumer) found by initializing a reference record, then comparing each subsequent record against it with if statements.</a:t>
            </a:r>
            <a:endParaRPr lang="en-US" sz="1200" dirty="0"/>
          </a:p>
        </p:txBody>
      </p:sp>
      <p:sp>
        <p:nvSpPr>
          <p:cNvPr id="9" name="Shape 6"/>
          <p:cNvSpPr/>
          <p:nvPr/>
        </p:nvSpPr>
        <p:spPr>
          <a:xfrm>
            <a:off x="6263640" y="1600200"/>
            <a:ext cx="5349240" cy="4206240"/>
          </a:xfrm>
          <a:prstGeom prst="roundRect">
            <a:avLst>
              <a:gd name="adj" fmla="val 1739"/>
            </a:avLst>
          </a:prstGeom>
          <a:solidFill>
            <a:srgbClr val="F7F9FC"/>
          </a:solidFill>
          <a:ln w="12700">
            <a:solidFill>
              <a:srgbClr val="E2E8F0"/>
            </a:solidFill>
            <a:prstDash val="solid"/>
          </a:ln>
        </p:spPr>
      </p:sp>
      <p:sp>
        <p:nvSpPr>
          <p:cNvPr id="10" name="Shape 7"/>
          <p:cNvSpPr/>
          <p:nvPr/>
        </p:nvSpPr>
        <p:spPr>
          <a:xfrm>
            <a:off x="6537960" y="1874520"/>
            <a:ext cx="548640" cy="548640"/>
          </a:xfrm>
          <a:prstGeom prst="ellipse">
            <a:avLst/>
          </a:prstGeom>
          <a:solidFill>
            <a:srgbClr val="0B2545"/>
          </a:solidFill>
          <a:ln/>
        </p:spPr>
      </p:sp>
      <p:pic>
        <p:nvPicPr>
          <p:cNvPr id="11" name="Image 1" descr="icons/network_FFFFFF.png"/>
          <p:cNvPicPr>
            <a:picLocks noChangeAspect="1"/>
          </p:cNvPicPr>
          <p:nvPr/>
        </p:nvPicPr>
        <p:blipFill>
          <a:blip r:embed="rId4"/>
          <a:stretch>
            <a:fillRect/>
          </a:stretch>
        </p:blipFill>
        <p:spPr>
          <a:xfrm>
            <a:off x="6680606" y="2017166"/>
            <a:ext cx="263347" cy="263347"/>
          </a:xfrm>
          <a:prstGeom prst="rect">
            <a:avLst/>
          </a:prstGeom>
        </p:spPr>
      </p:pic>
      <p:sp>
        <p:nvSpPr>
          <p:cNvPr id="12" name="Text 8"/>
          <p:cNvSpPr txBox="1"/>
          <p:nvPr/>
        </p:nvSpPr>
        <p:spPr>
          <a:xfrm>
            <a:off x="7223760" y="1920240"/>
            <a:ext cx="4206240" cy="457200"/>
          </a:xfrm>
          <a:prstGeom prst="rect">
            <a:avLst/>
          </a:prstGeom>
          <a:noFill/>
          <a:ln/>
        </p:spPr>
        <p:txBody>
          <a:bodyPr wrap="square" rtlCol="0" anchor="ctr"/>
          <a:lstStyle/>
          <a:p>
            <a:pPr marL="0" indent="0">
              <a:buNone/>
            </a:pPr>
            <a:r>
              <a:rPr lang="en-US" sz="1600" b="1" dirty="0">
                <a:solidFill>
                  <a:srgbClr val="0B2545"/>
                </a:solidFill>
                <a:latin typeface="Cambria" pitchFamily="34" charset="0"/>
                <a:ea typeface="Cambria" pitchFamily="34" charset="-122"/>
                <a:cs typeface="Cambria" pitchFamily="34" charset="-120"/>
              </a:rPr>
              <a:t>Grouping Approach</a:t>
            </a:r>
            <a:endParaRPr lang="en-US" sz="1600" dirty="0"/>
          </a:p>
        </p:txBody>
      </p:sp>
      <p:sp>
        <p:nvSpPr>
          <p:cNvPr id="13" name="Text 9"/>
          <p:cNvSpPr txBox="1"/>
          <p:nvPr/>
        </p:nvSpPr>
        <p:spPr>
          <a:xfrm>
            <a:off x="6537960" y="2606040"/>
            <a:ext cx="4800600" cy="3017520"/>
          </a:xfrm>
          <a:prstGeom prst="rect">
            <a:avLst/>
          </a:prstGeom>
          <a:noFill/>
          <a:ln/>
        </p:spPr>
        <p:txBody>
          <a:bodyPr wrap="square" rtlCol="0" anchor="t"/>
          <a:lstStyle/>
          <a:p>
            <a:pPr marL="228600" indent="-228600">
              <a:lnSpc>
                <a:spcPct val="115000"/>
              </a:lnSpc>
              <a:spcAft>
                <a:spcPts val="1400"/>
              </a:spcAft>
              <a:buSzPct val="100000"/>
              <a:buChar char="●"/>
            </a:pPr>
            <a:r>
              <a:rPr lang="en-US" sz="1200" dirty="0">
                <a:solidFill>
                  <a:srgbClr val="0B2545"/>
                </a:solidFill>
                <a:latin typeface="Calibri" pitchFamily="34" charset="0"/>
                <a:ea typeface="Calibri" pitchFamily="34" charset="-122"/>
                <a:cs typeface="Calibri" pitchFamily="34" charset="-120"/>
              </a:rPr>
              <a:t>For location, customer type, and month, a dictionary was pre-populated with each category as a key (e.g. "Lagos": 0, "Abuja": 0).</a:t>
            </a:r>
            <a:endParaRPr lang="en-US" sz="1200" dirty="0"/>
          </a:p>
          <a:p>
            <a:pPr marL="228600" indent="-228600">
              <a:lnSpc>
                <a:spcPct val="115000"/>
              </a:lnSpc>
              <a:spcAft>
                <a:spcPts val="1400"/>
              </a:spcAft>
              <a:buSzPct val="100000"/>
              <a:buChar char="●"/>
            </a:pPr>
            <a:r>
              <a:rPr lang="en-US" sz="1200" dirty="0">
                <a:solidFill>
                  <a:srgbClr val="0B2545"/>
                </a:solidFill>
                <a:latin typeface="Calibri" pitchFamily="34" charset="0"/>
                <a:ea typeface="Calibri" pitchFamily="34" charset="-122"/>
                <a:cs typeface="Calibri" pitchFamily="34" charset="-120"/>
              </a:rPr>
              <a:t>Each customer's consumption was then added to the matching key inside a loop — a consistent group → accumulate → compare pattern across all three breakdowns.</a:t>
            </a:r>
            <a:endParaRPr lang="en-US" sz="1200" dirty="0"/>
          </a:p>
        </p:txBody>
      </p:sp>
      <p:sp>
        <p:nvSpPr>
          <p:cNvPr id="14" name="Text 10"/>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15" name="Text 11"/>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METHODOLOGY,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Classification, Functions &amp; Menu System</a:t>
            </a:r>
            <a:endParaRPr lang="en-US" sz="3000" dirty="0"/>
          </a:p>
        </p:txBody>
      </p:sp>
      <p:sp>
        <p:nvSpPr>
          <p:cNvPr id="4" name="Shape 2"/>
          <p:cNvSpPr/>
          <p:nvPr/>
        </p:nvSpPr>
        <p:spPr>
          <a:xfrm>
            <a:off x="548640" y="1600200"/>
            <a:ext cx="5349240" cy="4206240"/>
          </a:xfrm>
          <a:prstGeom prst="roundRect">
            <a:avLst>
              <a:gd name="adj" fmla="val 1739"/>
            </a:avLst>
          </a:prstGeom>
          <a:solidFill>
            <a:srgbClr val="F7F9FC"/>
          </a:solidFill>
          <a:ln w="12700">
            <a:solidFill>
              <a:srgbClr val="E2E8F0"/>
            </a:solidFill>
            <a:prstDash val="solid"/>
          </a:ln>
        </p:spPr>
      </p:sp>
      <p:sp>
        <p:nvSpPr>
          <p:cNvPr id="5" name="Shape 3"/>
          <p:cNvSpPr/>
          <p:nvPr/>
        </p:nvSpPr>
        <p:spPr>
          <a:xfrm>
            <a:off x="822960" y="1874520"/>
            <a:ext cx="548640" cy="548640"/>
          </a:xfrm>
          <a:prstGeom prst="ellipse">
            <a:avLst/>
          </a:prstGeom>
          <a:solidFill>
            <a:srgbClr val="0B2545"/>
          </a:solidFill>
          <a:ln/>
        </p:spPr>
      </p:sp>
      <p:pic>
        <p:nvPicPr>
          <p:cNvPr id="6" name="Image 0" descr="icons/target_FFFFFF.png"/>
          <p:cNvPicPr>
            <a:picLocks noChangeAspect="1"/>
          </p:cNvPicPr>
          <p:nvPr/>
        </p:nvPicPr>
        <p:blipFill>
          <a:blip r:embed="rId3"/>
          <a:stretch>
            <a:fillRect/>
          </a:stretch>
        </p:blipFill>
        <p:spPr>
          <a:xfrm>
            <a:off x="965606" y="2017166"/>
            <a:ext cx="263347" cy="263347"/>
          </a:xfrm>
          <a:prstGeom prst="rect">
            <a:avLst/>
          </a:prstGeom>
        </p:spPr>
      </p:pic>
      <p:sp>
        <p:nvSpPr>
          <p:cNvPr id="7" name="Text 4"/>
          <p:cNvSpPr txBox="1"/>
          <p:nvPr/>
        </p:nvSpPr>
        <p:spPr>
          <a:xfrm>
            <a:off x="1508760" y="1920240"/>
            <a:ext cx="4206240" cy="457200"/>
          </a:xfrm>
          <a:prstGeom prst="rect">
            <a:avLst/>
          </a:prstGeom>
          <a:noFill/>
          <a:ln/>
        </p:spPr>
        <p:txBody>
          <a:bodyPr wrap="square" rtlCol="0" anchor="ctr"/>
          <a:lstStyle/>
          <a:p>
            <a:pPr marL="0" indent="0">
              <a:buNone/>
            </a:pPr>
            <a:r>
              <a:rPr lang="en-US" sz="1600" b="1" dirty="0">
                <a:solidFill>
                  <a:srgbClr val="0B2545"/>
                </a:solidFill>
                <a:latin typeface="Cambria" pitchFamily="34" charset="0"/>
                <a:ea typeface="Cambria" pitchFamily="34" charset="-122"/>
                <a:cs typeface="Cambria" pitchFamily="34" charset="-120"/>
              </a:rPr>
              <a:t>Classification &amp; Flagging</a:t>
            </a:r>
            <a:endParaRPr lang="en-US" sz="1600" dirty="0"/>
          </a:p>
        </p:txBody>
      </p:sp>
      <p:sp>
        <p:nvSpPr>
          <p:cNvPr id="8" name="Text 5"/>
          <p:cNvSpPr txBox="1"/>
          <p:nvPr/>
        </p:nvSpPr>
        <p:spPr>
          <a:xfrm>
            <a:off x="822960" y="2606040"/>
            <a:ext cx="4800600" cy="3017520"/>
          </a:xfrm>
          <a:prstGeom prst="rect">
            <a:avLst/>
          </a:prstGeom>
          <a:noFill/>
          <a:ln/>
        </p:spPr>
        <p:txBody>
          <a:bodyPr wrap="square" rtlCol="0" anchor="t"/>
          <a:lstStyle/>
          <a:p>
            <a:pPr marL="228600" indent="-228600">
              <a:lnSpc>
                <a:spcPct val="115000"/>
              </a:lnSpc>
              <a:spcAft>
                <a:spcPts val="1400"/>
              </a:spcAft>
              <a:buSzPct val="100000"/>
              <a:buChar char="●"/>
            </a:pPr>
            <a:r>
              <a:rPr lang="en-US" sz="1200" dirty="0">
                <a:solidFill>
                  <a:srgbClr val="0B2545"/>
                </a:solidFill>
                <a:latin typeface="Calibri" pitchFamily="34" charset="0"/>
                <a:ea typeface="Calibri" pitchFamily="34" charset="-122"/>
                <a:cs typeface="Calibri" pitchFamily="34" charset="-120"/>
              </a:rPr>
              <a:t>Consumption classified as Low (&lt; 500 kWh), Medium (500–999 kWh), or High (≥ 1,000 kWh) using if / elif / else.</a:t>
            </a:r>
            <a:endParaRPr lang="en-US" sz="1200" dirty="0"/>
          </a:p>
          <a:p>
            <a:pPr marL="228600" indent="-228600">
              <a:lnSpc>
                <a:spcPct val="115000"/>
              </a:lnSpc>
              <a:spcAft>
                <a:spcPts val="1400"/>
              </a:spcAft>
              <a:buSzPct val="100000"/>
              <a:buChar char="●"/>
            </a:pPr>
            <a:r>
              <a:rPr lang="en-US" sz="1200" dirty="0">
                <a:solidFill>
                  <a:srgbClr val="0B2545"/>
                </a:solidFill>
                <a:latin typeface="Calibri" pitchFamily="34" charset="0"/>
                <a:ea typeface="Calibri" pitchFamily="34" charset="-122"/>
                <a:cs typeface="Calibri" pitchFamily="34" charset="-120"/>
              </a:rPr>
              <a:t>A High-Attention flag combined two conditions with and: consumption ≥ 1,000 kWh and renewable share below 15%.</a:t>
            </a:r>
            <a:endParaRPr lang="en-US" sz="1200" dirty="0"/>
          </a:p>
        </p:txBody>
      </p:sp>
      <p:sp>
        <p:nvSpPr>
          <p:cNvPr id="9" name="Shape 6"/>
          <p:cNvSpPr/>
          <p:nvPr/>
        </p:nvSpPr>
        <p:spPr>
          <a:xfrm>
            <a:off x="6263640" y="1600200"/>
            <a:ext cx="5349240" cy="4206240"/>
          </a:xfrm>
          <a:prstGeom prst="roundRect">
            <a:avLst>
              <a:gd name="adj" fmla="val 1739"/>
            </a:avLst>
          </a:prstGeom>
          <a:solidFill>
            <a:srgbClr val="F7F9FC"/>
          </a:solidFill>
          <a:ln w="12700">
            <a:solidFill>
              <a:srgbClr val="E2E8F0"/>
            </a:solidFill>
            <a:prstDash val="solid"/>
          </a:ln>
        </p:spPr>
      </p:sp>
      <p:sp>
        <p:nvSpPr>
          <p:cNvPr id="10" name="Shape 7"/>
          <p:cNvSpPr/>
          <p:nvPr/>
        </p:nvSpPr>
        <p:spPr>
          <a:xfrm>
            <a:off x="6537960" y="1874520"/>
            <a:ext cx="548640" cy="548640"/>
          </a:xfrm>
          <a:prstGeom prst="ellipse">
            <a:avLst/>
          </a:prstGeom>
          <a:solidFill>
            <a:srgbClr val="0B2545"/>
          </a:solidFill>
          <a:ln/>
        </p:spPr>
      </p:sp>
      <p:pic>
        <p:nvPicPr>
          <p:cNvPr id="11" name="Image 1" descr="icons/cogs_FFFFFF.png"/>
          <p:cNvPicPr>
            <a:picLocks noChangeAspect="1"/>
          </p:cNvPicPr>
          <p:nvPr/>
        </p:nvPicPr>
        <p:blipFill>
          <a:blip r:embed="rId4"/>
          <a:stretch>
            <a:fillRect/>
          </a:stretch>
        </p:blipFill>
        <p:spPr>
          <a:xfrm>
            <a:off x="6680606" y="2017166"/>
            <a:ext cx="263347" cy="263347"/>
          </a:xfrm>
          <a:prstGeom prst="rect">
            <a:avLst/>
          </a:prstGeom>
        </p:spPr>
      </p:pic>
      <p:sp>
        <p:nvSpPr>
          <p:cNvPr id="12" name="Text 8"/>
          <p:cNvSpPr txBox="1"/>
          <p:nvPr/>
        </p:nvSpPr>
        <p:spPr>
          <a:xfrm>
            <a:off x="7223760" y="1920240"/>
            <a:ext cx="4206240" cy="457200"/>
          </a:xfrm>
          <a:prstGeom prst="rect">
            <a:avLst/>
          </a:prstGeom>
          <a:noFill/>
          <a:ln/>
        </p:spPr>
        <p:txBody>
          <a:bodyPr wrap="square" rtlCol="0" anchor="ctr"/>
          <a:lstStyle/>
          <a:p>
            <a:pPr marL="0" indent="0">
              <a:buNone/>
            </a:pPr>
            <a:r>
              <a:rPr lang="en-US" sz="1600" b="1" dirty="0">
                <a:solidFill>
                  <a:srgbClr val="0B2545"/>
                </a:solidFill>
                <a:latin typeface="Cambria" pitchFamily="34" charset="0"/>
                <a:ea typeface="Cambria" pitchFamily="34" charset="-122"/>
                <a:cs typeface="Cambria" pitchFamily="34" charset="-120"/>
              </a:rPr>
              <a:t>Functions &amp; Menu</a:t>
            </a:r>
            <a:endParaRPr lang="en-US" sz="1600" dirty="0"/>
          </a:p>
        </p:txBody>
      </p:sp>
      <p:sp>
        <p:nvSpPr>
          <p:cNvPr id="13" name="Text 9"/>
          <p:cNvSpPr txBox="1"/>
          <p:nvPr/>
        </p:nvSpPr>
        <p:spPr>
          <a:xfrm>
            <a:off x="6537960" y="2606040"/>
            <a:ext cx="4800600" cy="3017520"/>
          </a:xfrm>
          <a:prstGeom prst="rect">
            <a:avLst/>
          </a:prstGeom>
          <a:noFill/>
          <a:ln/>
        </p:spPr>
        <p:txBody>
          <a:bodyPr wrap="square" rtlCol="0" anchor="t"/>
          <a:lstStyle/>
          <a:p>
            <a:pPr marL="228600" indent="-228600">
              <a:lnSpc>
                <a:spcPct val="115000"/>
              </a:lnSpc>
              <a:spcAft>
                <a:spcPts val="1400"/>
              </a:spcAft>
              <a:buSzPct val="100000"/>
              <a:buChar char="●"/>
            </a:pPr>
            <a:r>
              <a:rPr lang="en-US" sz="1200" dirty="0">
                <a:solidFill>
                  <a:srgbClr val="0B2545"/>
                </a:solidFill>
                <a:latin typeface="Calibri" pitchFamily="34" charset="0"/>
                <a:ea typeface="Calibri" pitchFamily="34" charset="-122"/>
                <a:cs typeface="Calibri" pitchFamily="34" charset="-120"/>
              </a:rPr>
              <a:t>Major operations converted into reusable functions, then wired into a numbered menu system.</a:t>
            </a:r>
            <a:endParaRPr lang="en-US" sz="1200" dirty="0"/>
          </a:p>
          <a:p>
            <a:pPr marL="228600" indent="-228600">
              <a:lnSpc>
                <a:spcPct val="115000"/>
              </a:lnSpc>
              <a:spcAft>
                <a:spcPts val="1400"/>
              </a:spcAft>
              <a:buSzPct val="100000"/>
              <a:buChar char="●"/>
            </a:pPr>
            <a:r>
              <a:rPr lang="en-US" sz="1200" dirty="0">
                <a:solidFill>
                  <a:srgbClr val="0B2545"/>
                </a:solidFill>
                <a:latin typeface="Calibri" pitchFamily="34" charset="0"/>
                <a:ea typeface="Calibri" pitchFamily="34" charset="-122"/>
                <a:cs typeface="Calibri" pitchFamily="34" charset="-120"/>
              </a:rPr>
              <a:t>A while loop keeps the system running until Exit is selected; a nested while loop handles combined location + customer-type selection.</a:t>
            </a:r>
            <a:endParaRPr lang="en-US" sz="1200" dirty="0"/>
          </a:p>
        </p:txBody>
      </p:sp>
      <p:sp>
        <p:nvSpPr>
          <p:cNvPr id="14" name="Text 10"/>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15" name="Text 11"/>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Analysis &amp; Discussion</a:t>
            </a:r>
            <a:endParaRPr lang="en-US" sz="3000" dirty="0"/>
          </a:p>
        </p:txBody>
      </p:sp>
      <p:sp>
        <p:nvSpPr>
          <p:cNvPr id="5" name="Text 3"/>
          <p:cNvSpPr txBox="1"/>
          <p:nvPr/>
        </p:nvSpPr>
        <p:spPr>
          <a:xfrm>
            <a:off x="548640" y="1371600"/>
            <a:ext cx="10607040" cy="365760"/>
          </a:xfrm>
          <a:prstGeom prst="rect">
            <a:avLst/>
          </a:prstGeom>
          <a:noFill/>
          <a:ln/>
        </p:spPr>
        <p:txBody>
          <a:bodyPr wrap="square" rtlCol="0" anchor="ctr"/>
          <a:lstStyle/>
          <a:p>
            <a:pPr marL="0" indent="0">
              <a:buNone/>
            </a:pPr>
            <a:r>
              <a:rPr lang="en-US" sz="1400" b="1" dirty="0">
                <a:solidFill>
                  <a:srgbClr val="5A6B7B"/>
                </a:solidFill>
                <a:latin typeface="Calibri" pitchFamily="34" charset="0"/>
                <a:ea typeface="Calibri" pitchFamily="34" charset="-122"/>
                <a:cs typeface="Calibri" pitchFamily="34" charset="-120"/>
              </a:rPr>
              <a:t>Total &amp; Average Consumption  •  Highest &amp; Lowest Consumers</a:t>
            </a:r>
            <a:endParaRPr lang="en-US" sz="1400" dirty="0"/>
          </a:p>
        </p:txBody>
      </p:sp>
      <p:sp>
        <p:nvSpPr>
          <p:cNvPr id="6" name="Shape 4"/>
          <p:cNvSpPr/>
          <p:nvPr/>
        </p:nvSpPr>
        <p:spPr>
          <a:xfrm>
            <a:off x="548640" y="1920240"/>
            <a:ext cx="2606040" cy="1737360"/>
          </a:xfrm>
          <a:prstGeom prst="roundRect">
            <a:avLst>
              <a:gd name="adj" fmla="val 4211"/>
            </a:avLst>
          </a:prstGeom>
          <a:solidFill>
            <a:srgbClr val="F7F9FC"/>
          </a:solidFill>
          <a:ln w="12700">
            <a:solidFill>
              <a:srgbClr val="E2E8F0"/>
            </a:solidFill>
            <a:prstDash val="solid"/>
          </a:ln>
        </p:spPr>
      </p:sp>
      <p:sp>
        <p:nvSpPr>
          <p:cNvPr id="7" name="Text 5"/>
          <p:cNvSpPr txBox="1"/>
          <p:nvPr/>
        </p:nvSpPr>
        <p:spPr>
          <a:xfrm>
            <a:off x="685800" y="2084832"/>
            <a:ext cx="2331720" cy="1051560"/>
          </a:xfrm>
          <a:prstGeom prst="rect">
            <a:avLst/>
          </a:prstGeom>
          <a:noFill/>
          <a:ln/>
        </p:spPr>
        <p:txBody>
          <a:bodyPr wrap="square" rtlCol="0" anchor="b"/>
          <a:lstStyle/>
          <a:p>
            <a:pPr marL="0" indent="0" algn="ctr">
              <a:buNone/>
            </a:pPr>
            <a:r>
              <a:rPr lang="en-US" sz="3000" b="1" dirty="0">
                <a:solidFill>
                  <a:srgbClr val="0B2545"/>
                </a:solidFill>
                <a:latin typeface="Cambria" pitchFamily="34" charset="0"/>
                <a:ea typeface="Cambria" pitchFamily="34" charset="-122"/>
                <a:cs typeface="Cambria" pitchFamily="34" charset="-120"/>
              </a:rPr>
              <a:t>24,240</a:t>
            </a:r>
            <a:endParaRPr lang="en-US" sz="3000" dirty="0"/>
          </a:p>
        </p:txBody>
      </p:sp>
      <p:sp>
        <p:nvSpPr>
          <p:cNvPr id="8" name="Text 6"/>
          <p:cNvSpPr txBox="1"/>
          <p:nvPr/>
        </p:nvSpPr>
        <p:spPr>
          <a:xfrm>
            <a:off x="685800" y="3154680"/>
            <a:ext cx="23317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Total consumption (kWh)</a:t>
            </a:r>
            <a:endParaRPr lang="en-US" sz="1100" dirty="0"/>
          </a:p>
        </p:txBody>
      </p:sp>
      <p:sp>
        <p:nvSpPr>
          <p:cNvPr id="9" name="Shape 7"/>
          <p:cNvSpPr/>
          <p:nvPr/>
        </p:nvSpPr>
        <p:spPr>
          <a:xfrm>
            <a:off x="3291840" y="1920240"/>
            <a:ext cx="2606040" cy="1737360"/>
          </a:xfrm>
          <a:prstGeom prst="roundRect">
            <a:avLst>
              <a:gd name="adj" fmla="val 4211"/>
            </a:avLst>
          </a:prstGeom>
          <a:solidFill>
            <a:srgbClr val="F7F9FC"/>
          </a:solidFill>
          <a:ln w="12700">
            <a:solidFill>
              <a:srgbClr val="E2E8F0"/>
            </a:solidFill>
            <a:prstDash val="solid"/>
          </a:ln>
        </p:spPr>
      </p:sp>
      <p:sp>
        <p:nvSpPr>
          <p:cNvPr id="10" name="Text 8"/>
          <p:cNvSpPr txBox="1"/>
          <p:nvPr/>
        </p:nvSpPr>
        <p:spPr>
          <a:xfrm>
            <a:off x="3429000" y="2084832"/>
            <a:ext cx="2331720" cy="1051560"/>
          </a:xfrm>
          <a:prstGeom prst="rect">
            <a:avLst/>
          </a:prstGeom>
          <a:noFill/>
          <a:ln/>
        </p:spPr>
        <p:txBody>
          <a:bodyPr wrap="square" rtlCol="0" anchor="b"/>
          <a:lstStyle/>
          <a:p>
            <a:pPr marL="0" indent="0" algn="ctr">
              <a:buNone/>
            </a:pPr>
            <a:r>
              <a:rPr lang="en-US" sz="3000" b="1" dirty="0">
                <a:solidFill>
                  <a:srgbClr val="0B2545"/>
                </a:solidFill>
                <a:latin typeface="Cambria" pitchFamily="34" charset="0"/>
                <a:ea typeface="Cambria" pitchFamily="34" charset="-122"/>
                <a:cs typeface="Cambria" pitchFamily="34" charset="-120"/>
              </a:rPr>
              <a:t>1,212</a:t>
            </a:r>
            <a:endParaRPr lang="en-US" sz="3000" dirty="0"/>
          </a:p>
        </p:txBody>
      </p:sp>
      <p:sp>
        <p:nvSpPr>
          <p:cNvPr id="11" name="Text 9"/>
          <p:cNvSpPr txBox="1"/>
          <p:nvPr/>
        </p:nvSpPr>
        <p:spPr>
          <a:xfrm>
            <a:off x="3429000" y="3154680"/>
            <a:ext cx="23317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Average consumption per customer (kWh)</a:t>
            </a:r>
            <a:endParaRPr lang="en-US" sz="1100" dirty="0"/>
          </a:p>
        </p:txBody>
      </p:sp>
      <p:sp>
        <p:nvSpPr>
          <p:cNvPr id="12" name="Shape 10"/>
          <p:cNvSpPr/>
          <p:nvPr/>
        </p:nvSpPr>
        <p:spPr>
          <a:xfrm>
            <a:off x="6035040" y="1920240"/>
            <a:ext cx="2606040" cy="1737360"/>
          </a:xfrm>
          <a:prstGeom prst="roundRect">
            <a:avLst>
              <a:gd name="adj" fmla="val 4211"/>
            </a:avLst>
          </a:prstGeom>
          <a:solidFill>
            <a:srgbClr val="F7F9FC"/>
          </a:solidFill>
          <a:ln w="12700">
            <a:solidFill>
              <a:srgbClr val="E2E8F0"/>
            </a:solidFill>
            <a:prstDash val="solid"/>
          </a:ln>
        </p:spPr>
      </p:sp>
      <p:sp>
        <p:nvSpPr>
          <p:cNvPr id="13" name="Text 11"/>
          <p:cNvSpPr txBox="1"/>
          <p:nvPr/>
        </p:nvSpPr>
        <p:spPr>
          <a:xfrm>
            <a:off x="6172200" y="2084832"/>
            <a:ext cx="2331720" cy="1051560"/>
          </a:xfrm>
          <a:prstGeom prst="rect">
            <a:avLst/>
          </a:prstGeom>
          <a:noFill/>
          <a:ln/>
        </p:spPr>
        <p:txBody>
          <a:bodyPr wrap="square" rtlCol="0" anchor="b"/>
          <a:lstStyle/>
          <a:p>
            <a:pPr marL="0" indent="0" algn="ctr">
              <a:buNone/>
            </a:pPr>
            <a:r>
              <a:rPr lang="en-US" sz="3000" b="1" dirty="0">
                <a:solidFill>
                  <a:srgbClr val="F4A300"/>
                </a:solidFill>
                <a:latin typeface="Cambria" pitchFamily="34" charset="0"/>
                <a:ea typeface="Cambria" pitchFamily="34" charset="-122"/>
                <a:cs typeface="Cambria" pitchFamily="34" charset="-120"/>
              </a:rPr>
              <a:t>3,600</a:t>
            </a:r>
            <a:endParaRPr lang="en-US" sz="3000" dirty="0"/>
          </a:p>
        </p:txBody>
      </p:sp>
      <p:sp>
        <p:nvSpPr>
          <p:cNvPr id="14" name="Text 12"/>
          <p:cNvSpPr txBox="1"/>
          <p:nvPr/>
        </p:nvSpPr>
        <p:spPr>
          <a:xfrm>
            <a:off x="6172200" y="3154680"/>
            <a:ext cx="23317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Highest — Industrial Works Ltd (kWh)</a:t>
            </a:r>
            <a:endParaRPr lang="en-US" sz="1100" dirty="0"/>
          </a:p>
        </p:txBody>
      </p:sp>
      <p:sp>
        <p:nvSpPr>
          <p:cNvPr id="15" name="Shape 13"/>
          <p:cNvSpPr/>
          <p:nvPr/>
        </p:nvSpPr>
        <p:spPr>
          <a:xfrm>
            <a:off x="8778240" y="1920240"/>
            <a:ext cx="2606040" cy="1737360"/>
          </a:xfrm>
          <a:prstGeom prst="roundRect">
            <a:avLst>
              <a:gd name="adj" fmla="val 4211"/>
            </a:avLst>
          </a:prstGeom>
          <a:solidFill>
            <a:srgbClr val="F7F9FC"/>
          </a:solidFill>
          <a:ln w="12700">
            <a:solidFill>
              <a:srgbClr val="E2E8F0"/>
            </a:solidFill>
            <a:prstDash val="solid"/>
          </a:ln>
        </p:spPr>
      </p:sp>
      <p:sp>
        <p:nvSpPr>
          <p:cNvPr id="16" name="Text 14"/>
          <p:cNvSpPr txBox="1"/>
          <p:nvPr/>
        </p:nvSpPr>
        <p:spPr>
          <a:xfrm>
            <a:off x="8915400" y="2084832"/>
            <a:ext cx="2331720" cy="1051560"/>
          </a:xfrm>
          <a:prstGeom prst="rect">
            <a:avLst/>
          </a:prstGeom>
          <a:noFill/>
          <a:ln/>
        </p:spPr>
        <p:txBody>
          <a:bodyPr wrap="square" rtlCol="0" anchor="b"/>
          <a:lstStyle/>
          <a:p>
            <a:pPr marL="0" indent="0" algn="ctr">
              <a:buNone/>
            </a:pPr>
            <a:r>
              <a:rPr lang="en-US" sz="3000" b="1" dirty="0">
                <a:solidFill>
                  <a:srgbClr val="2E8B57"/>
                </a:solidFill>
                <a:latin typeface="Cambria" pitchFamily="34" charset="0"/>
                <a:ea typeface="Cambria" pitchFamily="34" charset="-122"/>
                <a:cs typeface="Cambria" pitchFamily="34" charset="-120"/>
              </a:rPr>
              <a:t>190</a:t>
            </a:r>
            <a:endParaRPr lang="en-US" sz="3000" dirty="0"/>
          </a:p>
        </p:txBody>
      </p:sp>
      <p:sp>
        <p:nvSpPr>
          <p:cNvPr id="17" name="Text 15"/>
          <p:cNvSpPr txBox="1"/>
          <p:nvPr/>
        </p:nvSpPr>
        <p:spPr>
          <a:xfrm>
            <a:off x="8915400" y="3154680"/>
            <a:ext cx="23317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Lowest — Hope Residence (kWh)</a:t>
            </a:r>
            <a:endParaRPr lang="en-US" sz="1100" dirty="0"/>
          </a:p>
        </p:txBody>
      </p:sp>
      <p:sp>
        <p:nvSpPr>
          <p:cNvPr id="18" name="Shape 16"/>
          <p:cNvSpPr/>
          <p:nvPr/>
        </p:nvSpPr>
        <p:spPr>
          <a:xfrm>
            <a:off x="548640" y="3977640"/>
            <a:ext cx="10835640" cy="1737360"/>
          </a:xfrm>
          <a:prstGeom prst="roundRect">
            <a:avLst>
              <a:gd name="adj" fmla="val 4211"/>
            </a:avLst>
          </a:prstGeom>
          <a:solidFill>
            <a:srgbClr val="F7F9FC"/>
          </a:solidFill>
          <a:ln w="12700">
            <a:solidFill>
              <a:srgbClr val="E2E8F0"/>
            </a:solidFill>
            <a:prstDash val="solid"/>
          </a:ln>
        </p:spPr>
      </p:sp>
      <p:sp>
        <p:nvSpPr>
          <p:cNvPr id="19" name="Text 17"/>
          <p:cNvSpPr txBox="1"/>
          <p:nvPr/>
        </p:nvSpPr>
        <p:spPr>
          <a:xfrm>
            <a:off x="822960" y="4114800"/>
            <a:ext cx="10287000" cy="1463040"/>
          </a:xfrm>
          <a:prstGeom prst="rect">
            <a:avLst/>
          </a:prstGeom>
          <a:noFill/>
          <a:ln/>
        </p:spPr>
        <p:txBody>
          <a:bodyPr wrap="square" rtlCol="0" anchor="ctr"/>
          <a:lstStyle/>
          <a:p>
            <a:pPr marL="0" indent="0">
              <a:lnSpc>
                <a:spcPct val="125000"/>
              </a:lnSpc>
              <a:buNone/>
            </a:pPr>
            <a:r>
              <a:rPr lang="en-US" sz="1250" dirty="0">
                <a:solidFill>
                  <a:srgbClr val="0B2545"/>
                </a:solidFill>
                <a:latin typeface="Calibri" pitchFamily="34" charset="0"/>
                <a:ea typeface="Calibri" pitchFamily="34" charset="-122"/>
                <a:cs typeface="Calibri" pitchFamily="34" charset="-120"/>
              </a:rPr>
              <a:t>The total represents the combined electricity demand of all customers; the average shows the typical consumption level. Comparing every record identifies the highest and lowest consumers, showing the variation in demand — a basis for further analysis, since high consumers may need greater efficiency attention while low consumers may face different energy-management needs.</a:t>
            </a:r>
            <a:endParaRPr lang="en-US" sz="1250" dirty="0"/>
          </a:p>
        </p:txBody>
      </p:sp>
      <p:sp>
        <p:nvSpPr>
          <p:cNvPr id="20" name="Text 1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1" name="Text 1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ANALYSIS &amp; DISCUSSION,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Electricity Cost Analysis</a:t>
            </a:r>
            <a:endParaRPr lang="en-US" sz="3000" dirty="0"/>
          </a:p>
        </p:txBody>
      </p:sp>
      <p:sp>
        <p:nvSpPr>
          <p:cNvPr id="4" name="Shape 2"/>
          <p:cNvSpPr/>
          <p:nvPr/>
        </p:nvSpPr>
        <p:spPr>
          <a:xfrm>
            <a:off x="822960" y="2103120"/>
            <a:ext cx="1188720" cy="1188720"/>
          </a:xfrm>
          <a:prstGeom prst="ellipse">
            <a:avLst/>
          </a:prstGeom>
          <a:solidFill>
            <a:srgbClr val="F4A300"/>
          </a:solidFill>
          <a:ln/>
        </p:spPr>
      </p:sp>
      <p:pic>
        <p:nvPicPr>
          <p:cNvPr id="5" name="Image 0" descr="icons/money_0B2545.png"/>
          <p:cNvPicPr>
            <a:picLocks noChangeAspect="1"/>
          </p:cNvPicPr>
          <p:nvPr/>
        </p:nvPicPr>
        <p:blipFill>
          <a:blip r:embed="rId3"/>
          <a:stretch>
            <a:fillRect/>
          </a:stretch>
        </p:blipFill>
        <p:spPr>
          <a:xfrm>
            <a:off x="1132027" y="2412187"/>
            <a:ext cx="570586" cy="570586"/>
          </a:xfrm>
          <a:prstGeom prst="rect">
            <a:avLst/>
          </a:prstGeom>
        </p:spPr>
      </p:pic>
      <p:sp>
        <p:nvSpPr>
          <p:cNvPr id="6" name="Text 3"/>
          <p:cNvSpPr txBox="1"/>
          <p:nvPr/>
        </p:nvSpPr>
        <p:spPr>
          <a:xfrm>
            <a:off x="2377440" y="1920240"/>
            <a:ext cx="7315200" cy="9144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NGN 2,920,000</a:t>
            </a:r>
            <a:endParaRPr lang="en-US" sz="4800" dirty="0"/>
          </a:p>
        </p:txBody>
      </p:sp>
      <p:sp>
        <p:nvSpPr>
          <p:cNvPr id="7" name="Text 4"/>
          <p:cNvSpPr txBox="1"/>
          <p:nvPr/>
        </p:nvSpPr>
        <p:spPr>
          <a:xfrm>
            <a:off x="2377440" y="2788920"/>
            <a:ext cx="731520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Total Electricity Cost across all 20 customers</a:t>
            </a:r>
            <a:endParaRPr lang="en-US" sz="1400" dirty="0"/>
          </a:p>
        </p:txBody>
      </p:sp>
      <p:sp>
        <p:nvSpPr>
          <p:cNvPr id="8" name="Shape 5"/>
          <p:cNvSpPr/>
          <p:nvPr/>
        </p:nvSpPr>
        <p:spPr>
          <a:xfrm>
            <a:off x="822960" y="3474720"/>
            <a:ext cx="10149840" cy="0"/>
          </a:xfrm>
          <a:prstGeom prst="line">
            <a:avLst/>
          </a:prstGeom>
          <a:noFill/>
          <a:ln w="12700">
            <a:solidFill>
              <a:srgbClr val="13315C"/>
            </a:solidFill>
            <a:prstDash val="solid"/>
          </a:ln>
        </p:spPr>
      </p:sp>
      <p:sp>
        <p:nvSpPr>
          <p:cNvPr id="9" name="Text 6"/>
          <p:cNvSpPr txBox="1"/>
          <p:nvPr/>
        </p:nvSpPr>
        <p:spPr>
          <a:xfrm>
            <a:off x="822960" y="3749040"/>
            <a:ext cx="9784080" cy="1005840"/>
          </a:xfrm>
          <a:prstGeom prst="rect">
            <a:avLst/>
          </a:prstGeom>
          <a:noFill/>
          <a:ln/>
        </p:spPr>
        <p:txBody>
          <a:bodyPr wrap="square" rtlCol="0" anchor="ctr"/>
          <a:lstStyle/>
          <a:p>
            <a:pPr marL="0" indent="0">
              <a:lnSpc>
                <a:spcPct val="130000"/>
              </a:lnSpc>
              <a:buNone/>
            </a:pPr>
            <a:r>
              <a:rPr lang="en-US" sz="1400" dirty="0">
                <a:solidFill>
                  <a:srgbClr val="CADCFC"/>
                </a:solidFill>
                <a:latin typeface="Calibri" pitchFamily="34" charset="0"/>
                <a:ea typeface="Calibri" pitchFamily="34" charset="-122"/>
                <a:cs typeface="Calibri" pitchFamily="34" charset="-120"/>
              </a:rPr>
              <a:t>Electricity cost was calculated from each customer's consumption value and applicable tariff per kilowatt-hour — giving an additional perspective on energy use, since consumption has a direct financial implication for the customer.</a:t>
            </a:r>
            <a:endParaRPr lang="en-US" sz="1400" dirty="0"/>
          </a:p>
        </p:txBody>
      </p:sp>
      <p:sp>
        <p:nvSpPr>
          <p:cNvPr id="10" name="Text 7"/>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11" name="Text 8"/>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ANALYSIS &amp; DISCUSSION,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Customer Consumption Classification</a:t>
            </a:r>
            <a:endParaRPr lang="en-US" sz="3000" dirty="0"/>
          </a:p>
        </p:txBody>
      </p:sp>
      <p:sp>
        <p:nvSpPr>
          <p:cNvPr id="4" name="Text 2"/>
          <p:cNvSpPr txBox="1"/>
          <p:nvPr/>
        </p:nvSpPr>
        <p:spPr>
          <a:xfrm>
            <a:off x="548640" y="1417320"/>
            <a:ext cx="10881360" cy="502920"/>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Customers below 500 kWh are Low, 500–999 kWh are Medium, and 1,000 kWh or above are High — a simple basis for grouping customers by energy-management need.</a:t>
            </a:r>
            <a:endParaRPr lang="en-US" sz="1250" dirty="0"/>
          </a:p>
        </p:txBody>
      </p:sp>
      <p:graphicFrame>
        <p:nvGraphicFramePr>
          <p:cNvPr id="5" name="Chart 0"/>
          <p:cNvGraphicFramePr/>
          <p:nvPr/>
        </p:nvGraphicFramePr>
        <p:xfrm>
          <a:off x="822960" y="2057400"/>
          <a:ext cx="667512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18120" y="2057400"/>
            <a:ext cx="3566160" cy="4160520"/>
          </a:xfrm>
          <a:prstGeom prst="roundRect">
            <a:avLst>
              <a:gd name="adj" fmla="val 2051"/>
            </a:avLst>
          </a:prstGeom>
          <a:solidFill>
            <a:srgbClr val="F7F9FC"/>
          </a:solidFill>
          <a:ln w="12700">
            <a:solidFill>
              <a:srgbClr val="E2E8F0"/>
            </a:solidFill>
            <a:prstDash val="solid"/>
          </a:ln>
        </p:spPr>
      </p:sp>
      <p:sp>
        <p:nvSpPr>
          <p:cNvPr id="7" name="Text 4"/>
          <p:cNvSpPr txBox="1"/>
          <p:nvPr/>
        </p:nvSpPr>
        <p:spPr>
          <a:xfrm>
            <a:off x="8046720" y="2286000"/>
            <a:ext cx="3108960" cy="548640"/>
          </a:xfrm>
          <a:prstGeom prst="rect">
            <a:avLst/>
          </a:prstGeom>
          <a:noFill/>
          <a:ln/>
        </p:spPr>
        <p:txBody>
          <a:bodyPr wrap="square" rtlCol="0" anchor="ctr"/>
          <a:lstStyle/>
          <a:p>
            <a:pPr marL="0" indent="0">
              <a:buNone/>
            </a:pPr>
            <a:r>
              <a:rPr lang="en-US" sz="2600" b="1" dirty="0">
                <a:solidFill>
                  <a:srgbClr val="F4A300"/>
                </a:solidFill>
                <a:latin typeface="Cambria" pitchFamily="34" charset="0"/>
                <a:ea typeface="Cambria" pitchFamily="34" charset="-122"/>
                <a:cs typeface="Cambria" pitchFamily="34" charset="-120"/>
              </a:rPr>
              <a:t>9 of 20</a:t>
            </a:r>
            <a:endParaRPr lang="en-US" sz="2600" dirty="0"/>
          </a:p>
        </p:txBody>
      </p:sp>
      <p:sp>
        <p:nvSpPr>
          <p:cNvPr id="8" name="Text 5"/>
          <p:cNvSpPr txBox="1"/>
          <p:nvPr/>
        </p:nvSpPr>
        <p:spPr>
          <a:xfrm>
            <a:off x="8046720" y="2880360"/>
            <a:ext cx="3108960" cy="1371600"/>
          </a:xfrm>
          <a:prstGeom prst="rect">
            <a:avLst/>
          </a:prstGeom>
          <a:noFill/>
          <a:ln/>
        </p:spPr>
        <p:txBody>
          <a:bodyPr wrap="square" rtlCol="0" anchor="ctr"/>
          <a:lstStyle/>
          <a:p>
            <a:pPr marL="0" indent="0">
              <a:lnSpc>
                <a:spcPct val="120000"/>
              </a:lnSpc>
              <a:buNone/>
            </a:pPr>
            <a:r>
              <a:rPr lang="en-US" sz="1150" dirty="0">
                <a:solidFill>
                  <a:srgbClr val="0B2545"/>
                </a:solidFill>
                <a:latin typeface="Calibri" pitchFamily="34" charset="0"/>
                <a:ea typeface="Calibri" pitchFamily="34" charset="-122"/>
                <a:cs typeface="Calibri" pitchFamily="34" charset="-120"/>
              </a:rPr>
              <a:t>customers fall into the High band — nearly half the sample, pulled up by a handful of Industrial and SME accounts.</a:t>
            </a:r>
            <a:endParaRPr lang="en-US" sz="1150" dirty="0"/>
          </a:p>
        </p:txBody>
      </p:sp>
      <p:sp>
        <p:nvSpPr>
          <p:cNvPr id="9" name="Shape 6"/>
          <p:cNvSpPr/>
          <p:nvPr/>
        </p:nvSpPr>
        <p:spPr>
          <a:xfrm>
            <a:off x="8046720" y="4343400"/>
            <a:ext cx="2880360" cy="0"/>
          </a:xfrm>
          <a:prstGeom prst="line">
            <a:avLst/>
          </a:prstGeom>
          <a:noFill/>
          <a:ln w="12700">
            <a:solidFill>
              <a:srgbClr val="E2E8F0"/>
            </a:solidFill>
            <a:prstDash val="solid"/>
          </a:ln>
        </p:spPr>
      </p:sp>
      <p:sp>
        <p:nvSpPr>
          <p:cNvPr id="10" name="Text 7"/>
          <p:cNvSpPr txBox="1"/>
          <p:nvPr/>
        </p:nvSpPr>
        <p:spPr>
          <a:xfrm>
            <a:off x="8046720" y="4526280"/>
            <a:ext cx="3108960" cy="1463040"/>
          </a:xfrm>
          <a:prstGeom prst="rect">
            <a:avLst/>
          </a:prstGeom>
          <a:noFill/>
          <a:ln/>
        </p:spPr>
        <p:txBody>
          <a:bodyPr wrap="square" rtlCol="0" anchor="ctr"/>
          <a:lstStyle/>
          <a:p>
            <a:pPr marL="0" indent="0">
              <a:lnSpc>
                <a:spcPct val="120000"/>
              </a:lnSpc>
              <a:buNone/>
            </a:pPr>
            <a:r>
              <a:rPr lang="en-US" sz="1100" i="1" dirty="0">
                <a:solidFill>
                  <a:srgbClr val="5A6B7B"/>
                </a:solidFill>
                <a:latin typeface="Calibri" pitchFamily="34" charset="0"/>
                <a:ea typeface="Calibri" pitchFamily="34" charset="-122"/>
                <a:cs typeface="Calibri" pitchFamily="34" charset="-120"/>
              </a:rPr>
              <a:t>Only 4 of those 9 are also flagged High-Attention — classification and attention risk aren't the same thing.</a:t>
            </a:r>
            <a:endParaRPr lang="en-US" sz="1100" dirty="0"/>
          </a:p>
        </p:txBody>
      </p:sp>
      <p:sp>
        <p:nvSpPr>
          <p:cNvPr id="11" name="Text 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12" name="Text 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ANALYSIS &amp; DISCUSSION,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Location Analysis</a:t>
            </a:r>
            <a:endParaRPr lang="en-US" sz="3000" dirty="0"/>
          </a:p>
        </p:txBody>
      </p:sp>
      <p:sp>
        <p:nvSpPr>
          <p:cNvPr id="4" name="Text 2"/>
          <p:cNvSpPr txBox="1"/>
          <p:nvPr/>
        </p:nvSpPr>
        <p:spPr>
          <a:xfrm>
            <a:off x="548640" y="1417320"/>
            <a:ext cx="10881360" cy="502920"/>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Electricity consumption was not evenly distributed across the three locations. Lagos accounted for the highest consumption in the sample, while Ibadan recorded the lowest.</a:t>
            </a:r>
            <a:endParaRPr lang="en-US" sz="1250" dirty="0"/>
          </a:p>
        </p:txBody>
      </p:sp>
      <p:graphicFrame>
        <p:nvGraphicFramePr>
          <p:cNvPr id="5" name="Chart 0"/>
          <p:cNvGraphicFramePr/>
          <p:nvPr/>
        </p:nvGraphicFramePr>
        <p:xfrm>
          <a:off x="1280160" y="2057400"/>
          <a:ext cx="96012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7" name="Text 4"/>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ANALYSIS &amp; DISCUSSION,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Customer Type Analysis</a:t>
            </a:r>
            <a:endParaRPr lang="en-US" sz="3000" dirty="0"/>
          </a:p>
        </p:txBody>
      </p:sp>
      <p:sp>
        <p:nvSpPr>
          <p:cNvPr id="4" name="Text 2"/>
          <p:cNvSpPr txBox="1"/>
          <p:nvPr/>
        </p:nvSpPr>
        <p:spPr>
          <a:xfrm>
            <a:off x="548640" y="1417320"/>
            <a:ext cx="10881360" cy="502920"/>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Industrial customers consume nearly 40% of total demand from just 3 of the 20 records — a small number of customers driving a large share of consumption.</a:t>
            </a:r>
            <a:endParaRPr lang="en-US" sz="1250" dirty="0"/>
          </a:p>
        </p:txBody>
      </p:sp>
      <p:graphicFrame>
        <p:nvGraphicFramePr>
          <p:cNvPr id="5" name="Chart 0"/>
          <p:cNvGraphicFramePr/>
          <p:nvPr/>
        </p:nvGraphicFramePr>
        <p:xfrm>
          <a:off x="640080" y="2057400"/>
          <a:ext cx="108813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7" name="Text 4"/>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ANALYSIS &amp; DISCUSSION,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Monthly Consumption Analysis</a:t>
            </a:r>
            <a:endParaRPr lang="en-US" sz="3000" dirty="0"/>
          </a:p>
        </p:txBody>
      </p:sp>
      <p:sp>
        <p:nvSpPr>
          <p:cNvPr id="4" name="Text 2"/>
          <p:cNvSpPr txBox="1"/>
          <p:nvPr/>
        </p:nvSpPr>
        <p:spPr>
          <a:xfrm>
            <a:off x="548640" y="1417320"/>
            <a:ext cx="10881360" cy="502920"/>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June recorded the highest monthly total and February the lowest, but the pattern shows no smooth upward trend — it jumps around across the six months.</a:t>
            </a:r>
            <a:endParaRPr lang="en-US" sz="1250" dirty="0"/>
          </a:p>
        </p:txBody>
      </p:sp>
      <p:graphicFrame>
        <p:nvGraphicFramePr>
          <p:cNvPr id="5" name="Chart 0"/>
          <p:cNvGraphicFramePr/>
          <p:nvPr/>
        </p:nvGraphicFramePr>
        <p:xfrm>
          <a:off x="822960" y="2057400"/>
          <a:ext cx="1051560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7" name="Text 4"/>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ANALYSIS &amp; DISCUSSION,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High-Attention Customer Analysis</a:t>
            </a:r>
            <a:endParaRPr lang="en-US" sz="3000" dirty="0"/>
          </a:p>
        </p:txBody>
      </p:sp>
      <p:sp>
        <p:nvSpPr>
          <p:cNvPr id="4" name="Text 2"/>
          <p:cNvSpPr txBox="1"/>
          <p:nvPr/>
        </p:nvSpPr>
        <p:spPr>
          <a:xfrm>
            <a:off x="548640" y="1417320"/>
            <a:ext cx="10881360" cy="502920"/>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Flagged where consumption was 1,000 kWh or more with renewable share below 15%. All four are Industrial or SME accounts — exactly the rule intended to catch.</a:t>
            </a:r>
            <a:endParaRPr lang="en-US" sz="1250" dirty="0"/>
          </a:p>
        </p:txBody>
      </p:sp>
      <p:graphicFrame>
        <p:nvGraphicFramePr>
          <p:cNvPr id="5" name="Chart 0"/>
          <p:cNvGraphicFramePr/>
          <p:nvPr/>
        </p:nvGraphicFramePr>
        <p:xfrm>
          <a:off x="914400" y="2057400"/>
          <a:ext cx="941832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7" name="Text 4"/>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ANALYSIS &amp; DISCUSSION,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Consumption vs. Outage</a:t>
            </a:r>
            <a:endParaRPr lang="en-US" sz="3000" dirty="0"/>
          </a:p>
        </p:txBody>
      </p:sp>
      <p:sp>
        <p:nvSpPr>
          <p:cNvPr id="4" name="Text 2"/>
          <p:cNvSpPr txBox="1"/>
          <p:nvPr/>
        </p:nvSpPr>
        <p:spPr>
          <a:xfrm>
            <a:off x="548640" y="1417320"/>
            <a:ext cx="5486400" cy="2194560"/>
          </a:xfrm>
          <a:prstGeom prst="rect">
            <a:avLst/>
          </a:prstGeom>
          <a:noFill/>
          <a:ln/>
        </p:spPr>
        <p:txBody>
          <a:bodyPr wrap="square" rtlCol="0" anchor="ctr"/>
          <a:lstStyle/>
          <a:p>
            <a:pPr marL="0" indent="0">
              <a:lnSpc>
                <a:spcPct val="130000"/>
              </a:lnSpc>
              <a:buNone/>
            </a:pPr>
            <a:r>
              <a:rPr lang="en-US" sz="1300" dirty="0">
                <a:solidFill>
                  <a:srgbClr val="0B2545"/>
                </a:solidFill>
                <a:latin typeface="Calibri" pitchFamily="34" charset="0"/>
                <a:ea typeface="Calibri" pitchFamily="34" charset="-122"/>
                <a:cs typeface="Calibri" pitchFamily="34" charset="-120"/>
              </a:rPr>
              <a:t>Customers with high outage hours contribute only 29% of total energy consumption (about 898.67 kWh average), compared to 71% (about 2,152 kWh average) for customers with low outage hours.</a:t>
            </a:r>
            <a:endParaRPr lang="en-US" sz="1300" dirty="0"/>
          </a:p>
        </p:txBody>
      </p:sp>
      <p:sp>
        <p:nvSpPr>
          <p:cNvPr id="5" name="Shape 3"/>
          <p:cNvSpPr/>
          <p:nvPr/>
        </p:nvSpPr>
        <p:spPr>
          <a:xfrm>
            <a:off x="548640" y="3840480"/>
            <a:ext cx="5486400" cy="1920240"/>
          </a:xfrm>
          <a:prstGeom prst="roundRect">
            <a:avLst>
              <a:gd name="adj" fmla="val 3810"/>
            </a:avLst>
          </a:prstGeom>
          <a:solidFill>
            <a:srgbClr val="F7F9FC"/>
          </a:solidFill>
          <a:ln w="12700">
            <a:solidFill>
              <a:srgbClr val="E2E8F0"/>
            </a:solidFill>
            <a:prstDash val="solid"/>
          </a:ln>
        </p:spPr>
      </p:sp>
      <p:sp>
        <p:nvSpPr>
          <p:cNvPr id="6" name="Text 4"/>
          <p:cNvSpPr txBox="1"/>
          <p:nvPr/>
        </p:nvSpPr>
        <p:spPr>
          <a:xfrm>
            <a:off x="777240" y="3977640"/>
            <a:ext cx="5029200" cy="1645920"/>
          </a:xfrm>
          <a:prstGeom prst="rect">
            <a:avLst/>
          </a:prstGeom>
          <a:noFill/>
          <a:ln/>
        </p:spPr>
        <p:txBody>
          <a:bodyPr wrap="square" rtlCol="0" anchor="ctr"/>
          <a:lstStyle/>
          <a:p>
            <a:pPr marL="0" indent="0">
              <a:lnSpc>
                <a:spcPct val="125000"/>
              </a:lnSpc>
              <a:buNone/>
            </a:pPr>
            <a:r>
              <a:rPr lang="en-US" sz="1150" i="1" dirty="0">
                <a:solidFill>
                  <a:srgbClr val="0B2545"/>
                </a:solidFill>
                <a:latin typeface="Calibri" pitchFamily="34" charset="0"/>
                <a:ea typeface="Calibri" pitchFamily="34" charset="-122"/>
                <a:cs typeface="Calibri" pitchFamily="34" charset="-120"/>
              </a:rPr>
              <a:t>This suggests higher outage exposure corresponds with lower recorded consumption — though with only 20 records split into two groups, this deserves further investigation before drawing firm conclusions.</a:t>
            </a:r>
            <a:endParaRPr lang="en-US" sz="1150" dirty="0"/>
          </a:p>
        </p:txBody>
      </p:sp>
      <p:graphicFrame>
        <p:nvGraphicFramePr>
          <p:cNvPr id="7" name="Chart 0"/>
          <p:cNvGraphicFramePr/>
          <p:nvPr/>
        </p:nvGraphicFramePr>
        <p:xfrm>
          <a:off x="6492240" y="1600200"/>
          <a:ext cx="50292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9" name="Text 6"/>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SECTION 8</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Research Findings</a:t>
            </a:r>
            <a:endParaRPr lang="en-US" sz="3000" dirty="0"/>
          </a:p>
        </p:txBody>
      </p:sp>
      <p:sp>
        <p:nvSpPr>
          <p:cNvPr id="4" name="Text 2"/>
          <p:cNvSpPr txBox="1"/>
          <p:nvPr/>
        </p:nvSpPr>
        <p:spPr>
          <a:xfrm>
            <a:off x="548640" y="1371600"/>
            <a:ext cx="10881360" cy="365760"/>
          </a:xfrm>
          <a:prstGeom prst="rect">
            <a:avLst/>
          </a:prstGeom>
          <a:noFill/>
          <a:ln/>
        </p:spPr>
        <p:txBody>
          <a:bodyPr wrap="square"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The dataset shows noticeable differences across locations, individual customers, customer types and months:</a:t>
            </a:r>
            <a:endParaRPr lang="en-US" sz="1250" dirty="0"/>
          </a:p>
        </p:txBody>
      </p:sp>
      <p:sp>
        <p:nvSpPr>
          <p:cNvPr id="5" name="Shape 3"/>
          <p:cNvSpPr/>
          <p:nvPr/>
        </p:nvSpPr>
        <p:spPr>
          <a:xfrm>
            <a:off x="548640" y="1965960"/>
            <a:ext cx="457200" cy="457200"/>
          </a:xfrm>
          <a:prstGeom prst="ellipse">
            <a:avLst/>
          </a:prstGeom>
          <a:solidFill>
            <a:srgbClr val="F4A300"/>
          </a:solidFill>
          <a:ln/>
        </p:spPr>
      </p:sp>
      <p:pic>
        <p:nvPicPr>
          <p:cNvPr id="6" name="Image 0" descr="icons/industry_0B2545.png"/>
          <p:cNvPicPr>
            <a:picLocks noChangeAspect="1"/>
          </p:cNvPicPr>
          <p:nvPr/>
        </p:nvPicPr>
        <p:blipFill>
          <a:blip r:embed="rId3"/>
          <a:stretch>
            <a:fillRect/>
          </a:stretch>
        </p:blipFill>
        <p:spPr>
          <a:xfrm>
            <a:off x="667512" y="2084832"/>
            <a:ext cx="219456" cy="219456"/>
          </a:xfrm>
          <a:prstGeom prst="rect">
            <a:avLst/>
          </a:prstGeom>
        </p:spPr>
      </p:pic>
      <p:sp>
        <p:nvSpPr>
          <p:cNvPr id="7" name="Text 4"/>
          <p:cNvSpPr txBox="1"/>
          <p:nvPr/>
        </p:nvSpPr>
        <p:spPr>
          <a:xfrm>
            <a:off x="1188720" y="1929384"/>
            <a:ext cx="1042416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Industrial customers account for the largest share of consumption</a:t>
            </a:r>
            <a:endParaRPr lang="en-US" sz="1300" dirty="0"/>
          </a:p>
        </p:txBody>
      </p:sp>
      <p:sp>
        <p:nvSpPr>
          <p:cNvPr id="8" name="Text 5"/>
          <p:cNvSpPr txBox="1"/>
          <p:nvPr/>
        </p:nvSpPr>
        <p:spPr>
          <a:xfrm>
            <a:off x="1188720" y="2221992"/>
            <a:ext cx="10424160" cy="411480"/>
          </a:xfrm>
          <a:prstGeom prst="rect">
            <a:avLst/>
          </a:prstGeom>
          <a:noFill/>
          <a:ln/>
        </p:spPr>
        <p:txBody>
          <a:bodyPr wrap="square" rtlCol="0" anchor="ctr"/>
          <a:lstStyle/>
          <a:p>
            <a:pPr marL="0" indent="0">
              <a:lnSpc>
                <a:spcPct val="110000"/>
              </a:lnSpc>
              <a:buNone/>
            </a:pPr>
            <a:r>
              <a:rPr lang="en-US" sz="1080" dirty="0">
                <a:solidFill>
                  <a:srgbClr val="CADCFC"/>
                </a:solidFill>
                <a:latin typeface="Calibri" pitchFamily="34" charset="0"/>
                <a:ea typeface="Calibri" pitchFamily="34" charset="-122"/>
                <a:cs typeface="Calibri" pitchFamily="34" charset="-120"/>
              </a:rPr>
              <a:t>9,600 of 24,240 kWh (about 40%) from just 3 records — confirming industrial load concentration.</a:t>
            </a:r>
            <a:endParaRPr lang="en-US" sz="1080" dirty="0"/>
          </a:p>
        </p:txBody>
      </p:sp>
      <p:sp>
        <p:nvSpPr>
          <p:cNvPr id="9" name="Shape 6"/>
          <p:cNvSpPr/>
          <p:nvPr/>
        </p:nvSpPr>
        <p:spPr>
          <a:xfrm>
            <a:off x="548640" y="2862072"/>
            <a:ext cx="457200" cy="457200"/>
          </a:xfrm>
          <a:prstGeom prst="ellipse">
            <a:avLst/>
          </a:prstGeom>
          <a:solidFill>
            <a:srgbClr val="F4A300"/>
          </a:solidFill>
          <a:ln/>
        </p:spPr>
      </p:sp>
      <p:pic>
        <p:nvPicPr>
          <p:cNvPr id="10" name="Image 1" descr="icons/alert_0B2545.png"/>
          <p:cNvPicPr>
            <a:picLocks noChangeAspect="1"/>
          </p:cNvPicPr>
          <p:nvPr/>
        </p:nvPicPr>
        <p:blipFill>
          <a:blip r:embed="rId4"/>
          <a:stretch>
            <a:fillRect/>
          </a:stretch>
        </p:blipFill>
        <p:spPr>
          <a:xfrm>
            <a:off x="667512" y="2980944"/>
            <a:ext cx="219456" cy="219456"/>
          </a:xfrm>
          <a:prstGeom prst="rect">
            <a:avLst/>
          </a:prstGeom>
        </p:spPr>
      </p:pic>
      <p:sp>
        <p:nvSpPr>
          <p:cNvPr id="11" name="Text 7"/>
          <p:cNvSpPr txBox="1"/>
          <p:nvPr/>
        </p:nvSpPr>
        <p:spPr>
          <a:xfrm>
            <a:off x="1188720" y="2825496"/>
            <a:ext cx="1042416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 small group of high-volume customers drives most attention flags</a:t>
            </a:r>
            <a:endParaRPr lang="en-US" sz="1300" dirty="0"/>
          </a:p>
        </p:txBody>
      </p:sp>
      <p:sp>
        <p:nvSpPr>
          <p:cNvPr id="12" name="Text 8"/>
          <p:cNvSpPr txBox="1"/>
          <p:nvPr/>
        </p:nvSpPr>
        <p:spPr>
          <a:xfrm>
            <a:off x="1188720" y="3118104"/>
            <a:ext cx="10424160" cy="411480"/>
          </a:xfrm>
          <a:prstGeom prst="rect">
            <a:avLst/>
          </a:prstGeom>
          <a:noFill/>
          <a:ln/>
        </p:spPr>
        <p:txBody>
          <a:bodyPr wrap="square" rtlCol="0" anchor="ctr"/>
          <a:lstStyle/>
          <a:p>
            <a:pPr marL="0" indent="0">
              <a:lnSpc>
                <a:spcPct val="110000"/>
              </a:lnSpc>
              <a:buNone/>
            </a:pPr>
            <a:r>
              <a:rPr lang="en-US" sz="1080" dirty="0">
                <a:solidFill>
                  <a:srgbClr val="CADCFC"/>
                </a:solidFill>
                <a:latin typeface="Calibri" pitchFamily="34" charset="0"/>
                <a:ea typeface="Calibri" pitchFamily="34" charset="-122"/>
                <a:cs typeface="Calibri" pitchFamily="34" charset="-120"/>
              </a:rPr>
              <a:t>All 4 flagged customers are Industrial or SME; none are Residential, Hospital, School, or Agricultural.</a:t>
            </a:r>
            <a:endParaRPr lang="en-US" sz="1080" dirty="0"/>
          </a:p>
        </p:txBody>
      </p:sp>
      <p:sp>
        <p:nvSpPr>
          <p:cNvPr id="13" name="Shape 9"/>
          <p:cNvSpPr/>
          <p:nvPr/>
        </p:nvSpPr>
        <p:spPr>
          <a:xfrm>
            <a:off x="548640" y="3758184"/>
            <a:ext cx="457200" cy="457200"/>
          </a:xfrm>
          <a:prstGeom prst="ellipse">
            <a:avLst/>
          </a:prstGeom>
          <a:solidFill>
            <a:srgbClr val="F4A300"/>
          </a:solidFill>
          <a:ln/>
        </p:spPr>
      </p:sp>
      <p:pic>
        <p:nvPicPr>
          <p:cNvPr id="14" name="Image 2" descr="icons/pin_0B2545.png"/>
          <p:cNvPicPr>
            <a:picLocks noChangeAspect="1"/>
          </p:cNvPicPr>
          <p:nvPr/>
        </p:nvPicPr>
        <p:blipFill>
          <a:blip r:embed="rId5"/>
          <a:stretch>
            <a:fillRect/>
          </a:stretch>
        </p:blipFill>
        <p:spPr>
          <a:xfrm>
            <a:off x="667512" y="3877056"/>
            <a:ext cx="219456" cy="219456"/>
          </a:xfrm>
          <a:prstGeom prst="rect">
            <a:avLst/>
          </a:prstGeom>
        </p:spPr>
      </p:pic>
      <p:sp>
        <p:nvSpPr>
          <p:cNvPr id="15" name="Text 10"/>
          <p:cNvSpPr txBox="1"/>
          <p:nvPr/>
        </p:nvSpPr>
        <p:spPr>
          <a:xfrm>
            <a:off x="1188720" y="3721608"/>
            <a:ext cx="1042416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Lagos leads, but not by a wide margin</a:t>
            </a:r>
            <a:endParaRPr lang="en-US" sz="1300" dirty="0"/>
          </a:p>
        </p:txBody>
      </p:sp>
      <p:sp>
        <p:nvSpPr>
          <p:cNvPr id="16" name="Text 11"/>
          <p:cNvSpPr txBox="1"/>
          <p:nvPr/>
        </p:nvSpPr>
        <p:spPr>
          <a:xfrm>
            <a:off x="1188720" y="4014216"/>
            <a:ext cx="10424160" cy="411480"/>
          </a:xfrm>
          <a:prstGeom prst="rect">
            <a:avLst/>
          </a:prstGeom>
          <a:noFill/>
          <a:ln/>
        </p:spPr>
        <p:txBody>
          <a:bodyPr wrap="square" rtlCol="0" anchor="ctr"/>
          <a:lstStyle/>
          <a:p>
            <a:pPr marL="0" indent="0">
              <a:lnSpc>
                <a:spcPct val="110000"/>
              </a:lnSpc>
              <a:buNone/>
            </a:pPr>
            <a:r>
              <a:rPr lang="en-US" sz="1080" dirty="0">
                <a:solidFill>
                  <a:srgbClr val="CADCFC"/>
                </a:solidFill>
                <a:latin typeface="Calibri" pitchFamily="34" charset="0"/>
                <a:ea typeface="Calibri" pitchFamily="34" charset="-122"/>
                <a:cs typeface="Calibri" pitchFamily="34" charset="-120"/>
              </a:rPr>
              <a:t>9,760 kWh vs. Abuja's 8,090 and Ibadan's 6,390 — demand is fairly distributed, not concentrated in one location.</a:t>
            </a:r>
            <a:endParaRPr lang="en-US" sz="1080" dirty="0"/>
          </a:p>
        </p:txBody>
      </p:sp>
      <p:sp>
        <p:nvSpPr>
          <p:cNvPr id="17" name="Shape 12"/>
          <p:cNvSpPr/>
          <p:nvPr/>
        </p:nvSpPr>
        <p:spPr>
          <a:xfrm>
            <a:off x="548640" y="4654296"/>
            <a:ext cx="457200" cy="457200"/>
          </a:xfrm>
          <a:prstGeom prst="ellipse">
            <a:avLst/>
          </a:prstGeom>
          <a:solidFill>
            <a:srgbClr val="F4A300"/>
          </a:solidFill>
          <a:ln/>
        </p:spPr>
      </p:sp>
      <p:pic>
        <p:nvPicPr>
          <p:cNvPr id="18" name="Image 3" descr="icons/calendar_0B2545.png"/>
          <p:cNvPicPr>
            <a:picLocks noChangeAspect="1"/>
          </p:cNvPicPr>
          <p:nvPr/>
        </p:nvPicPr>
        <p:blipFill>
          <a:blip r:embed="rId6"/>
          <a:stretch>
            <a:fillRect/>
          </a:stretch>
        </p:blipFill>
        <p:spPr>
          <a:xfrm>
            <a:off x="667512" y="4773168"/>
            <a:ext cx="219456" cy="219456"/>
          </a:xfrm>
          <a:prstGeom prst="rect">
            <a:avLst/>
          </a:prstGeom>
        </p:spPr>
      </p:pic>
      <p:sp>
        <p:nvSpPr>
          <p:cNvPr id="19" name="Text 13"/>
          <p:cNvSpPr txBox="1"/>
          <p:nvPr/>
        </p:nvSpPr>
        <p:spPr>
          <a:xfrm>
            <a:off x="1188720" y="4617720"/>
            <a:ext cx="1042416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Monthly consumption shows no clean trend</a:t>
            </a:r>
            <a:endParaRPr lang="en-US" sz="1300" dirty="0"/>
          </a:p>
        </p:txBody>
      </p:sp>
      <p:sp>
        <p:nvSpPr>
          <p:cNvPr id="20" name="Text 14"/>
          <p:cNvSpPr txBox="1"/>
          <p:nvPr/>
        </p:nvSpPr>
        <p:spPr>
          <a:xfrm>
            <a:off x="1188720" y="4910328"/>
            <a:ext cx="10424160" cy="411480"/>
          </a:xfrm>
          <a:prstGeom prst="rect">
            <a:avLst/>
          </a:prstGeom>
          <a:noFill/>
          <a:ln/>
        </p:spPr>
        <p:txBody>
          <a:bodyPr wrap="square" rtlCol="0" anchor="ctr"/>
          <a:lstStyle/>
          <a:p>
            <a:pPr marL="0" indent="0">
              <a:lnSpc>
                <a:spcPct val="110000"/>
              </a:lnSpc>
              <a:buNone/>
            </a:pPr>
            <a:r>
              <a:rPr lang="en-US" sz="1080" dirty="0">
                <a:solidFill>
                  <a:srgbClr val="CADCFC"/>
                </a:solidFill>
                <a:latin typeface="Calibri" pitchFamily="34" charset="0"/>
                <a:ea typeface="Calibri" pitchFamily="34" charset="-122"/>
                <a:cs typeface="Calibri" pitchFamily="34" charset="-120"/>
              </a:rPr>
              <a:t>It rises and falls (Jan 2,580 → Feb 1,940 → Mar 6,050 → Apr 2,200 → May 3,750 → Jun 7,720), likely reflecting which customers fell in each month.</a:t>
            </a:r>
            <a:endParaRPr lang="en-US" sz="1080" dirty="0"/>
          </a:p>
        </p:txBody>
      </p:sp>
      <p:sp>
        <p:nvSpPr>
          <p:cNvPr id="21" name="Shape 15"/>
          <p:cNvSpPr/>
          <p:nvPr/>
        </p:nvSpPr>
        <p:spPr>
          <a:xfrm>
            <a:off x="548640" y="5550408"/>
            <a:ext cx="457200" cy="457200"/>
          </a:xfrm>
          <a:prstGeom prst="ellipse">
            <a:avLst/>
          </a:prstGeom>
          <a:solidFill>
            <a:srgbClr val="F4A300"/>
          </a:solidFill>
          <a:ln/>
        </p:spPr>
      </p:sp>
      <p:pic>
        <p:nvPicPr>
          <p:cNvPr id="22" name="Image 4" descr="icons/scale_0B2545.png"/>
          <p:cNvPicPr>
            <a:picLocks noChangeAspect="1"/>
          </p:cNvPicPr>
          <p:nvPr/>
        </p:nvPicPr>
        <p:blipFill>
          <a:blip r:embed="rId7"/>
          <a:stretch>
            <a:fillRect/>
          </a:stretch>
        </p:blipFill>
        <p:spPr>
          <a:xfrm>
            <a:off x="667512" y="5669280"/>
            <a:ext cx="219456" cy="219456"/>
          </a:xfrm>
          <a:prstGeom prst="rect">
            <a:avLst/>
          </a:prstGeom>
        </p:spPr>
      </p:pic>
      <p:sp>
        <p:nvSpPr>
          <p:cNvPr id="23" name="Text 16"/>
          <p:cNvSpPr txBox="1"/>
          <p:nvPr/>
        </p:nvSpPr>
        <p:spPr>
          <a:xfrm>
            <a:off x="1188720" y="5513832"/>
            <a:ext cx="1042416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Classification and attention risk aren't the same thing</a:t>
            </a:r>
            <a:endParaRPr lang="en-US" sz="1300" dirty="0"/>
          </a:p>
        </p:txBody>
      </p:sp>
      <p:sp>
        <p:nvSpPr>
          <p:cNvPr id="24" name="Text 17"/>
          <p:cNvSpPr txBox="1"/>
          <p:nvPr/>
        </p:nvSpPr>
        <p:spPr>
          <a:xfrm>
            <a:off x="1188720" y="5806440"/>
            <a:ext cx="10424160" cy="411480"/>
          </a:xfrm>
          <a:prstGeom prst="rect">
            <a:avLst/>
          </a:prstGeom>
          <a:noFill/>
          <a:ln/>
        </p:spPr>
        <p:txBody>
          <a:bodyPr wrap="square" rtlCol="0" anchor="ctr"/>
          <a:lstStyle/>
          <a:p>
            <a:pPr marL="0" indent="0">
              <a:lnSpc>
                <a:spcPct val="110000"/>
              </a:lnSpc>
              <a:buNone/>
            </a:pPr>
            <a:r>
              <a:rPr lang="en-US" sz="1080" dirty="0">
                <a:solidFill>
                  <a:srgbClr val="CADCFC"/>
                </a:solidFill>
                <a:latin typeface="Calibri" pitchFamily="34" charset="0"/>
                <a:ea typeface="Calibri" pitchFamily="34" charset="-122"/>
                <a:cs typeface="Calibri" pitchFamily="34" charset="-120"/>
              </a:rPr>
              <a:t>9 of 20 customers are High consumption, but only 4 of those 9 are flagged for attention — the two rules catch different things.</a:t>
            </a:r>
            <a:endParaRPr lang="en-US" sz="1080" dirty="0"/>
          </a:p>
        </p:txBody>
      </p:sp>
      <p:sp>
        <p:nvSpPr>
          <p:cNvPr id="25" name="Text 1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6" name="Text 1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9</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Recommendations</a:t>
            </a:r>
            <a:endParaRPr lang="en-US" sz="3000" dirty="0"/>
          </a:p>
        </p:txBody>
      </p:sp>
      <p:sp>
        <p:nvSpPr>
          <p:cNvPr id="5" name="Text 3"/>
          <p:cNvSpPr txBox="1"/>
          <p:nvPr/>
        </p:nvSpPr>
        <p:spPr>
          <a:xfrm>
            <a:off x="548640" y="1417320"/>
            <a:ext cx="10881360" cy="365760"/>
          </a:xfrm>
          <a:prstGeom prst="rect">
            <a:avLst/>
          </a:prstGeom>
          <a:noFill/>
          <a:ln/>
        </p:spPr>
        <p:txBody>
          <a:bodyPr wrap="square"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Based on the analysis and findings, the following are proposed (1 of 2):</a:t>
            </a:r>
            <a:endParaRPr lang="en-US" sz="1250" dirty="0"/>
          </a:p>
        </p:txBody>
      </p:sp>
      <p:sp>
        <p:nvSpPr>
          <p:cNvPr id="6" name="Shape 4"/>
          <p:cNvSpPr/>
          <p:nvPr/>
        </p:nvSpPr>
        <p:spPr>
          <a:xfrm>
            <a:off x="548640" y="1965960"/>
            <a:ext cx="11064240" cy="914400"/>
          </a:xfrm>
          <a:prstGeom prst="roundRect">
            <a:avLst>
              <a:gd name="adj" fmla="val 7000"/>
            </a:avLst>
          </a:prstGeom>
          <a:solidFill>
            <a:srgbClr val="F7F9FC"/>
          </a:solidFill>
          <a:ln w="12700">
            <a:solidFill>
              <a:srgbClr val="E2E8F0"/>
            </a:solidFill>
            <a:prstDash val="solid"/>
          </a:ln>
        </p:spPr>
      </p:sp>
      <p:sp>
        <p:nvSpPr>
          <p:cNvPr id="7" name="Shape 5"/>
          <p:cNvSpPr/>
          <p:nvPr/>
        </p:nvSpPr>
        <p:spPr>
          <a:xfrm>
            <a:off x="749808" y="2093976"/>
            <a:ext cx="594360" cy="594360"/>
          </a:xfrm>
          <a:prstGeom prst="ellipse">
            <a:avLst/>
          </a:prstGeom>
          <a:solidFill>
            <a:srgbClr val="0B2545"/>
          </a:solidFill>
          <a:ln/>
        </p:spPr>
      </p:sp>
      <p:pic>
        <p:nvPicPr>
          <p:cNvPr id="8" name="Image 0" descr="icons/bulb_FFFFFF.png"/>
          <p:cNvPicPr>
            <a:picLocks noChangeAspect="1"/>
          </p:cNvPicPr>
          <p:nvPr/>
        </p:nvPicPr>
        <p:blipFill>
          <a:blip r:embed="rId3"/>
          <a:stretch>
            <a:fillRect/>
          </a:stretch>
        </p:blipFill>
        <p:spPr>
          <a:xfrm>
            <a:off x="904342" y="2248510"/>
            <a:ext cx="285293" cy="285293"/>
          </a:xfrm>
          <a:prstGeom prst="rect">
            <a:avLst/>
          </a:prstGeom>
        </p:spPr>
      </p:pic>
      <p:sp>
        <p:nvSpPr>
          <p:cNvPr id="9" name="Text 6"/>
          <p:cNvSpPr txBox="1"/>
          <p:nvPr/>
        </p:nvSpPr>
        <p:spPr>
          <a:xfrm>
            <a:off x="1554480" y="2057400"/>
            <a:ext cx="98755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Promote energy-efficiency practices</a:t>
            </a:r>
            <a:endParaRPr lang="en-US" sz="1300" dirty="0"/>
          </a:p>
        </p:txBody>
      </p:sp>
      <p:sp>
        <p:nvSpPr>
          <p:cNvPr id="10" name="Text 7"/>
          <p:cNvSpPr txBox="1"/>
          <p:nvPr/>
        </p:nvSpPr>
        <p:spPr>
          <a:xfrm>
            <a:off x="1554480" y="2368296"/>
            <a:ext cx="9875520" cy="457200"/>
          </a:xfrm>
          <a:prstGeom prst="rect">
            <a:avLst/>
          </a:prstGeom>
          <a:noFill/>
          <a:ln/>
        </p:spPr>
        <p:txBody>
          <a:bodyPr wrap="square" rtlCol="0" anchor="ctr"/>
          <a:lstStyle/>
          <a:p>
            <a:pPr marL="0" indent="0">
              <a:lnSpc>
                <a:spcPct val="115000"/>
              </a:lnSpc>
              <a:buNone/>
            </a:pPr>
            <a:r>
              <a:rPr lang="en-US" sz="1100" dirty="0">
                <a:solidFill>
                  <a:srgbClr val="5A6B7B"/>
                </a:solidFill>
                <a:latin typeface="Calibri" pitchFamily="34" charset="0"/>
                <a:ea typeface="Calibri" pitchFamily="34" charset="-122"/>
                <a:cs typeface="Calibri" pitchFamily="34" charset="-120"/>
              </a:rPr>
              <a:t>Encourage high-consuming customers to adopt efficient equipment, reducing unnecessary use and cost.</a:t>
            </a:r>
            <a:endParaRPr lang="en-US" sz="1100" dirty="0"/>
          </a:p>
        </p:txBody>
      </p:sp>
      <p:sp>
        <p:nvSpPr>
          <p:cNvPr id="11" name="Shape 8"/>
          <p:cNvSpPr/>
          <p:nvPr/>
        </p:nvSpPr>
        <p:spPr>
          <a:xfrm>
            <a:off x="548640" y="3017520"/>
            <a:ext cx="11064240" cy="914400"/>
          </a:xfrm>
          <a:prstGeom prst="roundRect">
            <a:avLst>
              <a:gd name="adj" fmla="val 7000"/>
            </a:avLst>
          </a:prstGeom>
          <a:solidFill>
            <a:srgbClr val="F7F9FC"/>
          </a:solidFill>
          <a:ln w="12700">
            <a:solidFill>
              <a:srgbClr val="E2E8F0"/>
            </a:solidFill>
            <a:prstDash val="solid"/>
          </a:ln>
        </p:spPr>
      </p:sp>
      <p:sp>
        <p:nvSpPr>
          <p:cNvPr id="12" name="Shape 9"/>
          <p:cNvSpPr/>
          <p:nvPr/>
        </p:nvSpPr>
        <p:spPr>
          <a:xfrm>
            <a:off x="749808" y="3145536"/>
            <a:ext cx="594360" cy="594360"/>
          </a:xfrm>
          <a:prstGeom prst="ellipse">
            <a:avLst/>
          </a:prstGeom>
          <a:solidFill>
            <a:srgbClr val="0B2545"/>
          </a:solidFill>
          <a:ln/>
        </p:spPr>
      </p:sp>
      <p:pic>
        <p:nvPicPr>
          <p:cNvPr id="13" name="Image 1" descr="icons/target_FFFFFF.png"/>
          <p:cNvPicPr>
            <a:picLocks noChangeAspect="1"/>
          </p:cNvPicPr>
          <p:nvPr/>
        </p:nvPicPr>
        <p:blipFill>
          <a:blip r:embed="rId4"/>
          <a:stretch>
            <a:fillRect/>
          </a:stretch>
        </p:blipFill>
        <p:spPr>
          <a:xfrm>
            <a:off x="904342" y="3300070"/>
            <a:ext cx="285293" cy="285293"/>
          </a:xfrm>
          <a:prstGeom prst="rect">
            <a:avLst/>
          </a:prstGeom>
        </p:spPr>
      </p:pic>
      <p:sp>
        <p:nvSpPr>
          <p:cNvPr id="14" name="Text 10"/>
          <p:cNvSpPr txBox="1"/>
          <p:nvPr/>
        </p:nvSpPr>
        <p:spPr>
          <a:xfrm>
            <a:off x="1554480" y="3108960"/>
            <a:ext cx="98755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Prioritize the 4 High-Attention customers</a:t>
            </a:r>
            <a:endParaRPr lang="en-US" sz="1300" dirty="0"/>
          </a:p>
        </p:txBody>
      </p:sp>
      <p:sp>
        <p:nvSpPr>
          <p:cNvPr id="15" name="Text 11"/>
          <p:cNvSpPr txBox="1"/>
          <p:nvPr/>
        </p:nvSpPr>
        <p:spPr>
          <a:xfrm>
            <a:off x="1554480" y="3419856"/>
            <a:ext cx="9875520" cy="457200"/>
          </a:xfrm>
          <a:prstGeom prst="rect">
            <a:avLst/>
          </a:prstGeom>
          <a:noFill/>
          <a:ln/>
        </p:spPr>
        <p:txBody>
          <a:bodyPr wrap="square" rtlCol="0" anchor="ctr"/>
          <a:lstStyle/>
          <a:p>
            <a:pPr marL="0" indent="0">
              <a:lnSpc>
                <a:spcPct val="115000"/>
              </a:lnSpc>
              <a:buNone/>
            </a:pPr>
            <a:r>
              <a:rPr lang="en-US" sz="1100" dirty="0">
                <a:solidFill>
                  <a:srgbClr val="5A6B7B"/>
                </a:solidFill>
                <a:latin typeface="Calibri" pitchFamily="34" charset="0"/>
                <a:ea typeface="Calibri" pitchFamily="34" charset="-122"/>
                <a:cs typeface="Calibri" pitchFamily="34" charset="-120"/>
              </a:rPr>
              <a:t>Prime Plastics, Lakeside Hotel, Naija Foods Ltd, Industrial Works Ltd — for efficiency or renewable-integration review.</a:t>
            </a:r>
            <a:endParaRPr lang="en-US" sz="1100" dirty="0"/>
          </a:p>
        </p:txBody>
      </p:sp>
      <p:sp>
        <p:nvSpPr>
          <p:cNvPr id="16" name="Shape 12"/>
          <p:cNvSpPr/>
          <p:nvPr/>
        </p:nvSpPr>
        <p:spPr>
          <a:xfrm>
            <a:off x="548640" y="4069080"/>
            <a:ext cx="11064240" cy="914400"/>
          </a:xfrm>
          <a:prstGeom prst="roundRect">
            <a:avLst>
              <a:gd name="adj" fmla="val 7000"/>
            </a:avLst>
          </a:prstGeom>
          <a:solidFill>
            <a:srgbClr val="F7F9FC"/>
          </a:solidFill>
          <a:ln w="12700">
            <a:solidFill>
              <a:srgbClr val="E2E8F0"/>
            </a:solidFill>
            <a:prstDash val="solid"/>
          </a:ln>
        </p:spPr>
      </p:sp>
      <p:sp>
        <p:nvSpPr>
          <p:cNvPr id="17" name="Shape 13"/>
          <p:cNvSpPr/>
          <p:nvPr/>
        </p:nvSpPr>
        <p:spPr>
          <a:xfrm>
            <a:off x="749808" y="4197096"/>
            <a:ext cx="594360" cy="594360"/>
          </a:xfrm>
          <a:prstGeom prst="ellipse">
            <a:avLst/>
          </a:prstGeom>
          <a:solidFill>
            <a:srgbClr val="0B2545"/>
          </a:solidFill>
          <a:ln/>
        </p:spPr>
      </p:sp>
      <p:pic>
        <p:nvPicPr>
          <p:cNvPr id="18" name="Image 2" descr="icons/calendar_FFFFFF.png"/>
          <p:cNvPicPr>
            <a:picLocks noChangeAspect="1"/>
          </p:cNvPicPr>
          <p:nvPr/>
        </p:nvPicPr>
        <p:blipFill>
          <a:blip r:embed="rId5"/>
          <a:stretch>
            <a:fillRect/>
          </a:stretch>
        </p:blipFill>
        <p:spPr>
          <a:xfrm>
            <a:off x="904342" y="4351630"/>
            <a:ext cx="285293" cy="285293"/>
          </a:xfrm>
          <a:prstGeom prst="rect">
            <a:avLst/>
          </a:prstGeom>
        </p:spPr>
      </p:pic>
      <p:sp>
        <p:nvSpPr>
          <p:cNvPr id="19" name="Text 14"/>
          <p:cNvSpPr txBox="1"/>
          <p:nvPr/>
        </p:nvSpPr>
        <p:spPr>
          <a:xfrm>
            <a:off x="1554480" y="4160520"/>
            <a:ext cx="98755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Treat monthly figures with caution</a:t>
            </a:r>
            <a:endParaRPr lang="en-US" sz="1300" dirty="0"/>
          </a:p>
        </p:txBody>
      </p:sp>
      <p:sp>
        <p:nvSpPr>
          <p:cNvPr id="20" name="Text 15"/>
          <p:cNvSpPr txBox="1"/>
          <p:nvPr/>
        </p:nvSpPr>
        <p:spPr>
          <a:xfrm>
            <a:off x="1554480" y="4471416"/>
            <a:ext cx="9875520" cy="457200"/>
          </a:xfrm>
          <a:prstGeom prst="rect">
            <a:avLst/>
          </a:prstGeom>
          <a:noFill/>
          <a:ln/>
        </p:spPr>
        <p:txBody>
          <a:bodyPr wrap="square" rtlCol="0" anchor="ctr"/>
          <a:lstStyle/>
          <a:p>
            <a:pPr marL="0" indent="0">
              <a:lnSpc>
                <a:spcPct val="115000"/>
              </a:lnSpc>
              <a:buNone/>
            </a:pPr>
            <a:r>
              <a:rPr lang="en-US" sz="1100" dirty="0">
                <a:solidFill>
                  <a:srgbClr val="5A6B7B"/>
                </a:solidFill>
                <a:latin typeface="Calibri" pitchFamily="34" charset="0"/>
                <a:ea typeface="Calibri" pitchFamily="34" charset="-122"/>
                <a:cs typeface="Calibri" pitchFamily="34" charset="-120"/>
              </a:rPr>
              <a:t>Wait for multiple months per customer before using monthly totals for planning — they currently reflect sampling, not seasonality.</a:t>
            </a:r>
            <a:endParaRPr lang="en-US" sz="1100" dirty="0"/>
          </a:p>
        </p:txBody>
      </p:sp>
      <p:sp>
        <p:nvSpPr>
          <p:cNvPr id="21" name="Shape 16"/>
          <p:cNvSpPr/>
          <p:nvPr/>
        </p:nvSpPr>
        <p:spPr>
          <a:xfrm>
            <a:off x="548640" y="5120640"/>
            <a:ext cx="11064240" cy="914400"/>
          </a:xfrm>
          <a:prstGeom prst="roundRect">
            <a:avLst>
              <a:gd name="adj" fmla="val 7000"/>
            </a:avLst>
          </a:prstGeom>
          <a:solidFill>
            <a:srgbClr val="F7F9FC"/>
          </a:solidFill>
          <a:ln w="12700">
            <a:solidFill>
              <a:srgbClr val="E2E8F0"/>
            </a:solidFill>
            <a:prstDash val="solid"/>
          </a:ln>
        </p:spPr>
      </p:sp>
      <p:sp>
        <p:nvSpPr>
          <p:cNvPr id="22" name="Shape 17"/>
          <p:cNvSpPr/>
          <p:nvPr/>
        </p:nvSpPr>
        <p:spPr>
          <a:xfrm>
            <a:off x="749808" y="5248656"/>
            <a:ext cx="594360" cy="594360"/>
          </a:xfrm>
          <a:prstGeom prst="ellipse">
            <a:avLst/>
          </a:prstGeom>
          <a:solidFill>
            <a:srgbClr val="2E8B57"/>
          </a:solidFill>
          <a:ln/>
        </p:spPr>
      </p:sp>
      <p:pic>
        <p:nvPicPr>
          <p:cNvPr id="23" name="Image 3" descr="icons/leaf_FFFFFF.png"/>
          <p:cNvPicPr>
            <a:picLocks noChangeAspect="1"/>
          </p:cNvPicPr>
          <p:nvPr/>
        </p:nvPicPr>
        <p:blipFill>
          <a:blip r:embed="rId6"/>
          <a:stretch>
            <a:fillRect/>
          </a:stretch>
        </p:blipFill>
        <p:spPr>
          <a:xfrm>
            <a:off x="904342" y="5403190"/>
            <a:ext cx="285293" cy="285293"/>
          </a:xfrm>
          <a:prstGeom prst="rect">
            <a:avLst/>
          </a:prstGeom>
        </p:spPr>
      </p:pic>
      <p:sp>
        <p:nvSpPr>
          <p:cNvPr id="24" name="Text 18"/>
          <p:cNvSpPr txBox="1"/>
          <p:nvPr/>
        </p:nvSpPr>
        <p:spPr>
          <a:xfrm>
            <a:off x="1554480" y="5212080"/>
            <a:ext cx="98755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Investigate low renewable share among Industrial users</a:t>
            </a:r>
            <a:endParaRPr lang="en-US" sz="1300" dirty="0"/>
          </a:p>
        </p:txBody>
      </p:sp>
      <p:sp>
        <p:nvSpPr>
          <p:cNvPr id="25" name="Text 19"/>
          <p:cNvSpPr txBox="1"/>
          <p:nvPr/>
        </p:nvSpPr>
        <p:spPr>
          <a:xfrm>
            <a:off x="1554480" y="5522976"/>
            <a:ext cx="9875520" cy="457200"/>
          </a:xfrm>
          <a:prstGeom prst="rect">
            <a:avLst/>
          </a:prstGeom>
          <a:noFill/>
          <a:ln/>
        </p:spPr>
        <p:txBody>
          <a:bodyPr wrap="square" rtlCol="0" anchor="ctr"/>
          <a:lstStyle/>
          <a:p>
            <a:pPr marL="0" indent="0">
              <a:lnSpc>
                <a:spcPct val="115000"/>
              </a:lnSpc>
              <a:buNone/>
            </a:pPr>
            <a:r>
              <a:rPr lang="en-US" sz="1100" dirty="0">
                <a:solidFill>
                  <a:srgbClr val="5A6B7B"/>
                </a:solidFill>
                <a:latin typeface="Calibri" pitchFamily="34" charset="0"/>
                <a:ea typeface="Calibri" pitchFamily="34" charset="-122"/>
                <a:cs typeface="Calibri" pitchFamily="34" charset="-120"/>
              </a:rPr>
              <a:t>This is where renewable-energy or solar interventions would likely have the greatest impact.</a:t>
            </a:r>
            <a:endParaRPr lang="en-US" sz="1100" dirty="0"/>
          </a:p>
        </p:txBody>
      </p:sp>
      <p:sp>
        <p:nvSpPr>
          <p:cNvPr id="26" name="Text 20"/>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7" name="Text 21"/>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RECOMMENDATIONS, CONTINUED</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Recommendations (2 of 2)</a:t>
            </a:r>
            <a:endParaRPr lang="en-US" sz="3000" dirty="0"/>
          </a:p>
        </p:txBody>
      </p:sp>
      <p:sp>
        <p:nvSpPr>
          <p:cNvPr id="4" name="Shape 2"/>
          <p:cNvSpPr/>
          <p:nvPr/>
        </p:nvSpPr>
        <p:spPr>
          <a:xfrm>
            <a:off x="548640" y="1691640"/>
            <a:ext cx="11064240" cy="1188720"/>
          </a:xfrm>
          <a:prstGeom prst="roundRect">
            <a:avLst>
              <a:gd name="adj" fmla="val 5385"/>
            </a:avLst>
          </a:prstGeom>
          <a:solidFill>
            <a:srgbClr val="F7F9FC"/>
          </a:solidFill>
          <a:ln w="12700">
            <a:solidFill>
              <a:srgbClr val="E2E8F0"/>
            </a:solidFill>
            <a:prstDash val="solid"/>
          </a:ln>
        </p:spPr>
      </p:sp>
      <p:sp>
        <p:nvSpPr>
          <p:cNvPr id="5" name="Shape 3"/>
          <p:cNvSpPr/>
          <p:nvPr/>
        </p:nvSpPr>
        <p:spPr>
          <a:xfrm>
            <a:off x="777240" y="1874520"/>
            <a:ext cx="685800" cy="685800"/>
          </a:xfrm>
          <a:prstGeom prst="ellipse">
            <a:avLst/>
          </a:prstGeom>
          <a:solidFill>
            <a:srgbClr val="0B2545"/>
          </a:solidFill>
          <a:ln/>
        </p:spPr>
      </p:sp>
      <p:pic>
        <p:nvPicPr>
          <p:cNvPr id="6" name="Image 0" descr="icons/scale_FFFFFF.png"/>
          <p:cNvPicPr>
            <a:picLocks noChangeAspect="1"/>
          </p:cNvPicPr>
          <p:nvPr/>
        </p:nvPicPr>
        <p:blipFill>
          <a:blip r:embed="rId3"/>
          <a:stretch>
            <a:fillRect/>
          </a:stretch>
        </p:blipFill>
        <p:spPr>
          <a:xfrm>
            <a:off x="955548" y="2052828"/>
            <a:ext cx="329184" cy="329184"/>
          </a:xfrm>
          <a:prstGeom prst="rect">
            <a:avLst/>
          </a:prstGeom>
        </p:spPr>
      </p:pic>
      <p:sp>
        <p:nvSpPr>
          <p:cNvPr id="7" name="Text 4"/>
          <p:cNvSpPr txBox="1"/>
          <p:nvPr/>
        </p:nvSpPr>
        <p:spPr>
          <a:xfrm>
            <a:off x="1691640" y="1828800"/>
            <a:ext cx="9692640" cy="41148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Reconsider the High-Attention rule's scope</a:t>
            </a:r>
            <a:endParaRPr lang="en-US" sz="1450" dirty="0"/>
          </a:p>
        </p:txBody>
      </p:sp>
      <p:sp>
        <p:nvSpPr>
          <p:cNvPr id="8" name="Text 5"/>
          <p:cNvSpPr txBox="1"/>
          <p:nvPr/>
        </p:nvSpPr>
        <p:spPr>
          <a:xfrm>
            <a:off x="1691640" y="2221992"/>
            <a:ext cx="9692640" cy="548640"/>
          </a:xfrm>
          <a:prstGeom prst="rect">
            <a:avLst/>
          </a:prstGeom>
          <a:noFill/>
          <a:ln/>
        </p:spPr>
        <p:txBody>
          <a:bodyPr wrap="square" rtlCol="0" anchor="ctr"/>
          <a:lstStyle/>
          <a:p>
            <a:pPr marL="0" indent="0">
              <a:lnSpc>
                <a:spcPct val="120000"/>
              </a:lnSpc>
              <a:buNone/>
            </a:pPr>
            <a:r>
              <a:rPr lang="en-US" sz="1200" dirty="0">
                <a:solidFill>
                  <a:srgbClr val="5A6B7B"/>
                </a:solidFill>
                <a:latin typeface="Calibri" pitchFamily="34" charset="0"/>
                <a:ea typeface="Calibri" pitchFamily="34" charset="-122"/>
                <a:cs typeface="Calibri" pitchFamily="34" charset="-120"/>
              </a:rPr>
              <a:t>9 High-classified customers outnumber 4 flagged for attention — consider catching large non-industrial consumers too, like hospitals.</a:t>
            </a:r>
            <a:endParaRPr lang="en-US" sz="1200" dirty="0"/>
          </a:p>
        </p:txBody>
      </p:sp>
      <p:sp>
        <p:nvSpPr>
          <p:cNvPr id="9" name="Shape 6"/>
          <p:cNvSpPr/>
          <p:nvPr/>
        </p:nvSpPr>
        <p:spPr>
          <a:xfrm>
            <a:off x="548640" y="3063240"/>
            <a:ext cx="11064240" cy="1188720"/>
          </a:xfrm>
          <a:prstGeom prst="roundRect">
            <a:avLst>
              <a:gd name="adj" fmla="val 5385"/>
            </a:avLst>
          </a:prstGeom>
          <a:solidFill>
            <a:srgbClr val="F7F9FC"/>
          </a:solidFill>
          <a:ln w="12700">
            <a:solidFill>
              <a:srgbClr val="E2E8F0"/>
            </a:solidFill>
            <a:prstDash val="solid"/>
          </a:ln>
        </p:spPr>
      </p:sp>
      <p:sp>
        <p:nvSpPr>
          <p:cNvPr id="10" name="Shape 7"/>
          <p:cNvSpPr/>
          <p:nvPr/>
        </p:nvSpPr>
        <p:spPr>
          <a:xfrm>
            <a:off x="777240" y="3246120"/>
            <a:ext cx="685800" cy="685800"/>
          </a:xfrm>
          <a:prstGeom prst="ellipse">
            <a:avLst/>
          </a:prstGeom>
          <a:solidFill>
            <a:srgbClr val="0B2545"/>
          </a:solidFill>
          <a:ln/>
        </p:spPr>
      </p:sp>
      <p:pic>
        <p:nvPicPr>
          <p:cNvPr id="11" name="Image 1" descr="icons/chartbar_FFFFFF.png"/>
          <p:cNvPicPr>
            <a:picLocks noChangeAspect="1"/>
          </p:cNvPicPr>
          <p:nvPr/>
        </p:nvPicPr>
        <p:blipFill>
          <a:blip r:embed="rId4"/>
          <a:stretch>
            <a:fillRect/>
          </a:stretch>
        </p:blipFill>
        <p:spPr>
          <a:xfrm>
            <a:off x="955548" y="3424428"/>
            <a:ext cx="329184" cy="329184"/>
          </a:xfrm>
          <a:prstGeom prst="rect">
            <a:avLst/>
          </a:prstGeom>
        </p:spPr>
      </p:pic>
      <p:sp>
        <p:nvSpPr>
          <p:cNvPr id="12" name="Text 8"/>
          <p:cNvSpPr txBox="1"/>
          <p:nvPr/>
        </p:nvSpPr>
        <p:spPr>
          <a:xfrm>
            <a:off x="1691640" y="3200400"/>
            <a:ext cx="9692640" cy="41148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Add a cost view to location and customer-type breakdowns</a:t>
            </a:r>
            <a:endParaRPr lang="en-US" sz="1450" dirty="0"/>
          </a:p>
        </p:txBody>
      </p:sp>
      <p:sp>
        <p:nvSpPr>
          <p:cNvPr id="13" name="Text 9"/>
          <p:cNvSpPr txBox="1"/>
          <p:nvPr/>
        </p:nvSpPr>
        <p:spPr>
          <a:xfrm>
            <a:off x="1691640" y="3593592"/>
            <a:ext cx="9692640" cy="548640"/>
          </a:xfrm>
          <a:prstGeom prst="rect">
            <a:avLst/>
          </a:prstGeom>
          <a:noFill/>
          <a:ln/>
        </p:spPr>
        <p:txBody>
          <a:bodyPr wrap="square" rtlCol="0" anchor="ctr"/>
          <a:lstStyle/>
          <a:p>
            <a:pPr marL="0" indent="0">
              <a:lnSpc>
                <a:spcPct val="120000"/>
              </a:lnSpc>
              <a:buNone/>
            </a:pPr>
            <a:r>
              <a:rPr lang="en-US" sz="1200" dirty="0">
                <a:solidFill>
                  <a:srgbClr val="5A6B7B"/>
                </a:solidFill>
                <a:latin typeface="Calibri" pitchFamily="34" charset="0"/>
                <a:ea typeface="Calibri" pitchFamily="34" charset="-122"/>
                <a:cs typeface="Calibri" pitchFamily="34" charset="-120"/>
              </a:rPr>
              <a:t>Cost is currently only per-customer, not aggregated — this would show whether high-consumption groups are also highest-cost.</a:t>
            </a:r>
            <a:endParaRPr lang="en-US" sz="1200" dirty="0"/>
          </a:p>
        </p:txBody>
      </p:sp>
      <p:sp>
        <p:nvSpPr>
          <p:cNvPr id="14" name="Shape 10"/>
          <p:cNvSpPr/>
          <p:nvPr/>
        </p:nvSpPr>
        <p:spPr>
          <a:xfrm>
            <a:off x="548640" y="4434840"/>
            <a:ext cx="11064240" cy="1188720"/>
          </a:xfrm>
          <a:prstGeom prst="roundRect">
            <a:avLst>
              <a:gd name="adj" fmla="val 5385"/>
            </a:avLst>
          </a:prstGeom>
          <a:solidFill>
            <a:srgbClr val="F7F9FC"/>
          </a:solidFill>
          <a:ln w="12700">
            <a:solidFill>
              <a:srgbClr val="E2E8F0"/>
            </a:solidFill>
            <a:prstDash val="solid"/>
          </a:ln>
        </p:spPr>
      </p:sp>
      <p:sp>
        <p:nvSpPr>
          <p:cNvPr id="15" name="Shape 11"/>
          <p:cNvSpPr/>
          <p:nvPr/>
        </p:nvSpPr>
        <p:spPr>
          <a:xfrm>
            <a:off x="777240" y="4617720"/>
            <a:ext cx="685800" cy="685800"/>
          </a:xfrm>
          <a:prstGeom prst="ellipse">
            <a:avLst/>
          </a:prstGeom>
          <a:solidFill>
            <a:srgbClr val="0B2545"/>
          </a:solidFill>
          <a:ln/>
        </p:spPr>
      </p:sp>
      <p:pic>
        <p:nvPicPr>
          <p:cNvPr id="16" name="Image 2" descr="icons/database_FFFFFF.png"/>
          <p:cNvPicPr>
            <a:picLocks noChangeAspect="1"/>
          </p:cNvPicPr>
          <p:nvPr/>
        </p:nvPicPr>
        <p:blipFill>
          <a:blip r:embed="rId5"/>
          <a:stretch>
            <a:fillRect/>
          </a:stretch>
        </p:blipFill>
        <p:spPr>
          <a:xfrm>
            <a:off x="955548" y="4796028"/>
            <a:ext cx="329184" cy="329184"/>
          </a:xfrm>
          <a:prstGeom prst="rect">
            <a:avLst/>
          </a:prstGeom>
        </p:spPr>
      </p:pic>
      <p:sp>
        <p:nvSpPr>
          <p:cNvPr id="17" name="Text 12"/>
          <p:cNvSpPr txBox="1"/>
          <p:nvPr/>
        </p:nvSpPr>
        <p:spPr>
          <a:xfrm>
            <a:off x="1691640" y="4572000"/>
            <a:ext cx="9692640" cy="41148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Improve the dataset for future analysis</a:t>
            </a:r>
            <a:endParaRPr lang="en-US" sz="1450" dirty="0"/>
          </a:p>
        </p:txBody>
      </p:sp>
      <p:sp>
        <p:nvSpPr>
          <p:cNvPr id="18" name="Text 13"/>
          <p:cNvSpPr txBox="1"/>
          <p:nvPr/>
        </p:nvSpPr>
        <p:spPr>
          <a:xfrm>
            <a:off x="1691640" y="4965192"/>
            <a:ext cx="9692640" cy="548640"/>
          </a:xfrm>
          <a:prstGeom prst="rect">
            <a:avLst/>
          </a:prstGeom>
          <a:noFill/>
          <a:ln/>
        </p:spPr>
        <p:txBody>
          <a:bodyPr wrap="square" rtlCol="0" anchor="ctr"/>
          <a:lstStyle/>
          <a:p>
            <a:pPr marL="0" indent="0">
              <a:lnSpc>
                <a:spcPct val="120000"/>
              </a:lnSpc>
              <a:buNone/>
            </a:pPr>
            <a:r>
              <a:rPr lang="en-US" sz="1200" dirty="0">
                <a:solidFill>
                  <a:srgbClr val="5A6B7B"/>
                </a:solidFill>
                <a:latin typeface="Calibri" pitchFamily="34" charset="0"/>
                <a:ea typeface="Calibri" pitchFamily="34" charset="-122"/>
                <a:cs typeface="Calibri" pitchFamily="34" charset="-120"/>
              </a:rPr>
              <a:t>Use a larger, more representative dataset covering a longer period, more records, and additional variables for deeper, more practical analysis.</a:t>
            </a:r>
            <a:endParaRPr lang="en-US" sz="1200" dirty="0"/>
          </a:p>
        </p:txBody>
      </p:sp>
      <p:sp>
        <p:nvSpPr>
          <p:cNvPr id="19" name="Text 1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0" name="Text 15"/>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10</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Limitations</a:t>
            </a:r>
            <a:endParaRPr lang="en-US" sz="3000" dirty="0"/>
          </a:p>
        </p:txBody>
      </p:sp>
      <p:sp>
        <p:nvSpPr>
          <p:cNvPr id="5" name="Shape 3"/>
          <p:cNvSpPr/>
          <p:nvPr/>
        </p:nvSpPr>
        <p:spPr>
          <a:xfrm>
            <a:off x="548640" y="1627632"/>
            <a:ext cx="365760" cy="365760"/>
          </a:xfrm>
          <a:prstGeom prst="ellipse">
            <a:avLst/>
          </a:prstGeom>
          <a:solidFill>
            <a:srgbClr val="C0392B"/>
          </a:solidFill>
          <a:ln/>
        </p:spPr>
      </p:sp>
      <p:sp>
        <p:nvSpPr>
          <p:cNvPr id="6" name="Text 4"/>
          <p:cNvSpPr txBox="1"/>
          <p:nvPr/>
        </p:nvSpPr>
        <p:spPr>
          <a:xfrm>
            <a:off x="548640" y="1627632"/>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97280" y="1554480"/>
            <a:ext cx="10515600" cy="841248"/>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The analysis was based on only 20 customer records — a small sample that limits how far results represent a wider population of electricity consumers.</a:t>
            </a:r>
            <a:endParaRPr lang="en-US" sz="1250" dirty="0"/>
          </a:p>
        </p:txBody>
      </p:sp>
      <p:sp>
        <p:nvSpPr>
          <p:cNvPr id="8" name="Shape 6"/>
          <p:cNvSpPr/>
          <p:nvPr/>
        </p:nvSpPr>
        <p:spPr>
          <a:xfrm>
            <a:off x="548640" y="2560320"/>
            <a:ext cx="365760" cy="365760"/>
          </a:xfrm>
          <a:prstGeom prst="ellipse">
            <a:avLst/>
          </a:prstGeom>
          <a:solidFill>
            <a:srgbClr val="C0392B"/>
          </a:solidFill>
          <a:ln/>
        </p:spPr>
      </p:sp>
      <p:sp>
        <p:nvSpPr>
          <p:cNvPr id="9" name="Text 7"/>
          <p:cNvSpPr txBox="1"/>
          <p:nvPr/>
        </p:nvSpPr>
        <p:spPr>
          <a:xfrm>
            <a:off x="548640" y="256032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97280" y="2487168"/>
            <a:ext cx="10515600" cy="841248"/>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The dataset is simulated, not sourced from an actual utility or NERC, and should not be presented as representing real Nigerian electricity consumption.</a:t>
            </a:r>
            <a:endParaRPr lang="en-US" sz="1250" dirty="0"/>
          </a:p>
        </p:txBody>
      </p:sp>
      <p:sp>
        <p:nvSpPr>
          <p:cNvPr id="11" name="Shape 9"/>
          <p:cNvSpPr/>
          <p:nvPr/>
        </p:nvSpPr>
        <p:spPr>
          <a:xfrm>
            <a:off x="548640" y="3493008"/>
            <a:ext cx="365760" cy="365760"/>
          </a:xfrm>
          <a:prstGeom prst="ellipse">
            <a:avLst/>
          </a:prstGeom>
          <a:solidFill>
            <a:srgbClr val="C0392B"/>
          </a:solidFill>
          <a:ln/>
        </p:spPr>
      </p:sp>
      <p:sp>
        <p:nvSpPr>
          <p:cNvPr id="12" name="Text 10"/>
          <p:cNvSpPr txBox="1"/>
          <p:nvPr/>
        </p:nvSpPr>
        <p:spPr>
          <a:xfrm>
            <a:off x="548640" y="3493008"/>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97280" y="3419856"/>
            <a:ext cx="10515600" cy="841248"/>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Only 20 records span 6 months, with each customer appearing in a single month — monthly totals cannot show a genuine trend for any individual customer.</a:t>
            </a:r>
            <a:endParaRPr lang="en-US" sz="1250" dirty="0"/>
          </a:p>
        </p:txBody>
      </p:sp>
      <p:sp>
        <p:nvSpPr>
          <p:cNvPr id="14" name="Shape 12"/>
          <p:cNvSpPr/>
          <p:nvPr/>
        </p:nvSpPr>
        <p:spPr>
          <a:xfrm>
            <a:off x="548640" y="4425696"/>
            <a:ext cx="365760" cy="365760"/>
          </a:xfrm>
          <a:prstGeom prst="ellipse">
            <a:avLst/>
          </a:prstGeom>
          <a:solidFill>
            <a:srgbClr val="C0392B"/>
          </a:solidFill>
          <a:ln/>
        </p:spPr>
      </p:sp>
      <p:sp>
        <p:nvSpPr>
          <p:cNvPr id="15" name="Text 13"/>
          <p:cNvSpPr txBox="1"/>
          <p:nvPr/>
        </p:nvSpPr>
        <p:spPr>
          <a:xfrm>
            <a:off x="548640" y="4425696"/>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097280" y="4352544"/>
            <a:ext cx="10515600" cy="841248"/>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The attention-flag rule uses a single fixed threshold (≥1,000 kWh and &lt;15% renewable share) — reasonable as a start, but not validated against real utility risk criteria.</a:t>
            </a:r>
            <a:endParaRPr lang="en-US" sz="1250" dirty="0"/>
          </a:p>
        </p:txBody>
      </p:sp>
      <p:sp>
        <p:nvSpPr>
          <p:cNvPr id="17" name="Shape 15"/>
          <p:cNvSpPr/>
          <p:nvPr/>
        </p:nvSpPr>
        <p:spPr>
          <a:xfrm>
            <a:off x="548640" y="5358384"/>
            <a:ext cx="365760" cy="365760"/>
          </a:xfrm>
          <a:prstGeom prst="ellipse">
            <a:avLst/>
          </a:prstGeom>
          <a:solidFill>
            <a:srgbClr val="C0392B"/>
          </a:solidFill>
          <a:ln/>
        </p:spPr>
      </p:sp>
      <p:sp>
        <p:nvSpPr>
          <p:cNvPr id="18" name="Text 16"/>
          <p:cNvSpPr txBox="1"/>
          <p:nvPr/>
        </p:nvSpPr>
        <p:spPr>
          <a:xfrm>
            <a:off x="548640" y="5358384"/>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097280" y="5285232"/>
            <a:ext cx="10515600" cy="841248"/>
          </a:xfrm>
          <a:prstGeom prst="rect">
            <a:avLst/>
          </a:prstGeom>
          <a:noFill/>
          <a:ln/>
        </p:spPr>
        <p:txBody>
          <a:bodyPr wrap="square" rtlCol="0" anchor="ctr"/>
          <a:lstStyle/>
          <a:p>
            <a:pPr marL="0" indent="0">
              <a:lnSpc>
                <a:spcPct val="120000"/>
              </a:lnSpc>
              <a:buNone/>
            </a:pPr>
            <a:r>
              <a:rPr lang="en-US" sz="1250" dirty="0">
                <a:solidFill>
                  <a:srgbClr val="0B2545"/>
                </a:solidFill>
                <a:latin typeface="Calibri" pitchFamily="34" charset="0"/>
                <a:ea typeface="Calibri" pitchFamily="34" charset="-122"/>
                <a:cs typeface="Calibri" pitchFamily="34" charset="-120"/>
              </a:rPr>
              <a:t>Cost, payment status, and outage hours were captured but not fully analyzed — the system covers consumption well but leaves affordability and reliability questions unexplored.</a:t>
            </a:r>
            <a:endParaRPr lang="en-US" sz="1250" dirty="0"/>
          </a:p>
        </p:txBody>
      </p:sp>
      <p:sp>
        <p:nvSpPr>
          <p:cNvPr id="20" name="Text 1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21" name="Text 1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SECTION 11</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Text 2"/>
          <p:cNvSpPr txBox="1"/>
          <p:nvPr/>
        </p:nvSpPr>
        <p:spPr>
          <a:xfrm>
            <a:off x="548640" y="1508760"/>
            <a:ext cx="6492240" cy="1554480"/>
          </a:xfrm>
          <a:prstGeom prst="rect">
            <a:avLst/>
          </a:prstGeom>
          <a:noFill/>
          <a:ln/>
        </p:spPr>
        <p:txBody>
          <a:bodyPr wrap="square"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The Energy Consumption Analysis System successfully demonstrated how Python can organize, process and analyze electricity-consumption data — from totals and extremes to classification, location, customer-type and monthly patterns, cost, and high-attention flags.</a:t>
            </a:r>
            <a:endParaRPr lang="en-US" sz="1350" dirty="0"/>
          </a:p>
        </p:txBody>
      </p:sp>
      <p:sp>
        <p:nvSpPr>
          <p:cNvPr id="5" name="Text 3"/>
          <p:cNvSpPr txBox="1"/>
          <p:nvPr/>
        </p:nvSpPr>
        <p:spPr>
          <a:xfrm>
            <a:off x="548640" y="3063240"/>
            <a:ext cx="6492240" cy="1737360"/>
          </a:xfrm>
          <a:prstGeom prst="rect">
            <a:avLst/>
          </a:prstGeom>
          <a:noFill/>
          <a:ln/>
        </p:spPr>
        <p:txBody>
          <a:bodyPr wrap="square"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Although built on a small, simulated dataset with basic Python concepts, the project demonstrates the real value of data analysis in understanding energy-consumption patterns — and provides a foundation to expand with larger datasets, more variables, and more advanced analytical techniques.</a:t>
            </a:r>
            <a:endParaRPr lang="en-US" sz="1350" dirty="0"/>
          </a:p>
        </p:txBody>
      </p:sp>
      <p:sp>
        <p:nvSpPr>
          <p:cNvPr id="6" name="Shape 4"/>
          <p:cNvSpPr/>
          <p:nvPr/>
        </p:nvSpPr>
        <p:spPr>
          <a:xfrm>
            <a:off x="7315200" y="1554480"/>
            <a:ext cx="4206240" cy="1417320"/>
          </a:xfrm>
          <a:prstGeom prst="roundRect">
            <a:avLst>
              <a:gd name="adj" fmla="val 5161"/>
            </a:avLst>
          </a:prstGeom>
          <a:solidFill>
            <a:srgbClr val="13315C"/>
          </a:solidFill>
          <a:ln w="12700">
            <a:solidFill>
              <a:srgbClr val="E2E8F0"/>
            </a:solidFill>
            <a:prstDash val="solid"/>
          </a:ln>
        </p:spPr>
      </p:sp>
      <p:sp>
        <p:nvSpPr>
          <p:cNvPr id="7" name="Text 5"/>
          <p:cNvSpPr txBox="1"/>
          <p:nvPr/>
        </p:nvSpPr>
        <p:spPr>
          <a:xfrm>
            <a:off x="7452360" y="1719072"/>
            <a:ext cx="3931920" cy="731520"/>
          </a:xfrm>
          <a:prstGeom prst="rect">
            <a:avLst/>
          </a:prstGeom>
          <a:noFill/>
          <a:ln/>
        </p:spPr>
        <p:txBody>
          <a:bodyPr wrap="square" rtlCol="0" anchor="b"/>
          <a:lstStyle/>
          <a:p>
            <a:pPr marL="0" indent="0" algn="ctr">
              <a:buNone/>
            </a:pPr>
            <a:r>
              <a:rPr lang="en-US" sz="3400" b="1" dirty="0">
                <a:solidFill>
                  <a:srgbClr val="FFFFFF"/>
                </a:solidFill>
                <a:latin typeface="Cambria" pitchFamily="34" charset="0"/>
                <a:ea typeface="Cambria" pitchFamily="34" charset="-122"/>
                <a:cs typeface="Cambria" pitchFamily="34" charset="-120"/>
              </a:rPr>
              <a:t>24,240 kWh</a:t>
            </a:r>
            <a:endParaRPr lang="en-US" sz="3400" dirty="0"/>
          </a:p>
        </p:txBody>
      </p:sp>
      <p:sp>
        <p:nvSpPr>
          <p:cNvPr id="8" name="Text 6"/>
          <p:cNvSpPr txBox="1"/>
          <p:nvPr/>
        </p:nvSpPr>
        <p:spPr>
          <a:xfrm>
            <a:off x="7452360" y="2468880"/>
            <a:ext cx="39319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Total consumption analyzed</a:t>
            </a:r>
            <a:endParaRPr lang="en-US" sz="1100" dirty="0"/>
          </a:p>
        </p:txBody>
      </p:sp>
      <p:sp>
        <p:nvSpPr>
          <p:cNvPr id="9" name="Shape 7"/>
          <p:cNvSpPr/>
          <p:nvPr/>
        </p:nvSpPr>
        <p:spPr>
          <a:xfrm>
            <a:off x="7315200" y="3108960"/>
            <a:ext cx="4206240" cy="1417320"/>
          </a:xfrm>
          <a:prstGeom prst="roundRect">
            <a:avLst>
              <a:gd name="adj" fmla="val 5161"/>
            </a:avLst>
          </a:prstGeom>
          <a:solidFill>
            <a:srgbClr val="13315C"/>
          </a:solidFill>
          <a:ln w="12700">
            <a:solidFill>
              <a:srgbClr val="E2E8F0"/>
            </a:solidFill>
            <a:prstDash val="solid"/>
          </a:ln>
        </p:spPr>
      </p:sp>
      <p:sp>
        <p:nvSpPr>
          <p:cNvPr id="10" name="Text 8"/>
          <p:cNvSpPr txBox="1"/>
          <p:nvPr/>
        </p:nvSpPr>
        <p:spPr>
          <a:xfrm>
            <a:off x="7452360" y="3273552"/>
            <a:ext cx="3931920" cy="731520"/>
          </a:xfrm>
          <a:prstGeom prst="rect">
            <a:avLst/>
          </a:prstGeom>
          <a:noFill/>
          <a:ln/>
        </p:spPr>
        <p:txBody>
          <a:bodyPr wrap="square" rtlCol="0" anchor="b"/>
          <a:lstStyle/>
          <a:p>
            <a:pPr marL="0" indent="0" algn="ctr">
              <a:buNone/>
            </a:pPr>
            <a:r>
              <a:rPr lang="en-US" sz="3400" b="1" dirty="0">
                <a:solidFill>
                  <a:srgbClr val="FFFFFF"/>
                </a:solidFill>
                <a:latin typeface="Cambria" pitchFamily="34" charset="0"/>
                <a:ea typeface="Cambria" pitchFamily="34" charset="-122"/>
                <a:cs typeface="Cambria" pitchFamily="34" charset="-120"/>
              </a:rPr>
              <a:t>1,212 kWh</a:t>
            </a:r>
            <a:endParaRPr lang="en-US" sz="3400" dirty="0"/>
          </a:p>
        </p:txBody>
      </p:sp>
      <p:sp>
        <p:nvSpPr>
          <p:cNvPr id="11" name="Text 9"/>
          <p:cNvSpPr txBox="1"/>
          <p:nvPr/>
        </p:nvSpPr>
        <p:spPr>
          <a:xfrm>
            <a:off x="7452360" y="4023360"/>
            <a:ext cx="39319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Average consumption per customer</a:t>
            </a:r>
            <a:endParaRPr lang="en-US" sz="1100" dirty="0"/>
          </a:p>
        </p:txBody>
      </p:sp>
      <p:sp>
        <p:nvSpPr>
          <p:cNvPr id="12" name="Shape 10"/>
          <p:cNvSpPr/>
          <p:nvPr/>
        </p:nvSpPr>
        <p:spPr>
          <a:xfrm>
            <a:off x="7315200" y="4663440"/>
            <a:ext cx="4206240" cy="1417320"/>
          </a:xfrm>
          <a:prstGeom prst="roundRect">
            <a:avLst>
              <a:gd name="adj" fmla="val 5161"/>
            </a:avLst>
          </a:prstGeom>
          <a:solidFill>
            <a:srgbClr val="13315C"/>
          </a:solidFill>
          <a:ln w="12700">
            <a:solidFill>
              <a:srgbClr val="E2E8F0"/>
            </a:solidFill>
            <a:prstDash val="solid"/>
          </a:ln>
        </p:spPr>
      </p:sp>
      <p:sp>
        <p:nvSpPr>
          <p:cNvPr id="13" name="Text 11"/>
          <p:cNvSpPr txBox="1"/>
          <p:nvPr/>
        </p:nvSpPr>
        <p:spPr>
          <a:xfrm>
            <a:off x="7452360" y="4828032"/>
            <a:ext cx="3931920" cy="731520"/>
          </a:xfrm>
          <a:prstGeom prst="rect">
            <a:avLst/>
          </a:prstGeom>
          <a:noFill/>
          <a:ln/>
        </p:spPr>
        <p:txBody>
          <a:bodyPr wrap="square" rtlCol="0" anchor="b"/>
          <a:lstStyle/>
          <a:p>
            <a:pPr marL="0" indent="0" algn="ctr">
              <a:buNone/>
            </a:pPr>
            <a:r>
              <a:rPr lang="en-US" sz="2200" b="1" dirty="0">
                <a:solidFill>
                  <a:srgbClr val="F4A300"/>
                </a:solidFill>
                <a:latin typeface="Cambria" pitchFamily="34" charset="0"/>
                <a:ea typeface="Cambria" pitchFamily="34" charset="-122"/>
                <a:cs typeface="Cambria" pitchFamily="34" charset="-120"/>
              </a:rPr>
              <a:t>Lagos &gt; Abuja &gt; Ibadan</a:t>
            </a:r>
            <a:endParaRPr lang="en-US" sz="2200" dirty="0"/>
          </a:p>
        </p:txBody>
      </p:sp>
      <p:sp>
        <p:nvSpPr>
          <p:cNvPr id="14" name="Text 12"/>
          <p:cNvSpPr txBox="1"/>
          <p:nvPr/>
        </p:nvSpPr>
        <p:spPr>
          <a:xfrm>
            <a:off x="7452360" y="5577840"/>
            <a:ext cx="3931920" cy="411480"/>
          </a:xfrm>
          <a:prstGeom prst="rect">
            <a:avLst/>
          </a:prstGeom>
          <a:noFill/>
          <a:ln/>
        </p:spPr>
        <p:txBody>
          <a:bodyPr wrap="square" rtlCol="0" anchor="t"/>
          <a:lstStyle/>
          <a:p>
            <a:pPr marL="0" indent="0" algn="ctr">
              <a:buNone/>
            </a:pPr>
            <a:r>
              <a:rPr lang="en-US" sz="1100" dirty="0">
                <a:solidFill>
                  <a:srgbClr val="5A6B7B"/>
                </a:solidFill>
                <a:latin typeface="Calibri" pitchFamily="34" charset="0"/>
                <a:ea typeface="Calibri" pitchFamily="34" charset="-122"/>
                <a:cs typeface="Calibri" pitchFamily="34" charset="-120"/>
              </a:rPr>
              <a:t>Consumption ranking by location</a:t>
            </a:r>
            <a:endParaRPr lang="en-US" sz="1100" dirty="0"/>
          </a:p>
        </p:txBody>
      </p:sp>
      <p:sp>
        <p:nvSpPr>
          <p:cNvPr id="15" name="Text 13"/>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16" name="Text 14"/>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943600" cy="5943600"/>
          </a:xfrm>
          <a:prstGeom prst="ellipse">
            <a:avLst/>
          </a:prstGeom>
          <a:solidFill>
            <a:srgbClr val="13315C"/>
          </a:solidFill>
          <a:ln/>
        </p:spPr>
      </p:sp>
      <p:sp>
        <p:nvSpPr>
          <p:cNvPr id="3" name="Shape 1"/>
          <p:cNvSpPr/>
          <p:nvPr/>
        </p:nvSpPr>
        <p:spPr>
          <a:xfrm>
            <a:off x="9601200" y="4114800"/>
            <a:ext cx="4572000" cy="4572000"/>
          </a:xfrm>
          <a:prstGeom prst="ellipse">
            <a:avLst/>
          </a:prstGeom>
          <a:solidFill>
            <a:srgbClr val="0E2E52"/>
          </a:solidFill>
          <a:ln/>
        </p:spPr>
      </p:sp>
      <p:sp>
        <p:nvSpPr>
          <p:cNvPr id="4" name="Shape 2"/>
          <p:cNvSpPr/>
          <p:nvPr/>
        </p:nvSpPr>
        <p:spPr>
          <a:xfrm>
            <a:off x="5591556" y="1097280"/>
            <a:ext cx="1005840" cy="1005840"/>
          </a:xfrm>
          <a:prstGeom prst="ellipse">
            <a:avLst/>
          </a:prstGeom>
          <a:solidFill>
            <a:srgbClr val="F4A300"/>
          </a:solidFill>
          <a:ln/>
        </p:spPr>
      </p:sp>
      <p:pic>
        <p:nvPicPr>
          <p:cNvPr id="5" name="Image 0" descr="icons/bolt_0B2545.png"/>
          <p:cNvPicPr>
            <a:picLocks noChangeAspect="1"/>
          </p:cNvPicPr>
          <p:nvPr/>
        </p:nvPicPr>
        <p:blipFill>
          <a:blip r:embed="rId3"/>
          <a:stretch>
            <a:fillRect/>
          </a:stretch>
        </p:blipFill>
        <p:spPr>
          <a:xfrm>
            <a:off x="5853074" y="1358798"/>
            <a:ext cx="482803" cy="482803"/>
          </a:xfrm>
          <a:prstGeom prst="rect">
            <a:avLst/>
          </a:prstGeom>
        </p:spPr>
      </p:pic>
      <p:sp>
        <p:nvSpPr>
          <p:cNvPr id="6" name="Text 3"/>
          <p:cNvSpPr txBox="1"/>
          <p:nvPr/>
        </p:nvSpPr>
        <p:spPr>
          <a:xfrm>
            <a:off x="0" y="2331720"/>
            <a:ext cx="12188952" cy="91440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txBox="1"/>
          <p:nvPr/>
        </p:nvSpPr>
        <p:spPr>
          <a:xfrm>
            <a:off x="0" y="3246120"/>
            <a:ext cx="12188952" cy="457200"/>
          </a:xfrm>
          <a:prstGeom prst="rect">
            <a:avLst/>
          </a:prstGeom>
          <a:noFill/>
          <a:ln/>
        </p:spPr>
        <p:txBody>
          <a:bodyPr wrap="square" rtlCol="0" anchor="ctr"/>
          <a:lstStyle/>
          <a:p>
            <a:pPr marL="0" indent="0" algn="ctr">
              <a:buNone/>
            </a:pPr>
            <a:r>
              <a:rPr lang="en-US" sz="1800" i="1" dirty="0">
                <a:solidFill>
                  <a:srgbClr val="CADCFC"/>
                </a:solidFill>
                <a:latin typeface="Cambria" pitchFamily="34" charset="0"/>
                <a:ea typeface="Cambria" pitchFamily="34" charset="-122"/>
                <a:cs typeface="Cambria" pitchFamily="34" charset="-120"/>
              </a:rPr>
              <a:t>Questions &amp; Discussion Welcome</a:t>
            </a:r>
            <a:endParaRPr lang="en-US" sz="1800" dirty="0"/>
          </a:p>
        </p:txBody>
      </p:sp>
      <p:sp>
        <p:nvSpPr>
          <p:cNvPr id="8" name="Shape 5"/>
          <p:cNvSpPr/>
          <p:nvPr/>
        </p:nvSpPr>
        <p:spPr>
          <a:xfrm>
            <a:off x="4174236" y="3977640"/>
            <a:ext cx="3840480" cy="0"/>
          </a:xfrm>
          <a:prstGeom prst="line">
            <a:avLst/>
          </a:prstGeom>
          <a:noFill/>
          <a:ln w="25400">
            <a:solidFill>
              <a:srgbClr val="F4A300"/>
            </a:solidFill>
            <a:prstDash val="solid"/>
          </a:ln>
        </p:spPr>
      </p:sp>
      <p:sp>
        <p:nvSpPr>
          <p:cNvPr id="9" name="Text 6"/>
          <p:cNvSpPr txBox="1"/>
          <p:nvPr/>
        </p:nvSpPr>
        <p:spPr>
          <a:xfrm>
            <a:off x="0" y="4297680"/>
            <a:ext cx="12188952" cy="274320"/>
          </a:xfrm>
          <a:prstGeom prst="rect">
            <a:avLst/>
          </a:prstGeom>
          <a:noFill/>
          <a:ln/>
        </p:spPr>
        <p:txBody>
          <a:bodyPr wrap="square" rtlCol="0" anchor="ctr"/>
          <a:lstStyle/>
          <a:p>
            <a:pPr marL="0" indent="0" algn="ctr">
              <a:buNone/>
            </a:pPr>
            <a:r>
              <a:rPr lang="en-US" sz="1100" b="1" kern="0" spc="200" dirty="0">
                <a:solidFill>
                  <a:srgbClr val="F4A300"/>
                </a:solidFill>
                <a:latin typeface="Calibri" pitchFamily="34" charset="0"/>
                <a:ea typeface="Calibri" pitchFamily="34" charset="-122"/>
                <a:cs typeface="Calibri" pitchFamily="34" charset="-120"/>
              </a:rPr>
              <a:t>TEAM A  •  ENERGY CONSUMPTION ANALYSIS SYSTEM</a:t>
            </a:r>
            <a:endParaRPr lang="en-US" sz="1100" dirty="0"/>
          </a:p>
        </p:txBody>
      </p:sp>
      <p:sp>
        <p:nvSpPr>
          <p:cNvPr id="10" name="Text 7"/>
          <p:cNvSpPr txBox="1"/>
          <p:nvPr/>
        </p:nvSpPr>
        <p:spPr>
          <a:xfrm>
            <a:off x="0" y="4617720"/>
            <a:ext cx="12188952"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Gomes Vivian   •  Oseni Latifat  •  Ismaila Ainoko Aminu  •  Ositadinma Chigozie</a:t>
            </a:r>
            <a:endParaRPr lang="en-US" sz="1300" dirty="0"/>
          </a:p>
        </p:txBody>
      </p:sp>
      <p:sp>
        <p:nvSpPr>
          <p:cNvPr id="11" name="Text 8"/>
          <p:cNvSpPr txBox="1"/>
          <p:nvPr/>
        </p:nvSpPr>
        <p:spPr>
          <a:xfrm>
            <a:off x="0" y="4983480"/>
            <a:ext cx="12188952" cy="320040"/>
          </a:xfrm>
          <a:prstGeom prst="rect">
            <a:avLst/>
          </a:prstGeom>
          <a:noFill/>
          <a:ln/>
        </p:spPr>
        <p:txBody>
          <a:bodyPr wrap="square" rtlCol="0" anchor="ctr"/>
          <a:lstStyle/>
          <a:p>
            <a:pPr marL="0" indent="0" algn="ctr">
              <a:buNone/>
            </a:pPr>
            <a:r>
              <a:rPr lang="en-US" sz="1100" i="1" dirty="0">
                <a:solidFill>
                  <a:srgbClr val="9FB3D9"/>
                </a:solidFill>
                <a:latin typeface="Calibri" pitchFamily="34" charset="0"/>
                <a:ea typeface="Calibri" pitchFamily="34" charset="-122"/>
                <a:cs typeface="Calibri" pitchFamily="34" charset="-120"/>
              </a:rPr>
              <a:t>Python Study Group SmartBixCrux  •  September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2782</Words>
  <Application>Microsoft Office PowerPoint</Application>
  <PresentationFormat>Widescreen</PresentationFormat>
  <Paragraphs>341</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2</cp:revision>
  <dcterms:created xsi:type="dcterms:W3CDTF">2026-09-16T18:28:31Z</dcterms:created>
  <dcterms:modified xsi:type="dcterms:W3CDTF">2026-09-16T18:31:30Z</dcterms:modified>
</cp:coreProperties>
</file>