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11.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notesSlides/notesSlide12.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B2545"/>
    <a:srgbClr val="F4A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3" d="100"/>
          <a:sy n="63" d="100"/>
        </p:scale>
        <p:origin x="32" y="2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barChart>
        <c:barDir val="col"/>
        <c:grouping val="clustered"/>
        <c:varyColors val="0"/>
        <c:ser>
          <c:idx val="0"/>
          <c:order val="0"/>
          <c:tx>
            <c:strRef>
              <c:f>Sheet1!$B$1</c:f>
              <c:strCache>
                <c:ptCount val="1"/>
                <c:pt idx="0">
                  <c:v>Customers</c:v>
                </c:pt>
              </c:strCache>
            </c:strRef>
          </c:tx>
          <c:spPr>
            <a:solidFill>
              <a:srgbClr val="0B2545"/>
            </a:solidFill>
            <a:effectLst/>
          </c:spPr>
          <c:invertIfNegative val="0"/>
          <c:dPt>
            <c:idx val="0"/>
            <c:invertIfNegative val="0"/>
            <c:bubble3D val="0"/>
            <c:extLst>
              <c:ext xmlns:c16="http://schemas.microsoft.com/office/drawing/2014/chart" uri="{C3380CC4-5D6E-409C-BE32-E72D297353CC}">
                <c16:uniqueId val="{00000001-3077-49E8-BDDB-1EC6A09E6686}"/>
              </c:ext>
            </c:extLst>
          </c:dPt>
          <c:dPt>
            <c:idx val="1"/>
            <c:invertIfNegative val="0"/>
            <c:bubble3D val="0"/>
            <c:spPr>
              <a:solidFill>
                <a:srgbClr val="13315C"/>
              </a:solidFill>
              <a:effectLst/>
            </c:spPr>
            <c:extLst>
              <c:ext xmlns:c16="http://schemas.microsoft.com/office/drawing/2014/chart" uri="{C3380CC4-5D6E-409C-BE32-E72D297353CC}">
                <c16:uniqueId val="{00000003-3077-49E8-BDDB-1EC6A09E6686}"/>
              </c:ext>
            </c:extLst>
          </c:dPt>
          <c:dPt>
            <c:idx val="2"/>
            <c:invertIfNegative val="0"/>
            <c:bubble3D val="0"/>
            <c:spPr>
              <a:solidFill>
                <a:srgbClr val="F4A300"/>
              </a:solidFill>
              <a:effectLst/>
            </c:spPr>
            <c:extLst>
              <c:ext xmlns:c16="http://schemas.microsoft.com/office/drawing/2014/chart" uri="{C3380CC4-5D6E-409C-BE32-E72D297353CC}">
                <c16:uniqueId val="{00000005-3077-49E8-BDDB-1EC6A09E6686}"/>
              </c:ext>
            </c:extLst>
          </c:dPt>
          <c:dLbls>
            <c:numFmt formatCode="#,##0" sourceLinked="0"/>
            <c:spPr>
              <a:noFill/>
              <a:ln>
                <a:noFill/>
              </a:ln>
              <a:effectLst/>
            </c:spPr>
            <c:txPr>
              <a:bodyPr/>
              <a:lstStyle/>
              <a:p>
                <a:pPr>
                  <a:defRPr sz="1200" b="1" i="0" u="none" strike="noStrike">
                    <a:solidFill>
                      <a:srgbClr val="0B2545"/>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Low</c:v>
                </c:pt>
                <c:pt idx="1">
                  <c:v>Medium</c:v>
                </c:pt>
                <c:pt idx="2">
                  <c:v>High</c:v>
                </c:pt>
              </c:strCache>
            </c:strRef>
          </c:cat>
          <c:val>
            <c:numRef>
              <c:f>Sheet1!$B$2:$B$4</c:f>
              <c:numCache>
                <c:formatCode>General</c:formatCode>
                <c:ptCount val="3"/>
                <c:pt idx="0">
                  <c:v>5</c:v>
                </c:pt>
                <c:pt idx="1">
                  <c:v>6</c:v>
                </c:pt>
                <c:pt idx="2">
                  <c:v>9</c:v>
                </c:pt>
              </c:numCache>
            </c:numRef>
          </c:val>
          <c:extLst>
            <c:ext xmlns:c16="http://schemas.microsoft.com/office/drawing/2014/chart" uri="{C3380CC4-5D6E-409C-BE32-E72D297353CC}">
              <c16:uniqueId val="{00000006-3077-49E8-BDDB-1EC6A09E6686}"/>
            </c:ext>
          </c:extLst>
        </c:ser>
        <c:dLbls>
          <c:showLegendKey val="0"/>
          <c:showVal val="1"/>
          <c:showCatName val="0"/>
          <c:showSerName val="0"/>
          <c:showPercent val="0"/>
          <c:showBubbleSize val="0"/>
        </c:dLbls>
        <c:gapWidth val="79"/>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5A6B7B"/>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title>
          <c:tx>
            <c:rich>
              <a:bodyPr/>
              <a:lstStyle/>
              <a:p>
                <a:pPr>
                  <a:defRPr b="0" i="0" u="none" strike="noStrike">
                    <a:solidFill>
                      <a:srgbClr val="000000"/>
                    </a:solidFill>
                    <a:latin typeface="Arial"/>
                  </a:defRPr>
                </a:pPr>
                <a:r>
                  <a:rPr lang="en-GB" b="0" i="0" u="none" strike="noStrike">
                    <a:solidFill>
                      <a:srgbClr val="000000"/>
                    </a:solidFill>
                    <a:latin typeface="Arial"/>
                  </a:rPr>
                  <a:t>Customers</a:t>
                </a:r>
              </a:p>
            </c:rich>
          </c:tx>
          <c:overlay val="0"/>
        </c:title>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solidFill>
        <a:schemeClr val="bg2">
          <a:lumMod val="90000"/>
        </a:schemeClr>
      </a:solid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barChart>
        <c:barDir val="col"/>
        <c:grouping val="clustered"/>
        <c:varyColors val="0"/>
        <c:ser>
          <c:idx val="0"/>
          <c:order val="0"/>
          <c:tx>
            <c:strRef>
              <c:f>Sheet1!$B$1</c:f>
              <c:strCache>
                <c:ptCount val="1"/>
                <c:pt idx="0">
                  <c:v>kWh</c:v>
                </c:pt>
              </c:strCache>
            </c:strRef>
          </c:tx>
          <c:spPr>
            <a:solidFill>
              <a:srgbClr val="0B2545"/>
            </a:solidFill>
            <a:effectLst/>
          </c:spPr>
          <c:invertIfNegative val="0"/>
          <c:dPt>
            <c:idx val="0"/>
            <c:invertIfNegative val="0"/>
            <c:bubble3D val="0"/>
            <c:spPr>
              <a:solidFill>
                <a:srgbClr val="F4A300"/>
              </a:solidFill>
              <a:effectLst/>
            </c:spPr>
            <c:extLst>
              <c:ext xmlns:c16="http://schemas.microsoft.com/office/drawing/2014/chart" uri="{C3380CC4-5D6E-409C-BE32-E72D297353CC}">
                <c16:uniqueId val="{00000000-A538-4FA4-9DBA-F6CD6F3C9ECF}"/>
              </c:ext>
            </c:extLst>
          </c:dPt>
          <c:dLbls>
            <c:numFmt formatCode="#,##0" sourceLinked="0"/>
            <c:spPr>
              <a:noFill/>
              <a:ln>
                <a:noFill/>
              </a:ln>
              <a:effectLst/>
            </c:spPr>
            <c:txPr>
              <a:bodyPr/>
              <a:lstStyle/>
              <a:p>
                <a:pPr>
                  <a:defRPr sz="1100" b="1" i="0" u="none" strike="noStrike">
                    <a:solidFill>
                      <a:srgbClr val="0B2545"/>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Industrial Wks</c:v>
                </c:pt>
                <c:pt idx="1">
                  <c:v>Prime Plastics</c:v>
                </c:pt>
                <c:pt idx="2">
                  <c:v>Naija Foods</c:v>
                </c:pt>
                <c:pt idx="3">
                  <c:v>Lakeside Hotel</c:v>
                </c:pt>
              </c:strCache>
            </c:strRef>
          </c:cat>
          <c:val>
            <c:numRef>
              <c:f>Sheet1!$B$2:$B$5</c:f>
              <c:numCache>
                <c:formatCode>General</c:formatCode>
                <c:ptCount val="4"/>
                <c:pt idx="0">
                  <c:v>3600</c:v>
                </c:pt>
                <c:pt idx="1">
                  <c:v>3200</c:v>
                </c:pt>
                <c:pt idx="2">
                  <c:v>2800</c:v>
                </c:pt>
                <c:pt idx="3">
                  <c:v>1750</c:v>
                </c:pt>
              </c:numCache>
            </c:numRef>
          </c:val>
          <c:extLst>
            <c:ext xmlns:c16="http://schemas.microsoft.com/office/drawing/2014/chart" uri="{C3380CC4-5D6E-409C-BE32-E72D297353CC}">
              <c16:uniqueId val="{00000000-6AC7-4315-9D2B-556B88AF3361}"/>
            </c:ext>
          </c:extLst>
        </c:ser>
        <c:dLbls>
          <c:showLegendKey val="0"/>
          <c:showVal val="1"/>
          <c:showCatName val="0"/>
          <c:showSerName val="0"/>
          <c:showPercent val="0"/>
          <c:showBubbleSize val="0"/>
        </c:dLbls>
        <c:gapWidth val="63"/>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950" b="0" i="0" u="none" strike="noStrike">
                <a:solidFill>
                  <a:srgbClr val="5A6B7B"/>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title>
          <c:tx>
            <c:rich>
              <a:bodyPr/>
              <a:lstStyle/>
              <a:p>
                <a:pPr>
                  <a:defRPr b="0" i="0" u="none" strike="noStrike">
                    <a:solidFill>
                      <a:srgbClr val="000000"/>
                    </a:solidFill>
                    <a:latin typeface="Arial"/>
                  </a:defRPr>
                </a:pPr>
                <a:r>
                  <a:rPr lang="en-GB" b="0" i="0" u="none" strike="noStrike">
                    <a:solidFill>
                      <a:srgbClr val="000000"/>
                    </a:solidFill>
                    <a:latin typeface="Arial"/>
                  </a:rPr>
                  <a:t>kWh</a:t>
                </a:r>
              </a:p>
            </c:rich>
          </c:tx>
          <c:overlay val="0"/>
        </c:title>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solidFill>
        <a:schemeClr val="bg1">
          <a:lumMod val="85000"/>
        </a:schemeClr>
      </a:solid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barChart>
        <c:barDir val="col"/>
        <c:grouping val="clustered"/>
        <c:varyColors val="0"/>
        <c:ser>
          <c:idx val="0"/>
          <c:order val="0"/>
          <c:tx>
            <c:strRef>
              <c:f>Sheet1!$B$1</c:f>
              <c:strCache>
                <c:ptCount val="1"/>
                <c:pt idx="0">
                  <c:v>kWh</c:v>
                </c:pt>
              </c:strCache>
            </c:strRef>
          </c:tx>
          <c:spPr>
            <a:solidFill>
              <a:srgbClr val="F4A300"/>
            </a:solidFill>
            <a:effectLst/>
          </c:spPr>
          <c:invertIfNegative val="0"/>
          <c:dPt>
            <c:idx val="0"/>
            <c:invertIfNegative val="0"/>
            <c:bubble3D val="0"/>
            <c:extLst>
              <c:ext xmlns:c16="http://schemas.microsoft.com/office/drawing/2014/chart" uri="{C3380CC4-5D6E-409C-BE32-E72D297353CC}">
                <c16:uniqueId val="{00000001-4FDD-40B5-ADC3-E6A119DA21AB}"/>
              </c:ext>
            </c:extLst>
          </c:dPt>
          <c:dPt>
            <c:idx val="1"/>
            <c:invertIfNegative val="0"/>
            <c:bubble3D val="0"/>
            <c:spPr>
              <a:solidFill>
                <a:srgbClr val="0B2545"/>
              </a:solidFill>
              <a:effectLst/>
            </c:spPr>
            <c:extLst>
              <c:ext xmlns:c16="http://schemas.microsoft.com/office/drawing/2014/chart" uri="{C3380CC4-5D6E-409C-BE32-E72D297353CC}">
                <c16:uniqueId val="{00000003-4FDD-40B5-ADC3-E6A119DA21AB}"/>
              </c:ext>
            </c:extLst>
          </c:dPt>
          <c:dPt>
            <c:idx val="2"/>
            <c:invertIfNegative val="0"/>
            <c:bubble3D val="0"/>
            <c:spPr>
              <a:solidFill>
                <a:srgbClr val="13315C"/>
              </a:solidFill>
              <a:effectLst/>
            </c:spPr>
            <c:extLst>
              <c:ext xmlns:c16="http://schemas.microsoft.com/office/drawing/2014/chart" uri="{C3380CC4-5D6E-409C-BE32-E72D297353CC}">
                <c16:uniqueId val="{00000005-4FDD-40B5-ADC3-E6A119DA21AB}"/>
              </c:ext>
            </c:extLst>
          </c:dPt>
          <c:dLbls>
            <c:numFmt formatCode="#,##0" sourceLinked="0"/>
            <c:spPr>
              <a:noFill/>
              <a:ln>
                <a:noFill/>
              </a:ln>
              <a:effectLst/>
            </c:spPr>
            <c:txPr>
              <a:bodyPr/>
              <a:lstStyle/>
              <a:p>
                <a:pPr>
                  <a:defRPr sz="1200" b="1" i="0" u="none" strike="noStrike">
                    <a:solidFill>
                      <a:srgbClr val="0B2545"/>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Lagos</c:v>
                </c:pt>
                <c:pt idx="1">
                  <c:v>Abuja</c:v>
                </c:pt>
                <c:pt idx="2">
                  <c:v>Ibadan</c:v>
                </c:pt>
              </c:strCache>
            </c:strRef>
          </c:cat>
          <c:val>
            <c:numRef>
              <c:f>Sheet1!$B$2:$B$4</c:f>
              <c:numCache>
                <c:formatCode>General</c:formatCode>
                <c:ptCount val="3"/>
                <c:pt idx="0">
                  <c:v>9760</c:v>
                </c:pt>
                <c:pt idx="1">
                  <c:v>8090</c:v>
                </c:pt>
                <c:pt idx="2">
                  <c:v>6390</c:v>
                </c:pt>
              </c:numCache>
            </c:numRef>
          </c:val>
          <c:extLst>
            <c:ext xmlns:c16="http://schemas.microsoft.com/office/drawing/2014/chart" uri="{C3380CC4-5D6E-409C-BE32-E72D297353CC}">
              <c16:uniqueId val="{00000006-4FDD-40B5-ADC3-E6A119DA21AB}"/>
            </c:ext>
          </c:extLst>
        </c:ser>
        <c:dLbls>
          <c:showLegendKey val="0"/>
          <c:showVal val="1"/>
          <c:showCatName val="0"/>
          <c:showSerName val="0"/>
          <c:showPercent val="0"/>
          <c:showBubbleSize val="0"/>
        </c:dLbls>
        <c:gapWidth val="87"/>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chemeClr val="tx1"/>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title>
          <c:tx>
            <c:rich>
              <a:bodyPr/>
              <a:lstStyle/>
              <a:p>
                <a:pPr>
                  <a:defRPr b="0" i="0" u="none" strike="noStrike">
                    <a:solidFill>
                      <a:srgbClr val="000000"/>
                    </a:solidFill>
                    <a:latin typeface="Arial"/>
                  </a:defRPr>
                </a:pPr>
                <a:r>
                  <a:rPr lang="en-GB" b="0" i="0" u="none" strike="noStrike">
                    <a:solidFill>
                      <a:srgbClr val="000000"/>
                    </a:solidFill>
                    <a:latin typeface="Arial"/>
                  </a:rPr>
                  <a:t>kWh</a:t>
                </a:r>
              </a:p>
            </c:rich>
          </c:tx>
          <c:overlay val="0"/>
        </c:title>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solidFill>
        <a:schemeClr val="bg1">
          <a:lumMod val="85000"/>
        </a:schemeClr>
      </a:solid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barChart>
        <c:barDir val="col"/>
        <c:grouping val="clustered"/>
        <c:varyColors val="0"/>
        <c:ser>
          <c:idx val="0"/>
          <c:order val="0"/>
          <c:tx>
            <c:strRef>
              <c:f>Sheet1!$B$1</c:f>
              <c:strCache>
                <c:ptCount val="1"/>
                <c:pt idx="0">
                  <c:v>kWh</c:v>
                </c:pt>
              </c:strCache>
            </c:strRef>
          </c:tx>
          <c:spPr>
            <a:solidFill>
              <a:srgbClr val="F4A300"/>
            </a:solidFill>
            <a:effectLst/>
          </c:spPr>
          <c:invertIfNegative val="0"/>
          <c:dPt>
            <c:idx val="0"/>
            <c:invertIfNegative val="0"/>
            <c:bubble3D val="0"/>
            <c:spPr>
              <a:solidFill>
                <a:srgbClr val="0B2545"/>
              </a:solidFill>
              <a:effectLst/>
            </c:spPr>
            <c:extLst>
              <c:ext xmlns:c16="http://schemas.microsoft.com/office/drawing/2014/chart" uri="{C3380CC4-5D6E-409C-BE32-E72D297353CC}">
                <c16:uniqueId val="{00000000-E39B-4DE5-A301-295FA99FA113}"/>
              </c:ext>
            </c:extLst>
          </c:dPt>
          <c:dLbls>
            <c:numFmt formatCode="#,##0" sourceLinked="0"/>
            <c:spPr>
              <a:noFill/>
              <a:ln>
                <a:noFill/>
              </a:ln>
              <a:effectLst/>
            </c:spPr>
            <c:txPr>
              <a:bodyPr/>
              <a:lstStyle/>
              <a:p>
                <a:pPr>
                  <a:defRPr sz="950" b="1" i="0" u="none" strike="noStrike">
                    <a:solidFill>
                      <a:srgbClr val="0B2545"/>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Industrial</c:v>
                </c:pt>
                <c:pt idx="1">
                  <c:v>Hospital</c:v>
                </c:pt>
                <c:pt idx="2">
                  <c:v>SME</c:v>
                </c:pt>
                <c:pt idx="3">
                  <c:v>Agric.</c:v>
                </c:pt>
                <c:pt idx="4">
                  <c:v>School</c:v>
                </c:pt>
                <c:pt idx="5">
                  <c:v>Resid.</c:v>
                </c:pt>
              </c:strCache>
            </c:strRef>
          </c:cat>
          <c:val>
            <c:numRef>
              <c:f>Sheet1!$B$2:$B$7</c:f>
              <c:numCache>
                <c:formatCode>General</c:formatCode>
                <c:ptCount val="6"/>
                <c:pt idx="0">
                  <c:v>9600</c:v>
                </c:pt>
                <c:pt idx="1">
                  <c:v>4150</c:v>
                </c:pt>
                <c:pt idx="2">
                  <c:v>4050</c:v>
                </c:pt>
                <c:pt idx="3">
                  <c:v>3580</c:v>
                </c:pt>
                <c:pt idx="4">
                  <c:v>1640</c:v>
                </c:pt>
                <c:pt idx="5">
                  <c:v>1220</c:v>
                </c:pt>
              </c:numCache>
            </c:numRef>
          </c:val>
          <c:extLst>
            <c:ext xmlns:c16="http://schemas.microsoft.com/office/drawing/2014/chart" uri="{C3380CC4-5D6E-409C-BE32-E72D297353CC}">
              <c16:uniqueId val="{00000000-E47E-4C57-AA61-5399AB014156}"/>
            </c:ext>
          </c:extLst>
        </c:ser>
        <c:dLbls>
          <c:showLegendKey val="0"/>
          <c:showVal val="1"/>
          <c:showCatName val="0"/>
          <c:showSerName val="0"/>
          <c:showPercent val="0"/>
          <c:showBubbleSize val="0"/>
        </c:dLbls>
        <c:gapWidth val="23"/>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950" b="0" i="0" u="none" strike="noStrike">
                <a:solidFill>
                  <a:schemeClr val="tx1"/>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title>
          <c:tx>
            <c:rich>
              <a:bodyPr/>
              <a:lstStyle/>
              <a:p>
                <a:pPr>
                  <a:defRPr b="0" i="0" u="none" strike="noStrike">
                    <a:solidFill>
                      <a:srgbClr val="000000"/>
                    </a:solidFill>
                    <a:latin typeface="Arial"/>
                  </a:defRPr>
                </a:pPr>
                <a:r>
                  <a:rPr lang="en-GB" b="0" i="0" u="none" strike="noStrike">
                    <a:solidFill>
                      <a:srgbClr val="000000"/>
                    </a:solidFill>
                    <a:latin typeface="Arial"/>
                  </a:rPr>
                  <a:t>kWh</a:t>
                </a:r>
              </a:p>
            </c:rich>
          </c:tx>
          <c:overlay val="0"/>
        </c:title>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solidFill>
        <a:schemeClr val="bg1">
          <a:lumMod val="85000"/>
        </a:schemeClr>
      </a:solid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lineChart>
        <c:grouping val="standard"/>
        <c:varyColors val="0"/>
        <c:ser>
          <c:idx val="0"/>
          <c:order val="0"/>
          <c:tx>
            <c:strRef>
              <c:f>Sheet1!$B$1</c:f>
              <c:strCache>
                <c:ptCount val="1"/>
                <c:pt idx="0">
                  <c:v>kWh</c:v>
                </c:pt>
              </c:strCache>
            </c:strRef>
          </c:tx>
          <c:spPr>
            <a:ln w="38100" cap="flat">
              <a:solidFill>
                <a:srgbClr val="F4A300"/>
              </a:solidFill>
              <a:prstDash val="solid"/>
              <a:round/>
            </a:ln>
            <a:effectLst/>
          </c:spPr>
          <c:marker>
            <c:symbol val="circle"/>
            <c:size val="7"/>
            <c:spPr>
              <a:solidFill>
                <a:srgbClr val="F4A300"/>
              </a:solidFill>
              <a:ln w="9525" cap="flat">
                <a:solidFill>
                  <a:srgbClr val="F4A300"/>
                </a:solidFill>
                <a:prstDash val="solid"/>
                <a:round/>
              </a:ln>
              <a:effectLst/>
            </c:spPr>
          </c:marker>
          <c:dLbls>
            <c:numFmt formatCode="#,##0" sourceLinked="0"/>
            <c:spPr>
              <a:noFill/>
              <a:ln>
                <a:noFill/>
              </a:ln>
              <a:effectLst/>
            </c:spPr>
            <c:txPr>
              <a:bodyPr/>
              <a:lstStyle/>
              <a:p>
                <a:pPr>
                  <a:defRPr sz="1000" b="1" i="0" u="none" strike="noStrike">
                    <a:solidFill>
                      <a:srgbClr val="0B2545"/>
                    </a:solidFill>
                    <a:latin typeface="Arial"/>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Jan</c:v>
                </c:pt>
                <c:pt idx="1">
                  <c:v>Feb</c:v>
                </c:pt>
                <c:pt idx="2">
                  <c:v>Mar</c:v>
                </c:pt>
                <c:pt idx="3">
                  <c:v>Apr</c:v>
                </c:pt>
                <c:pt idx="4">
                  <c:v>May</c:v>
                </c:pt>
                <c:pt idx="5">
                  <c:v>Jun</c:v>
                </c:pt>
              </c:strCache>
            </c:strRef>
          </c:cat>
          <c:val>
            <c:numRef>
              <c:f>Sheet1!$B$2:$B$7</c:f>
              <c:numCache>
                <c:formatCode>General</c:formatCode>
                <c:ptCount val="6"/>
                <c:pt idx="0">
                  <c:v>2580</c:v>
                </c:pt>
                <c:pt idx="1">
                  <c:v>1940</c:v>
                </c:pt>
                <c:pt idx="2">
                  <c:v>6050</c:v>
                </c:pt>
                <c:pt idx="3">
                  <c:v>2200</c:v>
                </c:pt>
                <c:pt idx="4">
                  <c:v>3750</c:v>
                </c:pt>
                <c:pt idx="5">
                  <c:v>7720</c:v>
                </c:pt>
              </c:numCache>
            </c:numRef>
          </c:val>
          <c:smooth val="0"/>
          <c:extLst>
            <c:ext xmlns:c16="http://schemas.microsoft.com/office/drawing/2014/chart" uri="{C3380CC4-5D6E-409C-BE32-E72D297353CC}">
              <c16:uniqueId val="{00000000-605F-43EA-ACD3-1C2F6803163A}"/>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chemeClr val="tx1"/>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majorGridlines>
          <c:spPr>
            <a:ln w="12700" cap="flat">
              <a:solidFill>
                <a:srgbClr val="E2E8F0"/>
              </a:solidFill>
              <a:prstDash val="solid"/>
              <a:round/>
            </a:ln>
          </c:spPr>
        </c:majorGridlines>
        <c:title>
          <c:tx>
            <c:rich>
              <a:bodyPr/>
              <a:lstStyle/>
              <a:p>
                <a:pPr>
                  <a:defRPr b="0" i="0" u="none" strike="noStrike">
                    <a:solidFill>
                      <a:srgbClr val="000000"/>
                    </a:solidFill>
                    <a:latin typeface="Arial"/>
                  </a:defRPr>
                </a:pPr>
                <a:r>
                  <a:rPr lang="en-GB" b="0" i="0" u="none" strike="noStrike">
                    <a:solidFill>
                      <a:srgbClr val="000000"/>
                    </a:solidFill>
                    <a:latin typeface="Arial"/>
                  </a:rPr>
                  <a:t>kWh</a:t>
                </a:r>
              </a:p>
            </c:rich>
          </c:tx>
          <c:overlay val="0"/>
        </c:title>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solidFill>
        <a:schemeClr val="bg1">
          <a:lumMod val="85000"/>
        </a:schemeClr>
      </a:solid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doughnutChart>
        <c:varyColors val="1"/>
        <c:ser>
          <c:idx val="0"/>
          <c:order val="0"/>
          <c:tx>
            <c:strRef>
              <c:f>Sheet1!$B$1</c:f>
              <c:strCache>
                <c:ptCount val="1"/>
                <c:pt idx="0">
                  <c:v>Share of Consumption</c:v>
                </c:pt>
              </c:strCache>
            </c:strRef>
          </c:tx>
          <c:spPr>
            <a:solidFill>
              <a:schemeClr val="accent1"/>
            </a:solidFill>
            <a:ln w="9525" cap="flat">
              <a:solidFill>
                <a:srgbClr val="F9F9F9"/>
              </a:solidFill>
              <a:prstDash val="solid"/>
              <a:round/>
            </a:ln>
            <a:effectLst/>
          </c:spPr>
          <c:dPt>
            <c:idx val="0"/>
            <c:bubble3D val="0"/>
            <c:spPr>
              <a:solidFill>
                <a:srgbClr val="0B2545"/>
              </a:solidFill>
              <a:effectLst/>
            </c:spPr>
            <c:extLst>
              <c:ext xmlns:c16="http://schemas.microsoft.com/office/drawing/2014/chart" uri="{C3380CC4-5D6E-409C-BE32-E72D297353CC}">
                <c16:uniqueId val="{00000001-4A63-433D-B4F0-93628BDB48DF}"/>
              </c:ext>
            </c:extLst>
          </c:dPt>
          <c:dPt>
            <c:idx val="1"/>
            <c:bubble3D val="0"/>
            <c:spPr>
              <a:solidFill>
                <a:srgbClr val="F4A300"/>
              </a:solidFill>
              <a:effectLst/>
            </c:spPr>
            <c:extLst>
              <c:ext xmlns:c16="http://schemas.microsoft.com/office/drawing/2014/chart" uri="{C3380CC4-5D6E-409C-BE32-E72D297353CC}">
                <c16:uniqueId val="{00000003-4A63-433D-B4F0-93628BDB48DF}"/>
              </c:ext>
            </c:extLst>
          </c:dPt>
          <c:dLbls>
            <c:dLbl>
              <c:idx val="0"/>
              <c:numFmt formatCode="0%" sourceLinked="0"/>
              <c:spPr/>
              <c:txPr>
                <a:bodyPr/>
                <a:lstStyle/>
                <a:p>
                  <a:pPr>
                    <a:defRPr sz="1300" b="1"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4A63-433D-B4F0-93628BDB48DF}"/>
                </c:ext>
              </c:extLst>
            </c:dLbl>
            <c:dLbl>
              <c:idx val="1"/>
              <c:numFmt formatCode="0%" sourceLinked="0"/>
              <c:spPr/>
              <c:txPr>
                <a:bodyPr/>
                <a:lstStyle/>
                <a:p>
                  <a:pPr>
                    <a:defRPr sz="1300" b="1"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4A63-433D-B4F0-93628BDB48DF}"/>
                </c:ext>
              </c:extLst>
            </c:dLbl>
            <c:numFmt formatCode="0%" sourceLinked="0"/>
            <c:spPr>
              <a:noFill/>
              <a:ln>
                <a:noFill/>
              </a:ln>
              <a:effectLst/>
            </c:spPr>
            <c:txPr>
              <a:bodyPr/>
              <a:lstStyle/>
              <a:p>
                <a:pPr>
                  <a:defRPr sz="1800" b="1"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Sheet1!$A$2:$A$3</c:f>
              <c:strCache>
                <c:ptCount val="2"/>
                <c:pt idx="0">
                  <c:v>Low Outage (71%)</c:v>
                </c:pt>
                <c:pt idx="1">
                  <c:v>High Outage (29%)</c:v>
                </c:pt>
              </c:strCache>
            </c:strRef>
          </c:cat>
          <c:val>
            <c:numRef>
              <c:f>Sheet1!$B$2:$B$3</c:f>
              <c:numCache>
                <c:formatCode>General</c:formatCode>
                <c:ptCount val="2"/>
                <c:pt idx="0">
                  <c:v>71</c:v>
                </c:pt>
                <c:pt idx="1">
                  <c:v>29</c:v>
                </c:pt>
              </c:numCache>
            </c:numRef>
          </c:val>
          <c:extLst>
            <c:ext xmlns:c16="http://schemas.microsoft.com/office/drawing/2014/chart" uri="{C3380CC4-5D6E-409C-BE32-E72D297353CC}">
              <c16:uniqueId val="{00000004-4A63-433D-B4F0-93628BDB48DF}"/>
            </c:ext>
          </c:extLst>
        </c:ser>
        <c:dLbls>
          <c:showLegendKey val="0"/>
          <c:showVal val="0"/>
          <c:showCatName val="0"/>
          <c:showSerName val="0"/>
          <c:showPercent val="0"/>
          <c:showBubbleSize val="0"/>
          <c:showLeaderLines val="0"/>
        </c:dLbls>
        <c:firstSliceAng val="0"/>
        <c:holeSize val="50"/>
      </c:doughnutChart>
      <c:spPr>
        <a:noFill/>
        <a:ln>
          <a:noFill/>
        </a:ln>
        <a:effectLst/>
      </c:spPr>
    </c:plotArea>
    <c:legend>
      <c:legendPos val="b"/>
      <c:overlay val="0"/>
      <c:txPr>
        <a:bodyPr/>
        <a:lstStyle/>
        <a:p>
          <a:pPr>
            <a:defRPr sz="1100">
              <a:solidFill>
                <a:srgbClr val="0B2545"/>
              </a:solidFill>
            </a:defRPr>
          </a:pPr>
          <a:endParaRPr lang="en-US"/>
        </a:p>
      </c:txPr>
    </c:legend>
    <c:plotVisOnly val="1"/>
    <c:dispBlanksAs val="span"/>
    <c:showDLblsOverMax val="1"/>
  </c:chart>
  <c:spPr>
    <a:noFill/>
    <a:ln>
      <a:solidFill>
        <a:schemeClr val="bg1">
          <a:lumMod val="85000"/>
        </a:schemeClr>
      </a:solid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31087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07/relationships/hdphoto" Target="../media/hdphoto3.wdp"/><Relationship Id="rId13" Type="http://schemas.openxmlformats.org/officeDocument/2006/relationships/image" Target="../media/image7.png"/><Relationship Id="rId18" Type="http://schemas.microsoft.com/office/2007/relationships/hdphoto" Target="../media/hdphoto8.wdp"/><Relationship Id="rId3" Type="http://schemas.openxmlformats.org/officeDocument/2006/relationships/image" Target="../media/image2.png"/><Relationship Id="rId7" Type="http://schemas.openxmlformats.org/officeDocument/2006/relationships/image" Target="../media/image4.png"/><Relationship Id="rId12" Type="http://schemas.microsoft.com/office/2007/relationships/hdphoto" Target="../media/hdphoto5.wdp"/><Relationship Id="rId17" Type="http://schemas.openxmlformats.org/officeDocument/2006/relationships/image" Target="../media/image9.png"/><Relationship Id="rId2" Type="http://schemas.openxmlformats.org/officeDocument/2006/relationships/notesSlide" Target="../notesSlides/notesSlide2.xml"/><Relationship Id="rId16" Type="http://schemas.microsoft.com/office/2007/relationships/hdphoto" Target="../media/hdphoto7.wdp"/><Relationship Id="rId1" Type="http://schemas.openxmlformats.org/officeDocument/2006/relationships/slideLayout" Target="../slideLayouts/slideLayout1.xml"/><Relationship Id="rId6" Type="http://schemas.microsoft.com/office/2007/relationships/hdphoto" Target="../media/hdphoto2.wdp"/><Relationship Id="rId11" Type="http://schemas.openxmlformats.org/officeDocument/2006/relationships/image" Target="../media/image6.png"/><Relationship Id="rId5" Type="http://schemas.openxmlformats.org/officeDocument/2006/relationships/image" Target="../media/image3.png"/><Relationship Id="rId15" Type="http://schemas.openxmlformats.org/officeDocument/2006/relationships/image" Target="../media/image8.png"/><Relationship Id="rId10" Type="http://schemas.microsoft.com/office/2007/relationships/hdphoto" Target="../media/hdphoto4.wdp"/><Relationship Id="rId4" Type="http://schemas.microsoft.com/office/2007/relationships/hdphoto" Target="../media/hdphoto1.wdp"/><Relationship Id="rId9" Type="http://schemas.openxmlformats.org/officeDocument/2006/relationships/image" Target="../media/image5.png"/><Relationship Id="rId14" Type="http://schemas.microsoft.com/office/2007/relationships/hdphoto" Target="../media/hdphoto6.wdp"/></Relationships>
</file>

<file path=ppt/slides/_rels/slide3.xml.rels><?xml version="1.0" encoding="UTF-8" standalone="yes"?>
<Relationships xmlns="http://schemas.openxmlformats.org/package/2006/relationships"><Relationship Id="rId8" Type="http://schemas.microsoft.com/office/2007/relationships/hdphoto" Target="../media/hdphoto5.wdp"/><Relationship Id="rId3" Type="http://schemas.openxmlformats.org/officeDocument/2006/relationships/image" Target="../media/image10.png"/><Relationship Id="rId7"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microsoft.com/office/2007/relationships/hdphoto" Target="../media/hdphoto10.wdp"/><Relationship Id="rId5" Type="http://schemas.openxmlformats.org/officeDocument/2006/relationships/image" Target="../media/image11.png"/><Relationship Id="rId4" Type="http://schemas.microsoft.com/office/2007/relationships/hdphoto" Target="../media/hdphoto9.wdp"/></Relationships>
</file>

<file path=ppt/slides/_rels/slide4.xml.rels><?xml version="1.0" encoding="UTF-8" standalone="yes"?>
<Relationships xmlns="http://schemas.openxmlformats.org/package/2006/relationships"><Relationship Id="rId8" Type="http://schemas.openxmlformats.org/officeDocument/2006/relationships/image" Target="../media/image6.png"/><Relationship Id="rId13" Type="http://schemas.microsoft.com/office/2007/relationships/hdphoto" Target="../media/hdphoto12.wdp"/><Relationship Id="rId18" Type="http://schemas.openxmlformats.org/officeDocument/2006/relationships/image" Target="../media/image5.png"/><Relationship Id="rId3" Type="http://schemas.openxmlformats.org/officeDocument/2006/relationships/image" Target="../media/image12.png"/><Relationship Id="rId7" Type="http://schemas.microsoft.com/office/2007/relationships/hdphoto" Target="../media/hdphoto8.wdp"/><Relationship Id="rId12" Type="http://schemas.openxmlformats.org/officeDocument/2006/relationships/image" Target="../media/image14.png"/><Relationship Id="rId17" Type="http://schemas.microsoft.com/office/2007/relationships/hdphoto" Target="../media/hdphoto14.wdp"/><Relationship Id="rId2" Type="http://schemas.openxmlformats.org/officeDocument/2006/relationships/notesSlide" Target="../notesSlides/notesSlide4.xml"/><Relationship Id="rId16" Type="http://schemas.openxmlformats.org/officeDocument/2006/relationships/image" Target="../media/image16.png"/><Relationship Id="rId1" Type="http://schemas.openxmlformats.org/officeDocument/2006/relationships/slideLayout" Target="../slideLayouts/slideLayout1.xml"/><Relationship Id="rId6" Type="http://schemas.openxmlformats.org/officeDocument/2006/relationships/image" Target="../media/image9.png"/><Relationship Id="rId11" Type="http://schemas.microsoft.com/office/2007/relationships/hdphoto" Target="../media/hdphoto11.wdp"/><Relationship Id="rId5" Type="http://schemas.microsoft.com/office/2007/relationships/hdphoto" Target="../media/hdphoto3.wdp"/><Relationship Id="rId15" Type="http://schemas.microsoft.com/office/2007/relationships/hdphoto" Target="../media/hdphoto13.wdp"/><Relationship Id="rId10" Type="http://schemas.openxmlformats.org/officeDocument/2006/relationships/image" Target="../media/image13.png"/><Relationship Id="rId19" Type="http://schemas.microsoft.com/office/2007/relationships/hdphoto" Target="../media/hdphoto4.wdp"/><Relationship Id="rId4" Type="http://schemas.openxmlformats.org/officeDocument/2006/relationships/image" Target="../media/image4.png"/><Relationship Id="rId9" Type="http://schemas.microsoft.com/office/2007/relationships/hdphoto" Target="../media/hdphoto5.wdp"/><Relationship Id="rId14" Type="http://schemas.openxmlformats.org/officeDocument/2006/relationships/image" Target="../media/image15.png"/></Relationships>
</file>

<file path=ppt/slides/_rels/slide5.xml.rels><?xml version="1.0" encoding="UTF-8" standalone="yes"?>
<Relationships xmlns="http://schemas.openxmlformats.org/package/2006/relationships"><Relationship Id="rId8" Type="http://schemas.microsoft.com/office/2007/relationships/hdphoto" Target="../media/hdphoto16.wdp"/><Relationship Id="rId13" Type="http://schemas.openxmlformats.org/officeDocument/2006/relationships/image" Target="../media/image19.png"/><Relationship Id="rId3" Type="http://schemas.openxmlformats.org/officeDocument/2006/relationships/image" Target="../media/image11.png"/><Relationship Id="rId7" Type="http://schemas.openxmlformats.org/officeDocument/2006/relationships/image" Target="../media/image18.png"/><Relationship Id="rId12" Type="http://schemas.microsoft.com/office/2007/relationships/hdphoto" Target="../media/hdphoto11.wdp"/><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microsoft.com/office/2007/relationships/hdphoto" Target="../media/hdphoto15.wdp"/><Relationship Id="rId11" Type="http://schemas.openxmlformats.org/officeDocument/2006/relationships/image" Target="../media/image13.png"/><Relationship Id="rId5" Type="http://schemas.openxmlformats.org/officeDocument/2006/relationships/image" Target="../media/image17.png"/><Relationship Id="rId10" Type="http://schemas.microsoft.com/office/2007/relationships/hdphoto" Target="../media/hdphoto12.wdp"/><Relationship Id="rId4" Type="http://schemas.microsoft.com/office/2007/relationships/hdphoto" Target="../media/hdphoto10.wdp"/><Relationship Id="rId9" Type="http://schemas.openxmlformats.org/officeDocument/2006/relationships/image" Target="../media/image14.png"/><Relationship Id="rId14" Type="http://schemas.microsoft.com/office/2007/relationships/hdphoto" Target="../media/hdphoto17.wdp"/></Relationships>
</file>

<file path=ppt/slides/_rels/slide6.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3.png"/><Relationship Id="rId11" Type="http://schemas.microsoft.com/office/2007/relationships/hdphoto" Target="../media/hdphoto12.wdp"/><Relationship Id="rId5" Type="http://schemas.openxmlformats.org/officeDocument/2006/relationships/image" Target="../media/image22.png"/><Relationship Id="rId10" Type="http://schemas.openxmlformats.org/officeDocument/2006/relationships/image" Target="../media/image14.png"/><Relationship Id="rId4" Type="http://schemas.openxmlformats.org/officeDocument/2006/relationships/image" Target="../media/image21.png"/><Relationship Id="rId9" Type="http://schemas.openxmlformats.org/officeDocument/2006/relationships/image" Target="../media/image26.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11.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chart" Target="../charts/chart4.xml"/></Relationships>
</file>

<file path=ppt/slides/_rels/slide12.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chart" Target="../charts/chart6.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36.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8" Type="http://schemas.microsoft.com/office/2007/relationships/hdphoto" Target="../media/hdphoto13.wdp"/><Relationship Id="rId13" Type="http://schemas.openxmlformats.org/officeDocument/2006/relationships/image" Target="../media/image6.png"/><Relationship Id="rId3" Type="http://schemas.openxmlformats.org/officeDocument/2006/relationships/image" Target="../media/image17.png"/><Relationship Id="rId7" Type="http://schemas.openxmlformats.org/officeDocument/2006/relationships/image" Target="../media/image15.png"/><Relationship Id="rId12" Type="http://schemas.microsoft.com/office/2007/relationships/hdphoto" Target="../media/hdphoto7.wdp"/><Relationship Id="rId2" Type="http://schemas.openxmlformats.org/officeDocument/2006/relationships/notesSlide" Target="../notesSlides/notesSlide14.xml"/><Relationship Id="rId16" Type="http://schemas.microsoft.com/office/2007/relationships/hdphoto" Target="../media/hdphoto3.wdp"/><Relationship Id="rId1" Type="http://schemas.openxmlformats.org/officeDocument/2006/relationships/slideLayout" Target="../slideLayouts/slideLayout1.xml"/><Relationship Id="rId6" Type="http://schemas.microsoft.com/office/2007/relationships/hdphoto" Target="../media/hdphoto2.wdp"/><Relationship Id="rId11" Type="http://schemas.openxmlformats.org/officeDocument/2006/relationships/image" Target="../media/image8.png"/><Relationship Id="rId5" Type="http://schemas.openxmlformats.org/officeDocument/2006/relationships/image" Target="../media/image3.png"/><Relationship Id="rId15" Type="http://schemas.openxmlformats.org/officeDocument/2006/relationships/image" Target="../media/image4.png"/><Relationship Id="rId10" Type="http://schemas.microsoft.com/office/2007/relationships/hdphoto" Target="../media/hdphoto16.wdp"/><Relationship Id="rId4" Type="http://schemas.microsoft.com/office/2007/relationships/hdphoto" Target="../media/hdphoto15.wdp"/><Relationship Id="rId9" Type="http://schemas.openxmlformats.org/officeDocument/2006/relationships/image" Target="../media/image18.png"/><Relationship Id="rId14" Type="http://schemas.microsoft.com/office/2007/relationships/hdphoto" Target="../media/hdphoto5.wdp"/></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B2545"/>
          </a:solidFill>
          <a:ln/>
        </p:spPr>
        <p:txBody>
          <a:bodyPr/>
          <a:lstStyle/>
          <a:p>
            <a:endParaRPr lang="en-NG"/>
          </a:p>
        </p:txBody>
      </p:sp>
      <p:sp>
        <p:nvSpPr>
          <p:cNvPr id="3" name="Shape 1"/>
          <p:cNvSpPr/>
          <p:nvPr/>
        </p:nvSpPr>
        <p:spPr>
          <a:xfrm>
            <a:off x="9052560" y="-2011680"/>
            <a:ext cx="5943600" cy="5943600"/>
          </a:xfrm>
          <a:prstGeom prst="ellipse">
            <a:avLst/>
          </a:prstGeom>
          <a:solidFill>
            <a:srgbClr val="13315C"/>
          </a:solidFill>
          <a:ln/>
        </p:spPr>
        <p:txBody>
          <a:bodyPr/>
          <a:lstStyle/>
          <a:p>
            <a:endParaRPr lang="en-NG"/>
          </a:p>
        </p:txBody>
      </p:sp>
      <p:sp>
        <p:nvSpPr>
          <p:cNvPr id="4" name="Shape 2"/>
          <p:cNvSpPr/>
          <p:nvPr/>
        </p:nvSpPr>
        <p:spPr>
          <a:xfrm>
            <a:off x="10607040" y="4206240"/>
            <a:ext cx="3657600" cy="3657600"/>
          </a:xfrm>
          <a:prstGeom prst="ellipse">
            <a:avLst/>
          </a:prstGeom>
          <a:solidFill>
            <a:srgbClr val="0E2E52"/>
          </a:solidFill>
          <a:ln/>
        </p:spPr>
        <p:txBody>
          <a:bodyPr/>
          <a:lstStyle/>
          <a:p>
            <a:endParaRPr lang="en-NG"/>
          </a:p>
        </p:txBody>
      </p:sp>
      <p:sp>
        <p:nvSpPr>
          <p:cNvPr id="5" name="Shape 3"/>
          <p:cNvSpPr/>
          <p:nvPr/>
        </p:nvSpPr>
        <p:spPr>
          <a:xfrm>
            <a:off x="822960" y="685800"/>
            <a:ext cx="868680" cy="868680"/>
          </a:xfrm>
          <a:prstGeom prst="ellipse">
            <a:avLst/>
          </a:prstGeom>
          <a:solidFill>
            <a:srgbClr val="F4A300"/>
          </a:solidFill>
          <a:ln/>
        </p:spPr>
        <p:txBody>
          <a:bodyPr/>
          <a:lstStyle/>
          <a:p>
            <a:endParaRPr lang="en-NG"/>
          </a:p>
        </p:txBody>
      </p:sp>
      <p:pic>
        <p:nvPicPr>
          <p:cNvPr id="6" name="Image 0" descr="icons/bolt_0B2545.png"/>
          <p:cNvPicPr>
            <a:picLocks noChangeAspect="1"/>
          </p:cNvPicPr>
          <p:nvPr/>
        </p:nvPicPr>
        <p:blipFill>
          <a:blip r:embed="rId3"/>
          <a:stretch>
            <a:fillRect/>
          </a:stretch>
        </p:blipFill>
        <p:spPr>
          <a:xfrm>
            <a:off x="1150417" y="957377"/>
            <a:ext cx="416966" cy="416966"/>
          </a:xfrm>
          <a:prstGeom prst="rect">
            <a:avLst/>
          </a:prstGeom>
        </p:spPr>
      </p:pic>
      <p:sp>
        <p:nvSpPr>
          <p:cNvPr id="7" name="Text 4"/>
          <p:cNvSpPr txBox="1"/>
          <p:nvPr/>
        </p:nvSpPr>
        <p:spPr>
          <a:xfrm>
            <a:off x="822960" y="2331720"/>
            <a:ext cx="8229600" cy="365760"/>
          </a:xfrm>
          <a:prstGeom prst="rect">
            <a:avLst/>
          </a:prstGeom>
          <a:noFill/>
          <a:ln/>
        </p:spPr>
        <p:txBody>
          <a:bodyPr wrap="square" rtlCol="0" anchor="ctr"/>
          <a:lstStyle/>
          <a:p>
            <a:pPr marL="0" indent="0">
              <a:buNone/>
            </a:pPr>
            <a:r>
              <a:rPr lang="en-US" sz="1500" b="1" kern="0" spc="300" dirty="0">
                <a:solidFill>
                  <a:srgbClr val="F4A300"/>
                </a:solidFill>
                <a:latin typeface="Calibri" pitchFamily="34" charset="0"/>
                <a:ea typeface="Calibri" pitchFamily="34" charset="-122"/>
                <a:cs typeface="Calibri" pitchFamily="34" charset="-120"/>
              </a:rPr>
              <a:t>A PYTHON PROJECT ON</a:t>
            </a:r>
            <a:endParaRPr lang="en-US" sz="1500" dirty="0"/>
          </a:p>
        </p:txBody>
      </p:sp>
      <p:sp>
        <p:nvSpPr>
          <p:cNvPr id="8" name="Text 5"/>
          <p:cNvSpPr txBox="1"/>
          <p:nvPr/>
        </p:nvSpPr>
        <p:spPr>
          <a:xfrm>
            <a:off x="822960" y="2697480"/>
            <a:ext cx="9875520" cy="1188720"/>
          </a:xfrm>
          <a:prstGeom prst="rect">
            <a:avLst/>
          </a:prstGeom>
          <a:noFill/>
          <a:ln/>
        </p:spPr>
        <p:txBody>
          <a:bodyPr wrap="square" rtlCol="0" anchor="ctr"/>
          <a:lstStyle/>
          <a:p>
            <a:pPr marL="0" indent="0">
              <a:buNone/>
            </a:pPr>
            <a:r>
              <a:rPr lang="en-US" sz="4200" b="1" dirty="0">
                <a:solidFill>
                  <a:srgbClr val="FFFFFF"/>
                </a:solidFill>
                <a:latin typeface="Cambria" pitchFamily="34" charset="0"/>
                <a:ea typeface="Cambria" pitchFamily="34" charset="-122"/>
                <a:cs typeface="Cambria" pitchFamily="34" charset="-120"/>
              </a:rPr>
              <a:t>Energy Consumption Analysis System</a:t>
            </a:r>
            <a:endParaRPr lang="en-US" sz="4200" dirty="0"/>
          </a:p>
        </p:txBody>
      </p:sp>
      <p:sp>
        <p:nvSpPr>
          <p:cNvPr id="9" name="Text 6"/>
          <p:cNvSpPr txBox="1"/>
          <p:nvPr/>
        </p:nvSpPr>
        <p:spPr>
          <a:xfrm>
            <a:off x="822960" y="3703320"/>
            <a:ext cx="9144000" cy="502920"/>
          </a:xfrm>
          <a:prstGeom prst="rect">
            <a:avLst/>
          </a:prstGeom>
          <a:noFill/>
          <a:ln/>
        </p:spPr>
        <p:txBody>
          <a:bodyPr wrap="square" rtlCol="0" anchor="ctr"/>
          <a:lstStyle/>
          <a:p>
            <a:pPr marL="0" indent="0">
              <a:buNone/>
            </a:pPr>
            <a:r>
              <a:rPr lang="en-US" sz="2000" i="1" dirty="0">
                <a:solidFill>
                  <a:srgbClr val="CADCFC"/>
                </a:solidFill>
                <a:latin typeface="Cambria" pitchFamily="34" charset="0"/>
                <a:ea typeface="Cambria" pitchFamily="34" charset="-122"/>
                <a:cs typeface="Cambria" pitchFamily="34" charset="-120"/>
              </a:rPr>
              <a:t>for a Nigerian Energy Company</a:t>
            </a:r>
            <a:endParaRPr lang="en-US" sz="2000" dirty="0"/>
          </a:p>
        </p:txBody>
      </p:sp>
      <p:sp>
        <p:nvSpPr>
          <p:cNvPr id="10" name="Shape 7"/>
          <p:cNvSpPr/>
          <p:nvPr/>
        </p:nvSpPr>
        <p:spPr>
          <a:xfrm>
            <a:off x="822960" y="4434840"/>
            <a:ext cx="3840480" cy="0"/>
          </a:xfrm>
          <a:prstGeom prst="line">
            <a:avLst/>
          </a:prstGeom>
          <a:noFill/>
          <a:ln w="25400">
            <a:solidFill>
              <a:srgbClr val="F4A300"/>
            </a:solidFill>
            <a:prstDash val="solid"/>
          </a:ln>
        </p:spPr>
        <p:txBody>
          <a:bodyPr/>
          <a:lstStyle/>
          <a:p>
            <a:endParaRPr lang="en-NG"/>
          </a:p>
        </p:txBody>
      </p:sp>
      <p:sp>
        <p:nvSpPr>
          <p:cNvPr id="11" name="Text 8"/>
          <p:cNvSpPr txBox="1"/>
          <p:nvPr/>
        </p:nvSpPr>
        <p:spPr>
          <a:xfrm>
            <a:off x="822960" y="4709160"/>
            <a:ext cx="5486400" cy="274320"/>
          </a:xfrm>
          <a:prstGeom prst="rect">
            <a:avLst/>
          </a:prstGeom>
          <a:noFill/>
          <a:ln/>
        </p:spPr>
        <p:txBody>
          <a:bodyPr wrap="square" rtlCol="0" anchor="ctr"/>
          <a:lstStyle/>
          <a:p>
            <a:pPr marL="0" indent="0">
              <a:buNone/>
            </a:pPr>
            <a:r>
              <a:rPr lang="en-US" sz="1100" b="1" kern="0" spc="200" dirty="0">
                <a:solidFill>
                  <a:srgbClr val="F4A300"/>
                </a:solidFill>
                <a:latin typeface="Calibri" pitchFamily="34" charset="0"/>
                <a:ea typeface="Calibri" pitchFamily="34" charset="-122"/>
                <a:cs typeface="Calibri" pitchFamily="34" charset="-120"/>
              </a:rPr>
              <a:t>DEVELOPED BY  •  TEAM A</a:t>
            </a:r>
            <a:endParaRPr lang="en-US" sz="1100" dirty="0"/>
          </a:p>
        </p:txBody>
      </p:sp>
      <p:sp>
        <p:nvSpPr>
          <p:cNvPr id="12" name="Text 9"/>
          <p:cNvSpPr txBox="1"/>
          <p:nvPr/>
        </p:nvSpPr>
        <p:spPr>
          <a:xfrm>
            <a:off x="822960" y="5010912"/>
            <a:ext cx="10058400" cy="457200"/>
          </a:xfrm>
          <a:prstGeom prst="rect">
            <a:avLst/>
          </a:prstGeom>
          <a:noFill/>
          <a:ln/>
        </p:spPr>
        <p:txBody>
          <a:bodyPr wrap="square" rtlCol="0" anchor="ctr"/>
          <a:lstStyle/>
          <a:p>
            <a:pPr marL="0" indent="0">
              <a:buNone/>
            </a:pPr>
            <a:r>
              <a:rPr lang="en-US" sz="1400" dirty="0">
                <a:solidFill>
                  <a:srgbClr val="FFFFFF"/>
                </a:solidFill>
                <a:latin typeface="Calibri" pitchFamily="34" charset="0"/>
                <a:ea typeface="Calibri" pitchFamily="34" charset="-122"/>
                <a:cs typeface="Calibri" pitchFamily="34" charset="-120"/>
              </a:rPr>
              <a:t>Gomes Vivian  •  Oseni Latifat  •  Ismaila Ainoko Aminu  •  Ositadinma Chigozie</a:t>
            </a:r>
            <a:endParaRPr lang="en-US" sz="1400" dirty="0"/>
          </a:p>
        </p:txBody>
      </p:sp>
      <p:sp>
        <p:nvSpPr>
          <p:cNvPr id="13" name="Text 10"/>
          <p:cNvSpPr txBox="1"/>
          <p:nvPr/>
        </p:nvSpPr>
        <p:spPr>
          <a:xfrm>
            <a:off x="822960" y="6263640"/>
            <a:ext cx="9144000" cy="320040"/>
          </a:xfrm>
          <a:prstGeom prst="rect">
            <a:avLst/>
          </a:prstGeom>
          <a:noFill/>
          <a:ln/>
        </p:spPr>
        <p:txBody>
          <a:bodyPr wrap="square" rtlCol="0" anchor="ctr"/>
          <a:lstStyle/>
          <a:p>
            <a:pPr marL="0" indent="0">
              <a:buNone/>
            </a:pPr>
            <a:r>
              <a:rPr lang="en-US" sz="1100" i="1" dirty="0">
                <a:solidFill>
                  <a:srgbClr val="9FB3D9"/>
                </a:solidFill>
                <a:latin typeface="Calibri" pitchFamily="34" charset="0"/>
                <a:ea typeface="Calibri" pitchFamily="34" charset="-122"/>
                <a:cs typeface="Calibri" pitchFamily="34" charset="-120"/>
              </a:rPr>
              <a:t>Python Study Group SmartBixCrux  •  September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C"/>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292608"/>
          </a:xfrm>
          <a:prstGeom prst="rect">
            <a:avLst/>
          </a:prstGeom>
          <a:noFill/>
          <a:ln/>
        </p:spPr>
        <p:txBody>
          <a:bodyPr wrap="square" rtlCol="0" anchor="ctr"/>
          <a:lstStyle/>
          <a:p>
            <a:pPr marL="0" indent="0">
              <a:buNone/>
            </a:pPr>
            <a:r>
              <a:rPr lang="en-US" sz="1400" b="1" kern="0" spc="200" dirty="0">
                <a:solidFill>
                  <a:srgbClr val="F4A300"/>
                </a:solidFill>
                <a:latin typeface="Calibri" pitchFamily="34" charset="0"/>
                <a:ea typeface="Calibri" pitchFamily="34" charset="-122"/>
                <a:cs typeface="Calibri" pitchFamily="34" charset="-120"/>
              </a:rPr>
              <a:t>WHAT WE'LL COVER</a:t>
            </a:r>
            <a:endParaRPr lang="en-US" sz="1400" dirty="0"/>
          </a:p>
        </p:txBody>
      </p:sp>
      <p:sp>
        <p:nvSpPr>
          <p:cNvPr id="3" name="Text 1"/>
          <p:cNvSpPr txBox="1"/>
          <p:nvPr/>
        </p:nvSpPr>
        <p:spPr>
          <a:xfrm>
            <a:off x="548640" y="658368"/>
            <a:ext cx="10607040" cy="731520"/>
          </a:xfrm>
          <a:prstGeom prst="rect">
            <a:avLst/>
          </a:prstGeom>
          <a:noFill/>
          <a:ln/>
        </p:spPr>
        <p:txBody>
          <a:bodyPr wrap="square"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Presentation Roadmap</a:t>
            </a:r>
            <a:endParaRPr lang="en-US" sz="3000" dirty="0"/>
          </a:p>
        </p:txBody>
      </p:sp>
      <p:sp>
        <p:nvSpPr>
          <p:cNvPr id="4" name="Shape 2"/>
          <p:cNvSpPr/>
          <p:nvPr/>
        </p:nvSpPr>
        <p:spPr>
          <a:xfrm>
            <a:off x="548640" y="1600200"/>
            <a:ext cx="5257800" cy="896112"/>
          </a:xfrm>
          <a:prstGeom prst="roundRect">
            <a:avLst>
              <a:gd name="adj" fmla="val 7143"/>
            </a:avLst>
          </a:prstGeom>
          <a:solidFill>
            <a:srgbClr val="FFFFFF"/>
          </a:solidFill>
          <a:ln w="12700">
            <a:solidFill>
              <a:srgbClr val="E2E8F0"/>
            </a:solidFill>
            <a:prstDash val="solid"/>
          </a:ln>
        </p:spPr>
        <p:txBody>
          <a:bodyPr/>
          <a:lstStyle/>
          <a:p>
            <a:endParaRPr lang="en-NG"/>
          </a:p>
        </p:txBody>
      </p:sp>
      <p:sp>
        <p:nvSpPr>
          <p:cNvPr id="5" name="Text 3"/>
          <p:cNvSpPr txBox="1"/>
          <p:nvPr/>
        </p:nvSpPr>
        <p:spPr>
          <a:xfrm>
            <a:off x="713232" y="1728216"/>
            <a:ext cx="640080" cy="640080"/>
          </a:xfrm>
          <a:prstGeom prst="rect">
            <a:avLst/>
          </a:prstGeom>
          <a:noFill/>
          <a:ln/>
        </p:spPr>
        <p:txBody>
          <a:bodyPr wrap="square" rtlCol="0" anchor="ctr"/>
          <a:lstStyle/>
          <a:p>
            <a:pPr marL="0" indent="0">
              <a:buNone/>
            </a:pPr>
            <a:r>
              <a:rPr lang="en-US" sz="2200" b="1" dirty="0">
                <a:solidFill>
                  <a:srgbClr val="F4A300"/>
                </a:solidFill>
                <a:latin typeface="Cambria" pitchFamily="34" charset="0"/>
                <a:ea typeface="Cambria" pitchFamily="34" charset="-122"/>
                <a:cs typeface="Cambria" pitchFamily="34" charset="-120"/>
              </a:rPr>
              <a:t>01</a:t>
            </a:r>
            <a:endParaRPr lang="en-US" sz="2200" dirty="0"/>
          </a:p>
        </p:txBody>
      </p:sp>
      <p:sp>
        <p:nvSpPr>
          <p:cNvPr id="6" name="Shape 4"/>
          <p:cNvSpPr/>
          <p:nvPr/>
        </p:nvSpPr>
        <p:spPr>
          <a:xfrm>
            <a:off x="1325880" y="1819656"/>
            <a:ext cx="457200" cy="457200"/>
          </a:xfrm>
          <a:prstGeom prst="ellipse">
            <a:avLst/>
          </a:prstGeom>
          <a:solidFill>
            <a:srgbClr val="0B2545"/>
          </a:solidFill>
          <a:ln/>
        </p:spPr>
        <p:txBody>
          <a:bodyPr/>
          <a:lstStyle/>
          <a:p>
            <a:endParaRPr lang="en-NG"/>
          </a:p>
        </p:txBody>
      </p:sp>
      <p:pic>
        <p:nvPicPr>
          <p:cNvPr id="7" name="Image 0" descr="icons/globe_FFFFFF.png"/>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Effect>
                      <a14:brightnessContrast bright="100000"/>
                    </a14:imgEffect>
                  </a14:imgLayer>
                </a14:imgProps>
              </a:ext>
            </a:extLst>
          </a:blip>
          <a:stretch>
            <a:fillRect/>
          </a:stretch>
        </p:blipFill>
        <p:spPr>
          <a:xfrm>
            <a:off x="1444752" y="1938528"/>
            <a:ext cx="219456" cy="219456"/>
          </a:xfrm>
          <a:prstGeom prst="rect">
            <a:avLst/>
          </a:prstGeom>
        </p:spPr>
      </p:pic>
      <p:sp>
        <p:nvSpPr>
          <p:cNvPr id="8" name="Text 5"/>
          <p:cNvSpPr txBox="1"/>
          <p:nvPr/>
        </p:nvSpPr>
        <p:spPr>
          <a:xfrm>
            <a:off x="1920240" y="1600200"/>
            <a:ext cx="3749040" cy="896112"/>
          </a:xfrm>
          <a:prstGeom prst="rect">
            <a:avLst/>
          </a:prstGeom>
          <a:noFill/>
          <a:ln/>
        </p:spPr>
        <p:txBody>
          <a:bodyPr wrap="square"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Problem Statement</a:t>
            </a:r>
            <a:endParaRPr lang="en-US" sz="1400" dirty="0"/>
          </a:p>
        </p:txBody>
      </p:sp>
      <p:sp>
        <p:nvSpPr>
          <p:cNvPr id="9" name="Shape 6"/>
          <p:cNvSpPr/>
          <p:nvPr/>
        </p:nvSpPr>
        <p:spPr>
          <a:xfrm>
            <a:off x="548640" y="2660904"/>
            <a:ext cx="5257800" cy="896112"/>
          </a:xfrm>
          <a:prstGeom prst="roundRect">
            <a:avLst>
              <a:gd name="adj" fmla="val 7143"/>
            </a:avLst>
          </a:prstGeom>
          <a:solidFill>
            <a:srgbClr val="FFFFFF"/>
          </a:solidFill>
          <a:ln w="12700">
            <a:solidFill>
              <a:srgbClr val="E2E8F0"/>
            </a:solidFill>
            <a:prstDash val="solid"/>
          </a:ln>
        </p:spPr>
        <p:txBody>
          <a:bodyPr/>
          <a:lstStyle/>
          <a:p>
            <a:endParaRPr lang="en-NG"/>
          </a:p>
        </p:txBody>
      </p:sp>
      <p:sp>
        <p:nvSpPr>
          <p:cNvPr id="10" name="Text 7"/>
          <p:cNvSpPr txBox="1"/>
          <p:nvPr/>
        </p:nvSpPr>
        <p:spPr>
          <a:xfrm>
            <a:off x="713232" y="2788920"/>
            <a:ext cx="640080" cy="640080"/>
          </a:xfrm>
          <a:prstGeom prst="rect">
            <a:avLst/>
          </a:prstGeom>
          <a:noFill/>
          <a:ln/>
        </p:spPr>
        <p:txBody>
          <a:bodyPr wrap="square" rtlCol="0" anchor="ctr"/>
          <a:lstStyle/>
          <a:p>
            <a:pPr marL="0" indent="0">
              <a:buNone/>
            </a:pPr>
            <a:r>
              <a:rPr lang="en-US" sz="2200" b="1" dirty="0">
                <a:solidFill>
                  <a:srgbClr val="F4A300"/>
                </a:solidFill>
                <a:latin typeface="Cambria" pitchFamily="34" charset="0"/>
                <a:ea typeface="Cambria" pitchFamily="34" charset="-122"/>
                <a:cs typeface="Cambria" pitchFamily="34" charset="-120"/>
              </a:rPr>
              <a:t>02</a:t>
            </a:r>
            <a:endParaRPr lang="en-US" sz="2200" dirty="0"/>
          </a:p>
        </p:txBody>
      </p:sp>
      <p:sp>
        <p:nvSpPr>
          <p:cNvPr id="11" name="Shape 8"/>
          <p:cNvSpPr/>
          <p:nvPr/>
        </p:nvSpPr>
        <p:spPr>
          <a:xfrm>
            <a:off x="1325880" y="2880360"/>
            <a:ext cx="457200" cy="457200"/>
          </a:xfrm>
          <a:prstGeom prst="ellipse">
            <a:avLst/>
          </a:prstGeom>
          <a:solidFill>
            <a:srgbClr val="0B2545"/>
          </a:solidFill>
          <a:ln/>
        </p:spPr>
        <p:txBody>
          <a:bodyPr/>
          <a:lstStyle/>
          <a:p>
            <a:endParaRPr lang="en-NG"/>
          </a:p>
        </p:txBody>
      </p:sp>
      <p:pic>
        <p:nvPicPr>
          <p:cNvPr id="12" name="Image 1" descr="icons/target_FFFFFF.png"/>
          <p:cNvPicPr>
            <a:picLocks noChangeAspect="1"/>
          </p:cNvPicPr>
          <p:nvPr/>
        </p:nvPicPr>
        <p:blipFill>
          <a:blip r:embed="rId5">
            <a:extLst>
              <a:ext uri="{BEBA8EAE-BF5A-486C-A8C5-ECC9F3942E4B}">
                <a14:imgProps xmlns:a14="http://schemas.microsoft.com/office/drawing/2010/main">
                  <a14:imgLayer r:embed="rId6">
                    <a14:imgEffect>
                      <a14:brightnessContrast bright="100000"/>
                    </a14:imgEffect>
                  </a14:imgLayer>
                </a14:imgProps>
              </a:ext>
            </a:extLst>
          </a:blip>
          <a:stretch>
            <a:fillRect/>
          </a:stretch>
        </p:blipFill>
        <p:spPr>
          <a:xfrm>
            <a:off x="1444752" y="2999232"/>
            <a:ext cx="219456" cy="219456"/>
          </a:xfrm>
          <a:prstGeom prst="rect">
            <a:avLst/>
          </a:prstGeom>
        </p:spPr>
      </p:pic>
      <p:sp>
        <p:nvSpPr>
          <p:cNvPr id="13" name="Text 9"/>
          <p:cNvSpPr txBox="1"/>
          <p:nvPr/>
        </p:nvSpPr>
        <p:spPr>
          <a:xfrm>
            <a:off x="1920240" y="2660904"/>
            <a:ext cx="3749040" cy="896112"/>
          </a:xfrm>
          <a:prstGeom prst="rect">
            <a:avLst/>
          </a:prstGeom>
          <a:noFill/>
          <a:ln/>
        </p:spPr>
        <p:txBody>
          <a:bodyPr wrap="square"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Aim, Objectives and Industry Relevance</a:t>
            </a:r>
            <a:endParaRPr lang="en-US" sz="1400" dirty="0"/>
          </a:p>
        </p:txBody>
      </p:sp>
      <p:sp>
        <p:nvSpPr>
          <p:cNvPr id="14" name="Shape 10"/>
          <p:cNvSpPr/>
          <p:nvPr/>
        </p:nvSpPr>
        <p:spPr>
          <a:xfrm>
            <a:off x="548640" y="3721608"/>
            <a:ext cx="5257800" cy="896112"/>
          </a:xfrm>
          <a:prstGeom prst="roundRect">
            <a:avLst>
              <a:gd name="adj" fmla="val 7143"/>
            </a:avLst>
          </a:prstGeom>
          <a:solidFill>
            <a:srgbClr val="FFFFFF"/>
          </a:solidFill>
          <a:ln w="12700">
            <a:solidFill>
              <a:srgbClr val="E2E8F0"/>
            </a:solidFill>
            <a:prstDash val="solid"/>
          </a:ln>
        </p:spPr>
        <p:txBody>
          <a:bodyPr/>
          <a:lstStyle/>
          <a:p>
            <a:endParaRPr lang="en-NG"/>
          </a:p>
        </p:txBody>
      </p:sp>
      <p:sp>
        <p:nvSpPr>
          <p:cNvPr id="15" name="Text 11"/>
          <p:cNvSpPr txBox="1"/>
          <p:nvPr/>
        </p:nvSpPr>
        <p:spPr>
          <a:xfrm>
            <a:off x="713232" y="3849624"/>
            <a:ext cx="640080" cy="640080"/>
          </a:xfrm>
          <a:prstGeom prst="rect">
            <a:avLst/>
          </a:prstGeom>
          <a:noFill/>
          <a:ln/>
        </p:spPr>
        <p:txBody>
          <a:bodyPr wrap="square" rtlCol="0" anchor="ctr"/>
          <a:lstStyle/>
          <a:p>
            <a:pPr marL="0" indent="0">
              <a:buNone/>
            </a:pPr>
            <a:r>
              <a:rPr lang="en-US" sz="2200" b="1" dirty="0">
                <a:solidFill>
                  <a:srgbClr val="F4A300"/>
                </a:solidFill>
                <a:latin typeface="Cambria" pitchFamily="34" charset="0"/>
                <a:ea typeface="Cambria" pitchFamily="34" charset="-122"/>
                <a:cs typeface="Cambria" pitchFamily="34" charset="-120"/>
              </a:rPr>
              <a:t>03</a:t>
            </a:r>
            <a:endParaRPr lang="en-US" sz="2200" dirty="0"/>
          </a:p>
        </p:txBody>
      </p:sp>
      <p:sp>
        <p:nvSpPr>
          <p:cNvPr id="16" name="Shape 12"/>
          <p:cNvSpPr/>
          <p:nvPr/>
        </p:nvSpPr>
        <p:spPr>
          <a:xfrm>
            <a:off x="1325880" y="3941064"/>
            <a:ext cx="457200" cy="457200"/>
          </a:xfrm>
          <a:prstGeom prst="ellipse">
            <a:avLst/>
          </a:prstGeom>
          <a:solidFill>
            <a:srgbClr val="0B2545"/>
          </a:solidFill>
          <a:ln/>
        </p:spPr>
        <p:txBody>
          <a:bodyPr/>
          <a:lstStyle/>
          <a:p>
            <a:endParaRPr lang="en-NG"/>
          </a:p>
        </p:txBody>
      </p:sp>
      <p:pic>
        <p:nvPicPr>
          <p:cNvPr id="17" name="Image 2" descr="icons/database_FFFFFF.png"/>
          <p:cNvPicPr>
            <a:picLocks noChangeAspect="1"/>
          </p:cNvPicPr>
          <p:nvPr/>
        </p:nvPicPr>
        <p:blipFill>
          <a:blip r:embed="rId7">
            <a:extLst>
              <a:ext uri="{BEBA8EAE-BF5A-486C-A8C5-ECC9F3942E4B}">
                <a14:imgProps xmlns:a14="http://schemas.microsoft.com/office/drawing/2010/main">
                  <a14:imgLayer r:embed="rId8">
                    <a14:imgEffect>
                      <a14:brightnessContrast bright="100000"/>
                    </a14:imgEffect>
                  </a14:imgLayer>
                </a14:imgProps>
              </a:ext>
            </a:extLst>
          </a:blip>
          <a:stretch>
            <a:fillRect/>
          </a:stretch>
        </p:blipFill>
        <p:spPr>
          <a:xfrm>
            <a:off x="1444752" y="4059936"/>
            <a:ext cx="219456" cy="219456"/>
          </a:xfrm>
          <a:prstGeom prst="rect">
            <a:avLst/>
          </a:prstGeom>
        </p:spPr>
      </p:pic>
      <p:sp>
        <p:nvSpPr>
          <p:cNvPr id="18" name="Text 13"/>
          <p:cNvSpPr txBox="1"/>
          <p:nvPr/>
        </p:nvSpPr>
        <p:spPr>
          <a:xfrm>
            <a:off x="1920240" y="3721608"/>
            <a:ext cx="3749040" cy="896112"/>
          </a:xfrm>
          <a:prstGeom prst="rect">
            <a:avLst/>
          </a:prstGeom>
          <a:noFill/>
          <a:ln/>
        </p:spPr>
        <p:txBody>
          <a:bodyPr wrap="square"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Dataset Description and  Dictionary</a:t>
            </a:r>
            <a:endParaRPr lang="en-US" sz="1400" dirty="0"/>
          </a:p>
        </p:txBody>
      </p:sp>
      <p:sp>
        <p:nvSpPr>
          <p:cNvPr id="19" name="Shape 14"/>
          <p:cNvSpPr/>
          <p:nvPr/>
        </p:nvSpPr>
        <p:spPr>
          <a:xfrm>
            <a:off x="548640" y="4782312"/>
            <a:ext cx="5257800" cy="896112"/>
          </a:xfrm>
          <a:prstGeom prst="roundRect">
            <a:avLst>
              <a:gd name="adj" fmla="val 7143"/>
            </a:avLst>
          </a:prstGeom>
          <a:solidFill>
            <a:srgbClr val="FFFFFF"/>
          </a:solidFill>
          <a:ln w="12700">
            <a:solidFill>
              <a:srgbClr val="E2E8F0"/>
            </a:solidFill>
            <a:prstDash val="solid"/>
          </a:ln>
        </p:spPr>
        <p:txBody>
          <a:bodyPr/>
          <a:lstStyle/>
          <a:p>
            <a:endParaRPr lang="en-NG"/>
          </a:p>
        </p:txBody>
      </p:sp>
      <p:sp>
        <p:nvSpPr>
          <p:cNvPr id="20" name="Text 15"/>
          <p:cNvSpPr txBox="1"/>
          <p:nvPr/>
        </p:nvSpPr>
        <p:spPr>
          <a:xfrm>
            <a:off x="713232" y="4910328"/>
            <a:ext cx="640080" cy="640080"/>
          </a:xfrm>
          <a:prstGeom prst="rect">
            <a:avLst/>
          </a:prstGeom>
          <a:noFill/>
          <a:ln/>
        </p:spPr>
        <p:txBody>
          <a:bodyPr wrap="square" rtlCol="0" anchor="ctr"/>
          <a:lstStyle/>
          <a:p>
            <a:pPr marL="0" indent="0">
              <a:buNone/>
            </a:pPr>
            <a:r>
              <a:rPr lang="en-US" sz="2200" b="1" dirty="0">
                <a:solidFill>
                  <a:srgbClr val="F4A300"/>
                </a:solidFill>
                <a:latin typeface="Cambria" pitchFamily="34" charset="0"/>
                <a:ea typeface="Cambria" pitchFamily="34" charset="-122"/>
                <a:cs typeface="Cambria" pitchFamily="34" charset="-120"/>
              </a:rPr>
              <a:t>04</a:t>
            </a:r>
            <a:endParaRPr lang="en-US" sz="2200" dirty="0"/>
          </a:p>
        </p:txBody>
      </p:sp>
      <p:sp>
        <p:nvSpPr>
          <p:cNvPr id="21" name="Shape 16"/>
          <p:cNvSpPr/>
          <p:nvPr/>
        </p:nvSpPr>
        <p:spPr>
          <a:xfrm>
            <a:off x="1325880" y="5001768"/>
            <a:ext cx="457200" cy="457200"/>
          </a:xfrm>
          <a:prstGeom prst="ellipse">
            <a:avLst/>
          </a:prstGeom>
          <a:solidFill>
            <a:srgbClr val="0B2545"/>
          </a:solidFill>
          <a:ln/>
        </p:spPr>
        <p:txBody>
          <a:bodyPr/>
          <a:lstStyle/>
          <a:p>
            <a:endParaRPr lang="en-NG"/>
          </a:p>
        </p:txBody>
      </p:sp>
      <p:pic>
        <p:nvPicPr>
          <p:cNvPr id="22" name="Image 3" descr="icons/cogs_FFFFFF.png"/>
          <p:cNvPicPr>
            <a:picLocks noChangeAspect="1"/>
          </p:cNvPicPr>
          <p:nvPr/>
        </p:nvPicPr>
        <p:blipFill>
          <a:blip r:embed="rId9">
            <a:extLst>
              <a:ext uri="{BEBA8EAE-BF5A-486C-A8C5-ECC9F3942E4B}">
                <a14:imgProps xmlns:a14="http://schemas.microsoft.com/office/drawing/2010/main">
                  <a14:imgLayer r:embed="rId10">
                    <a14:imgEffect>
                      <a14:brightnessContrast bright="100000"/>
                    </a14:imgEffect>
                  </a14:imgLayer>
                </a14:imgProps>
              </a:ext>
            </a:extLst>
          </a:blip>
          <a:stretch>
            <a:fillRect/>
          </a:stretch>
        </p:blipFill>
        <p:spPr>
          <a:xfrm>
            <a:off x="1444752" y="5120640"/>
            <a:ext cx="219456" cy="219456"/>
          </a:xfrm>
          <a:prstGeom prst="rect">
            <a:avLst/>
          </a:prstGeom>
        </p:spPr>
      </p:pic>
      <p:sp>
        <p:nvSpPr>
          <p:cNvPr id="23" name="Text 17"/>
          <p:cNvSpPr txBox="1"/>
          <p:nvPr/>
        </p:nvSpPr>
        <p:spPr>
          <a:xfrm>
            <a:off x="1920240" y="4782312"/>
            <a:ext cx="3749040" cy="896112"/>
          </a:xfrm>
          <a:prstGeom prst="rect">
            <a:avLst/>
          </a:prstGeom>
          <a:noFill/>
          <a:ln/>
        </p:spPr>
        <p:txBody>
          <a:bodyPr wrap="square"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Methodology</a:t>
            </a:r>
            <a:endParaRPr lang="en-US" sz="1400" dirty="0"/>
          </a:p>
        </p:txBody>
      </p:sp>
      <p:sp>
        <p:nvSpPr>
          <p:cNvPr id="24" name="Shape 18"/>
          <p:cNvSpPr/>
          <p:nvPr/>
        </p:nvSpPr>
        <p:spPr>
          <a:xfrm>
            <a:off x="6172200" y="1600200"/>
            <a:ext cx="5257800" cy="896112"/>
          </a:xfrm>
          <a:prstGeom prst="roundRect">
            <a:avLst>
              <a:gd name="adj" fmla="val 7143"/>
            </a:avLst>
          </a:prstGeom>
          <a:solidFill>
            <a:srgbClr val="FFFFFF"/>
          </a:solidFill>
          <a:ln w="12700">
            <a:solidFill>
              <a:srgbClr val="E2E8F0"/>
            </a:solidFill>
            <a:prstDash val="solid"/>
          </a:ln>
        </p:spPr>
        <p:txBody>
          <a:bodyPr/>
          <a:lstStyle/>
          <a:p>
            <a:endParaRPr lang="en-NG"/>
          </a:p>
        </p:txBody>
      </p:sp>
      <p:sp>
        <p:nvSpPr>
          <p:cNvPr id="25" name="Text 19"/>
          <p:cNvSpPr txBox="1"/>
          <p:nvPr/>
        </p:nvSpPr>
        <p:spPr>
          <a:xfrm>
            <a:off x="6336792" y="1728216"/>
            <a:ext cx="640080" cy="640080"/>
          </a:xfrm>
          <a:prstGeom prst="rect">
            <a:avLst/>
          </a:prstGeom>
          <a:noFill/>
          <a:ln/>
        </p:spPr>
        <p:txBody>
          <a:bodyPr wrap="square" rtlCol="0" anchor="ctr"/>
          <a:lstStyle/>
          <a:p>
            <a:pPr marL="0" indent="0">
              <a:buNone/>
            </a:pPr>
            <a:r>
              <a:rPr lang="en-US" sz="2200" b="1" dirty="0">
                <a:solidFill>
                  <a:srgbClr val="F4A300"/>
                </a:solidFill>
                <a:latin typeface="Cambria" pitchFamily="34" charset="0"/>
                <a:ea typeface="Cambria" pitchFamily="34" charset="-122"/>
                <a:cs typeface="Cambria" pitchFamily="34" charset="-120"/>
              </a:rPr>
              <a:t>05</a:t>
            </a:r>
            <a:endParaRPr lang="en-US" sz="2200" dirty="0"/>
          </a:p>
        </p:txBody>
      </p:sp>
      <p:sp>
        <p:nvSpPr>
          <p:cNvPr id="26" name="Shape 20"/>
          <p:cNvSpPr/>
          <p:nvPr/>
        </p:nvSpPr>
        <p:spPr>
          <a:xfrm>
            <a:off x="6949440" y="1819656"/>
            <a:ext cx="457200" cy="457200"/>
          </a:xfrm>
          <a:prstGeom prst="ellipse">
            <a:avLst/>
          </a:prstGeom>
          <a:solidFill>
            <a:srgbClr val="0B2545"/>
          </a:solidFill>
          <a:ln/>
        </p:spPr>
        <p:txBody>
          <a:bodyPr/>
          <a:lstStyle/>
          <a:p>
            <a:endParaRPr lang="en-NG"/>
          </a:p>
        </p:txBody>
      </p:sp>
      <p:pic>
        <p:nvPicPr>
          <p:cNvPr id="27" name="Image 4" descr="icons/chartbar_FFFFFF.png"/>
          <p:cNvPicPr>
            <a:picLocks noChangeAspect="1"/>
          </p:cNvPicPr>
          <p:nvPr/>
        </p:nvPicPr>
        <p:blipFill>
          <a:blip r:embed="rId11">
            <a:extLst>
              <a:ext uri="{BEBA8EAE-BF5A-486C-A8C5-ECC9F3942E4B}">
                <a14:imgProps xmlns:a14="http://schemas.microsoft.com/office/drawing/2010/main">
                  <a14:imgLayer r:embed="rId12">
                    <a14:imgEffect>
                      <a14:brightnessContrast bright="100000"/>
                    </a14:imgEffect>
                  </a14:imgLayer>
                </a14:imgProps>
              </a:ext>
            </a:extLst>
          </a:blip>
          <a:stretch>
            <a:fillRect/>
          </a:stretch>
        </p:blipFill>
        <p:spPr>
          <a:xfrm>
            <a:off x="7068312" y="1938528"/>
            <a:ext cx="219456" cy="219456"/>
          </a:xfrm>
          <a:prstGeom prst="rect">
            <a:avLst/>
          </a:prstGeom>
        </p:spPr>
      </p:pic>
      <p:sp>
        <p:nvSpPr>
          <p:cNvPr id="28" name="Text 21"/>
          <p:cNvSpPr txBox="1"/>
          <p:nvPr/>
        </p:nvSpPr>
        <p:spPr>
          <a:xfrm>
            <a:off x="7543800" y="1600200"/>
            <a:ext cx="3749040" cy="896112"/>
          </a:xfrm>
          <a:prstGeom prst="rect">
            <a:avLst/>
          </a:prstGeom>
          <a:noFill/>
          <a:ln/>
        </p:spPr>
        <p:txBody>
          <a:bodyPr wrap="square"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Analysis and Discussion </a:t>
            </a:r>
            <a:endParaRPr lang="en-US" sz="1400" dirty="0"/>
          </a:p>
        </p:txBody>
      </p:sp>
      <p:sp>
        <p:nvSpPr>
          <p:cNvPr id="29" name="Shape 22"/>
          <p:cNvSpPr/>
          <p:nvPr/>
        </p:nvSpPr>
        <p:spPr>
          <a:xfrm>
            <a:off x="6172200" y="2660904"/>
            <a:ext cx="5257800" cy="896112"/>
          </a:xfrm>
          <a:prstGeom prst="roundRect">
            <a:avLst>
              <a:gd name="adj" fmla="val 7143"/>
            </a:avLst>
          </a:prstGeom>
          <a:solidFill>
            <a:srgbClr val="FFFFFF"/>
          </a:solidFill>
          <a:ln w="12700">
            <a:solidFill>
              <a:srgbClr val="E2E8F0"/>
            </a:solidFill>
            <a:prstDash val="solid"/>
          </a:ln>
        </p:spPr>
        <p:txBody>
          <a:bodyPr/>
          <a:lstStyle/>
          <a:p>
            <a:endParaRPr lang="en-NG"/>
          </a:p>
        </p:txBody>
      </p:sp>
      <p:sp>
        <p:nvSpPr>
          <p:cNvPr id="30" name="Text 23"/>
          <p:cNvSpPr txBox="1"/>
          <p:nvPr/>
        </p:nvSpPr>
        <p:spPr>
          <a:xfrm>
            <a:off x="6336792" y="2788920"/>
            <a:ext cx="640080" cy="640080"/>
          </a:xfrm>
          <a:prstGeom prst="rect">
            <a:avLst/>
          </a:prstGeom>
          <a:noFill/>
          <a:ln/>
        </p:spPr>
        <p:txBody>
          <a:bodyPr wrap="square" rtlCol="0" anchor="ctr"/>
          <a:lstStyle/>
          <a:p>
            <a:pPr marL="0" indent="0">
              <a:buNone/>
            </a:pPr>
            <a:r>
              <a:rPr lang="en-US" sz="2200" b="1" dirty="0">
                <a:solidFill>
                  <a:srgbClr val="F4A300"/>
                </a:solidFill>
                <a:latin typeface="Cambria" pitchFamily="34" charset="0"/>
                <a:ea typeface="Cambria" pitchFamily="34" charset="-122"/>
                <a:cs typeface="Cambria" pitchFamily="34" charset="-120"/>
              </a:rPr>
              <a:t>06</a:t>
            </a:r>
            <a:endParaRPr lang="en-US" sz="2200" dirty="0"/>
          </a:p>
        </p:txBody>
      </p:sp>
      <p:sp>
        <p:nvSpPr>
          <p:cNvPr id="31" name="Shape 24"/>
          <p:cNvSpPr/>
          <p:nvPr/>
        </p:nvSpPr>
        <p:spPr>
          <a:xfrm>
            <a:off x="6949440" y="2880360"/>
            <a:ext cx="457200" cy="457200"/>
          </a:xfrm>
          <a:prstGeom prst="ellipse">
            <a:avLst/>
          </a:prstGeom>
          <a:solidFill>
            <a:srgbClr val="0B2545"/>
          </a:solidFill>
          <a:ln/>
        </p:spPr>
        <p:txBody>
          <a:bodyPr/>
          <a:lstStyle/>
          <a:p>
            <a:endParaRPr lang="en-NG"/>
          </a:p>
        </p:txBody>
      </p:sp>
      <p:pic>
        <p:nvPicPr>
          <p:cNvPr id="32" name="Image 5" descr="icons/search_FFFFFF.png"/>
          <p:cNvPicPr>
            <a:picLocks noChangeAspect="1"/>
          </p:cNvPicPr>
          <p:nvPr/>
        </p:nvPicPr>
        <p:blipFill>
          <a:blip r:embed="rId13">
            <a:extLst>
              <a:ext uri="{BEBA8EAE-BF5A-486C-A8C5-ECC9F3942E4B}">
                <a14:imgProps xmlns:a14="http://schemas.microsoft.com/office/drawing/2010/main">
                  <a14:imgLayer r:embed="rId14">
                    <a14:imgEffect>
                      <a14:brightnessContrast bright="100000"/>
                    </a14:imgEffect>
                  </a14:imgLayer>
                </a14:imgProps>
              </a:ext>
            </a:extLst>
          </a:blip>
          <a:stretch>
            <a:fillRect/>
          </a:stretch>
        </p:blipFill>
        <p:spPr>
          <a:xfrm>
            <a:off x="7068312" y="2999232"/>
            <a:ext cx="219456" cy="219456"/>
          </a:xfrm>
          <a:prstGeom prst="rect">
            <a:avLst/>
          </a:prstGeom>
        </p:spPr>
      </p:pic>
      <p:sp>
        <p:nvSpPr>
          <p:cNvPr id="33" name="Text 25"/>
          <p:cNvSpPr txBox="1"/>
          <p:nvPr/>
        </p:nvSpPr>
        <p:spPr>
          <a:xfrm>
            <a:off x="7543800" y="2660904"/>
            <a:ext cx="3749040" cy="896112"/>
          </a:xfrm>
          <a:prstGeom prst="rect">
            <a:avLst/>
          </a:prstGeom>
          <a:noFill/>
          <a:ln/>
        </p:spPr>
        <p:txBody>
          <a:bodyPr wrap="square"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Research Findings</a:t>
            </a:r>
            <a:endParaRPr lang="en-US" sz="1400" dirty="0"/>
          </a:p>
        </p:txBody>
      </p:sp>
      <p:sp>
        <p:nvSpPr>
          <p:cNvPr id="34" name="Shape 26"/>
          <p:cNvSpPr/>
          <p:nvPr/>
        </p:nvSpPr>
        <p:spPr>
          <a:xfrm>
            <a:off x="6172200" y="3721608"/>
            <a:ext cx="5257800" cy="896112"/>
          </a:xfrm>
          <a:prstGeom prst="roundRect">
            <a:avLst>
              <a:gd name="adj" fmla="val 7143"/>
            </a:avLst>
          </a:prstGeom>
          <a:solidFill>
            <a:srgbClr val="FFFFFF"/>
          </a:solidFill>
          <a:ln w="12700">
            <a:solidFill>
              <a:srgbClr val="E2E8F0"/>
            </a:solidFill>
            <a:prstDash val="solid"/>
          </a:ln>
        </p:spPr>
        <p:txBody>
          <a:bodyPr/>
          <a:lstStyle/>
          <a:p>
            <a:endParaRPr lang="en-NG"/>
          </a:p>
        </p:txBody>
      </p:sp>
      <p:sp>
        <p:nvSpPr>
          <p:cNvPr id="35" name="Text 27"/>
          <p:cNvSpPr txBox="1"/>
          <p:nvPr/>
        </p:nvSpPr>
        <p:spPr>
          <a:xfrm>
            <a:off x="6336792" y="3849624"/>
            <a:ext cx="640080" cy="640080"/>
          </a:xfrm>
          <a:prstGeom prst="rect">
            <a:avLst/>
          </a:prstGeom>
          <a:noFill/>
          <a:ln/>
        </p:spPr>
        <p:txBody>
          <a:bodyPr wrap="square" rtlCol="0" anchor="ctr"/>
          <a:lstStyle/>
          <a:p>
            <a:pPr marL="0" indent="0">
              <a:buNone/>
            </a:pPr>
            <a:r>
              <a:rPr lang="en-US" sz="2200" b="1" dirty="0">
                <a:solidFill>
                  <a:srgbClr val="F4A300"/>
                </a:solidFill>
                <a:latin typeface="Cambria" pitchFamily="34" charset="0"/>
                <a:ea typeface="Cambria" pitchFamily="34" charset="-122"/>
                <a:cs typeface="Cambria" pitchFamily="34" charset="-120"/>
              </a:rPr>
              <a:t>07</a:t>
            </a:r>
            <a:endParaRPr lang="en-US" sz="2200" dirty="0"/>
          </a:p>
        </p:txBody>
      </p:sp>
      <p:sp>
        <p:nvSpPr>
          <p:cNvPr id="36" name="Shape 28"/>
          <p:cNvSpPr/>
          <p:nvPr/>
        </p:nvSpPr>
        <p:spPr>
          <a:xfrm>
            <a:off x="6949440" y="3941064"/>
            <a:ext cx="457200" cy="457200"/>
          </a:xfrm>
          <a:prstGeom prst="ellipse">
            <a:avLst/>
          </a:prstGeom>
          <a:solidFill>
            <a:srgbClr val="0B2545"/>
          </a:solidFill>
          <a:ln/>
        </p:spPr>
        <p:txBody>
          <a:bodyPr/>
          <a:lstStyle/>
          <a:p>
            <a:endParaRPr lang="en-NG"/>
          </a:p>
        </p:txBody>
      </p:sp>
      <p:pic>
        <p:nvPicPr>
          <p:cNvPr id="37" name="Image 6" descr="icons/scale_FFFFFF.png"/>
          <p:cNvPicPr>
            <a:picLocks noChangeAspect="1"/>
          </p:cNvPicPr>
          <p:nvPr/>
        </p:nvPicPr>
        <p:blipFill>
          <a:blip r:embed="rId15">
            <a:extLst>
              <a:ext uri="{BEBA8EAE-BF5A-486C-A8C5-ECC9F3942E4B}">
                <a14:imgProps xmlns:a14="http://schemas.microsoft.com/office/drawing/2010/main">
                  <a14:imgLayer r:embed="rId16">
                    <a14:imgEffect>
                      <a14:brightnessContrast bright="100000"/>
                    </a14:imgEffect>
                  </a14:imgLayer>
                </a14:imgProps>
              </a:ext>
            </a:extLst>
          </a:blip>
          <a:stretch>
            <a:fillRect/>
          </a:stretch>
        </p:blipFill>
        <p:spPr>
          <a:xfrm>
            <a:off x="7068312" y="4059936"/>
            <a:ext cx="219456" cy="219456"/>
          </a:xfrm>
          <a:prstGeom prst="rect">
            <a:avLst/>
          </a:prstGeom>
        </p:spPr>
      </p:pic>
      <p:sp>
        <p:nvSpPr>
          <p:cNvPr id="38" name="Text 29"/>
          <p:cNvSpPr txBox="1"/>
          <p:nvPr/>
        </p:nvSpPr>
        <p:spPr>
          <a:xfrm>
            <a:off x="7543800" y="3721608"/>
            <a:ext cx="3749040" cy="896112"/>
          </a:xfrm>
          <a:prstGeom prst="rect">
            <a:avLst/>
          </a:prstGeom>
          <a:noFill/>
          <a:ln/>
        </p:spPr>
        <p:txBody>
          <a:bodyPr wrap="square"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Recommendations</a:t>
            </a:r>
            <a:endParaRPr lang="en-US" sz="1400" dirty="0"/>
          </a:p>
        </p:txBody>
      </p:sp>
      <p:sp>
        <p:nvSpPr>
          <p:cNvPr id="39" name="Shape 30"/>
          <p:cNvSpPr/>
          <p:nvPr/>
        </p:nvSpPr>
        <p:spPr>
          <a:xfrm>
            <a:off x="6172200" y="4782312"/>
            <a:ext cx="5257800" cy="896112"/>
          </a:xfrm>
          <a:prstGeom prst="roundRect">
            <a:avLst>
              <a:gd name="adj" fmla="val 7143"/>
            </a:avLst>
          </a:prstGeom>
          <a:solidFill>
            <a:srgbClr val="FFFFFF"/>
          </a:solidFill>
          <a:ln w="12700">
            <a:solidFill>
              <a:srgbClr val="E2E8F0"/>
            </a:solidFill>
            <a:prstDash val="solid"/>
          </a:ln>
        </p:spPr>
        <p:txBody>
          <a:bodyPr/>
          <a:lstStyle/>
          <a:p>
            <a:endParaRPr lang="en-NG"/>
          </a:p>
        </p:txBody>
      </p:sp>
      <p:sp>
        <p:nvSpPr>
          <p:cNvPr id="40" name="Text 31"/>
          <p:cNvSpPr txBox="1"/>
          <p:nvPr/>
        </p:nvSpPr>
        <p:spPr>
          <a:xfrm>
            <a:off x="6336792" y="4910328"/>
            <a:ext cx="640080" cy="640080"/>
          </a:xfrm>
          <a:prstGeom prst="rect">
            <a:avLst/>
          </a:prstGeom>
          <a:noFill/>
          <a:ln/>
        </p:spPr>
        <p:txBody>
          <a:bodyPr wrap="square" rtlCol="0" anchor="ctr"/>
          <a:lstStyle/>
          <a:p>
            <a:pPr marL="0" indent="0">
              <a:buNone/>
            </a:pPr>
            <a:r>
              <a:rPr lang="en-US" sz="2200" b="1" dirty="0">
                <a:solidFill>
                  <a:srgbClr val="F4A300"/>
                </a:solidFill>
                <a:latin typeface="Cambria" pitchFamily="34" charset="0"/>
                <a:ea typeface="Cambria" pitchFamily="34" charset="-122"/>
                <a:cs typeface="Cambria" pitchFamily="34" charset="-120"/>
              </a:rPr>
              <a:t>08</a:t>
            </a:r>
            <a:endParaRPr lang="en-US" sz="2200" dirty="0"/>
          </a:p>
        </p:txBody>
      </p:sp>
      <p:sp>
        <p:nvSpPr>
          <p:cNvPr id="41" name="Shape 32"/>
          <p:cNvSpPr/>
          <p:nvPr/>
        </p:nvSpPr>
        <p:spPr>
          <a:xfrm>
            <a:off x="6949440" y="5001768"/>
            <a:ext cx="457200" cy="457200"/>
          </a:xfrm>
          <a:prstGeom prst="ellipse">
            <a:avLst/>
          </a:prstGeom>
          <a:solidFill>
            <a:srgbClr val="0B2545"/>
          </a:solidFill>
          <a:ln/>
        </p:spPr>
        <p:txBody>
          <a:bodyPr/>
          <a:lstStyle/>
          <a:p>
            <a:endParaRPr lang="en-NG"/>
          </a:p>
        </p:txBody>
      </p:sp>
      <p:pic>
        <p:nvPicPr>
          <p:cNvPr id="42" name="Image 7" descr="icons/check_FFFFFF.png"/>
          <p:cNvPicPr>
            <a:picLocks noChangeAspect="1"/>
          </p:cNvPicPr>
          <p:nvPr/>
        </p:nvPicPr>
        <p:blipFill>
          <a:blip r:embed="rId17">
            <a:extLst>
              <a:ext uri="{BEBA8EAE-BF5A-486C-A8C5-ECC9F3942E4B}">
                <a14:imgProps xmlns:a14="http://schemas.microsoft.com/office/drawing/2010/main">
                  <a14:imgLayer r:embed="rId18">
                    <a14:imgEffect>
                      <a14:brightnessContrast bright="100000"/>
                    </a14:imgEffect>
                  </a14:imgLayer>
                </a14:imgProps>
              </a:ext>
            </a:extLst>
          </a:blip>
          <a:stretch>
            <a:fillRect/>
          </a:stretch>
        </p:blipFill>
        <p:spPr>
          <a:xfrm>
            <a:off x="7068312" y="5120640"/>
            <a:ext cx="219456" cy="219456"/>
          </a:xfrm>
          <a:prstGeom prst="rect">
            <a:avLst/>
          </a:prstGeom>
        </p:spPr>
      </p:pic>
      <p:sp>
        <p:nvSpPr>
          <p:cNvPr id="43" name="Text 33"/>
          <p:cNvSpPr txBox="1"/>
          <p:nvPr/>
        </p:nvSpPr>
        <p:spPr>
          <a:xfrm>
            <a:off x="7543800" y="4782312"/>
            <a:ext cx="3749040" cy="896112"/>
          </a:xfrm>
          <a:prstGeom prst="rect">
            <a:avLst/>
          </a:prstGeom>
          <a:noFill/>
          <a:ln/>
        </p:spPr>
        <p:txBody>
          <a:bodyPr wrap="square"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Limitations and Conclusion</a:t>
            </a:r>
            <a:endParaRPr lang="en-US" sz="1400" dirty="0"/>
          </a:p>
        </p:txBody>
      </p:sp>
      <p:sp>
        <p:nvSpPr>
          <p:cNvPr id="44" name="Text 34"/>
          <p:cNvSpPr txBox="1"/>
          <p:nvPr/>
        </p:nvSpPr>
        <p:spPr>
          <a:xfrm>
            <a:off x="457200" y="6473952"/>
            <a:ext cx="7315200" cy="274320"/>
          </a:xfrm>
          <a:prstGeom prst="rect">
            <a:avLst/>
          </a:prstGeom>
          <a:noFill/>
          <a:ln/>
        </p:spPr>
        <p:txBody>
          <a:bodyPr wrap="square" rtlCol="0" anchor="ctr"/>
          <a:lstStyle/>
          <a:p>
            <a:pPr marL="0" indent="0">
              <a:buNone/>
            </a:pPr>
            <a:r>
              <a:rPr lang="en-US" sz="900" dirty="0">
                <a:solidFill>
                  <a:srgbClr val="5A6B7B"/>
                </a:solidFill>
                <a:latin typeface="Calibri" pitchFamily="34" charset="0"/>
                <a:ea typeface="Calibri" pitchFamily="34" charset="-122"/>
                <a:cs typeface="Calibri" pitchFamily="34" charset="-120"/>
              </a:rPr>
              <a:t>ENERGY CONSUMPTION ANALYSIS SYSTEM </a:t>
            </a:r>
            <a:endParaRPr lang="en-US" sz="900" dirty="0"/>
          </a:p>
        </p:txBody>
      </p:sp>
      <p:sp>
        <p:nvSpPr>
          <p:cNvPr id="45" name="Text 35"/>
          <p:cNvSpPr txBox="1"/>
          <p:nvPr/>
        </p:nvSpPr>
        <p:spPr>
          <a:xfrm>
            <a:off x="11274552" y="6473952"/>
            <a:ext cx="548640" cy="274320"/>
          </a:xfrm>
          <a:prstGeom prst="rect">
            <a:avLst/>
          </a:prstGeom>
          <a:noFill/>
          <a:ln/>
        </p:spPr>
        <p:txBody>
          <a:bodyPr wrap="square" rtlCol="0" anchor="ctr"/>
          <a:lstStyle/>
          <a:p>
            <a:pPr marL="0" indent="0" algn="r">
              <a:buNone/>
            </a:pPr>
            <a:r>
              <a:rPr lang="en-US" sz="900" dirty="0">
                <a:solidFill>
                  <a:srgbClr val="5A6B7B"/>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84048"/>
            <a:ext cx="457200" cy="457200"/>
          </a:xfrm>
          <a:prstGeom prst="ellipse">
            <a:avLst/>
          </a:prstGeom>
          <a:solidFill>
            <a:srgbClr val="0B2545"/>
          </a:solidFill>
          <a:ln/>
        </p:spPr>
        <p:txBody>
          <a:bodyPr/>
          <a:lstStyle/>
          <a:p>
            <a:endParaRPr lang="en-NG"/>
          </a:p>
        </p:txBody>
      </p:sp>
      <p:sp>
        <p:nvSpPr>
          <p:cNvPr id="3" name="Text 1"/>
          <p:cNvSpPr txBox="1"/>
          <p:nvPr/>
        </p:nvSpPr>
        <p:spPr>
          <a:xfrm>
            <a:off x="548640" y="384048"/>
            <a:ext cx="457200" cy="45720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4" name="Text 2"/>
          <p:cNvSpPr txBox="1"/>
          <p:nvPr/>
        </p:nvSpPr>
        <p:spPr>
          <a:xfrm>
            <a:off x="548640" y="658368"/>
            <a:ext cx="10607040" cy="731520"/>
          </a:xfrm>
          <a:prstGeom prst="rect">
            <a:avLst/>
          </a:prstGeom>
          <a:noFill/>
          <a:ln/>
        </p:spPr>
        <p:txBody>
          <a:bodyPr wrap="square" rtlCol="0" anchor="ctr"/>
          <a:lstStyle/>
          <a:p>
            <a:pPr marL="0" indent="0">
              <a:buNone/>
            </a:pPr>
            <a:r>
              <a:rPr lang="en-US" sz="2500" b="1" dirty="0">
                <a:solidFill>
                  <a:srgbClr val="0B2545"/>
                </a:solidFill>
                <a:latin typeface="Cambria" pitchFamily="34" charset="0"/>
                <a:ea typeface="Cambria" pitchFamily="34" charset="-122"/>
                <a:cs typeface="Cambria" pitchFamily="34" charset="-120"/>
              </a:rPr>
              <a:t>Problem Statement</a:t>
            </a:r>
            <a:endParaRPr lang="en-US" sz="2500" dirty="0"/>
          </a:p>
        </p:txBody>
      </p:sp>
      <p:sp>
        <p:nvSpPr>
          <p:cNvPr id="5" name="Text 3"/>
          <p:cNvSpPr txBox="1"/>
          <p:nvPr/>
        </p:nvSpPr>
        <p:spPr>
          <a:xfrm>
            <a:off x="548640" y="1417320"/>
            <a:ext cx="10881360" cy="1417320"/>
          </a:xfrm>
          <a:prstGeom prst="rect">
            <a:avLst/>
          </a:prstGeom>
          <a:noFill/>
          <a:ln/>
        </p:spPr>
        <p:txBody>
          <a:bodyPr wrap="square" rtlCol="0" anchor="ctr"/>
          <a:lstStyle/>
          <a:p>
            <a:pPr marL="0" indent="0" algn="just">
              <a:lnSpc>
                <a:spcPct val="122000"/>
              </a:lnSpc>
              <a:buNone/>
            </a:pPr>
            <a:r>
              <a:rPr lang="en-US" sz="1400" dirty="0">
                <a:solidFill>
                  <a:srgbClr val="0B2545"/>
                </a:solidFill>
                <a:latin typeface="Calibri" pitchFamily="34" charset="0"/>
                <a:ea typeface="Calibri" pitchFamily="34" charset="-122"/>
                <a:cs typeface="Calibri" pitchFamily="34" charset="-120"/>
              </a:rPr>
              <a:t>Access to reliable electricity remains a major development challenge across Africa, particularly Sub-Saharan Africa. The challenge goes beyond generation; it involves distribution, affordability and reliability. Nigeria illustrates this: substantial gas and hydropower resources exist, yet availability and consumption don't always translate into reliable access for every user. Without structured analysis, consumption records stay individual data points, with no clear picture of demand, customer segments, or cases needing investigation</a:t>
            </a:r>
            <a:r>
              <a:rPr lang="en-US" sz="1250" dirty="0">
                <a:solidFill>
                  <a:srgbClr val="0B2545"/>
                </a:solidFill>
                <a:latin typeface="Calibri" pitchFamily="34" charset="0"/>
                <a:ea typeface="Calibri" pitchFamily="34" charset="-122"/>
                <a:cs typeface="Calibri" pitchFamily="34" charset="-120"/>
              </a:rPr>
              <a:t>.</a:t>
            </a:r>
            <a:endParaRPr lang="en-US" sz="1250" dirty="0"/>
          </a:p>
        </p:txBody>
      </p:sp>
      <p:sp>
        <p:nvSpPr>
          <p:cNvPr id="6" name="Text 4"/>
          <p:cNvSpPr txBox="1"/>
          <p:nvPr/>
        </p:nvSpPr>
        <p:spPr>
          <a:xfrm>
            <a:off x="548640" y="2926080"/>
            <a:ext cx="7315200" cy="274320"/>
          </a:xfrm>
          <a:prstGeom prst="rect">
            <a:avLst/>
          </a:prstGeom>
          <a:noFill/>
          <a:ln/>
        </p:spPr>
        <p:txBody>
          <a:bodyPr wrap="square" rtlCol="0" anchor="ctr"/>
          <a:lstStyle/>
          <a:p>
            <a:pPr marL="0" indent="0">
              <a:buNone/>
            </a:pPr>
            <a:r>
              <a:rPr lang="en-US" sz="1100" b="1" kern="0" spc="150" dirty="0">
                <a:solidFill>
                  <a:srgbClr val="F4A300"/>
                </a:solidFill>
                <a:latin typeface="Calibri" pitchFamily="34" charset="0"/>
                <a:ea typeface="Calibri" pitchFamily="34" charset="-122"/>
                <a:cs typeface="Calibri" pitchFamily="34" charset="-120"/>
              </a:rPr>
              <a:t>THE PROBLEM, IN THREE PARTS</a:t>
            </a:r>
            <a:endParaRPr lang="en-US" sz="1100" dirty="0"/>
          </a:p>
        </p:txBody>
      </p:sp>
      <p:sp>
        <p:nvSpPr>
          <p:cNvPr id="7" name="Shape 5"/>
          <p:cNvSpPr/>
          <p:nvPr/>
        </p:nvSpPr>
        <p:spPr>
          <a:xfrm>
            <a:off x="548640" y="3291840"/>
            <a:ext cx="3520440" cy="2148840"/>
          </a:xfrm>
          <a:prstGeom prst="roundRect">
            <a:avLst>
              <a:gd name="adj" fmla="val 3404"/>
            </a:avLst>
          </a:prstGeom>
          <a:solidFill>
            <a:srgbClr val="F7F9FC"/>
          </a:solidFill>
          <a:ln w="12700">
            <a:solidFill>
              <a:srgbClr val="E2E8F0"/>
            </a:solidFill>
            <a:prstDash val="solid"/>
          </a:ln>
        </p:spPr>
        <p:txBody>
          <a:bodyPr/>
          <a:lstStyle/>
          <a:p>
            <a:endParaRPr lang="en-NG"/>
          </a:p>
        </p:txBody>
      </p:sp>
      <p:sp>
        <p:nvSpPr>
          <p:cNvPr id="8" name="Shape 6"/>
          <p:cNvSpPr/>
          <p:nvPr/>
        </p:nvSpPr>
        <p:spPr>
          <a:xfrm>
            <a:off x="749808" y="3493008"/>
            <a:ext cx="475488" cy="475488"/>
          </a:xfrm>
          <a:prstGeom prst="ellipse">
            <a:avLst/>
          </a:prstGeom>
          <a:solidFill>
            <a:srgbClr val="0B2545"/>
          </a:solidFill>
          <a:ln/>
        </p:spPr>
        <p:txBody>
          <a:bodyPr/>
          <a:lstStyle/>
          <a:p>
            <a:endParaRPr lang="en-NG"/>
          </a:p>
        </p:txBody>
      </p:sp>
      <p:pic>
        <p:nvPicPr>
          <p:cNvPr id="9" name="Image 0" descr="icons/industry_FFFFFF.png"/>
          <p:cNvPicPr>
            <a:picLocks noChangeAspect="1"/>
          </p:cNvPicPr>
          <p:nvPr/>
        </p:nvPicPr>
        <p:blipFill>
          <a:blip r:embed="rId3">
            <a:duotone>
              <a:prstClr val="black"/>
              <a:schemeClr val="bg1">
                <a:tint val="45000"/>
                <a:satMod val="400000"/>
              </a:schemeClr>
            </a:duotone>
            <a:extLst>
              <a:ext uri="{BEBA8EAE-BF5A-486C-A8C5-ECC9F3942E4B}">
                <a14:imgProps xmlns:a14="http://schemas.microsoft.com/office/drawing/2010/main">
                  <a14:imgLayer r:embed="rId4">
                    <a14:imgEffect>
                      <a14:brightnessContrast bright="100000"/>
                    </a14:imgEffect>
                  </a14:imgLayer>
                </a14:imgProps>
              </a:ext>
            </a:extLst>
          </a:blip>
          <a:stretch>
            <a:fillRect/>
          </a:stretch>
        </p:blipFill>
        <p:spPr>
          <a:xfrm>
            <a:off x="873435" y="3616635"/>
            <a:ext cx="228234" cy="228234"/>
          </a:xfrm>
          <a:prstGeom prst="rect">
            <a:avLst/>
          </a:prstGeom>
          <a:solidFill>
            <a:srgbClr val="0B2545"/>
          </a:solidFill>
        </p:spPr>
      </p:pic>
      <p:sp>
        <p:nvSpPr>
          <p:cNvPr id="10" name="Text 7"/>
          <p:cNvSpPr txBox="1"/>
          <p:nvPr/>
        </p:nvSpPr>
        <p:spPr>
          <a:xfrm>
            <a:off x="749808" y="4069080"/>
            <a:ext cx="3118104" cy="365760"/>
          </a:xfrm>
          <a:prstGeom prst="rect">
            <a:avLst/>
          </a:prstGeom>
          <a:noFill/>
          <a:ln/>
        </p:spPr>
        <p:txBody>
          <a:bodyPr wrap="square" rtlCol="0" anchor="ctr"/>
          <a:lstStyle/>
          <a:p>
            <a:pPr marL="0" indent="0">
              <a:buNone/>
            </a:pPr>
            <a:r>
              <a:rPr lang="en-US" sz="1400" b="1" dirty="0">
                <a:solidFill>
                  <a:srgbClr val="0B2545"/>
                </a:solidFill>
                <a:latin typeface="Cambria" pitchFamily="34" charset="0"/>
                <a:ea typeface="Cambria" pitchFamily="34" charset="-122"/>
                <a:cs typeface="Cambria" pitchFamily="34" charset="-120"/>
              </a:rPr>
              <a:t>Nigeria's Reality</a:t>
            </a:r>
            <a:endParaRPr lang="en-US" sz="1400" dirty="0"/>
          </a:p>
        </p:txBody>
      </p:sp>
      <p:sp>
        <p:nvSpPr>
          <p:cNvPr id="11" name="Text 8"/>
          <p:cNvSpPr txBox="1"/>
          <p:nvPr/>
        </p:nvSpPr>
        <p:spPr>
          <a:xfrm>
            <a:off x="749808" y="4434840"/>
            <a:ext cx="3118104" cy="914400"/>
          </a:xfrm>
          <a:prstGeom prst="rect">
            <a:avLst/>
          </a:prstGeom>
          <a:noFill/>
          <a:ln/>
        </p:spPr>
        <p:txBody>
          <a:bodyPr wrap="square" rtlCol="0" anchor="ctr"/>
          <a:lstStyle/>
          <a:p>
            <a:pPr marL="0" indent="0">
              <a:lnSpc>
                <a:spcPct val="118000"/>
              </a:lnSpc>
              <a:buNone/>
            </a:pPr>
            <a:r>
              <a:rPr lang="en-US" sz="1200" dirty="0">
                <a:solidFill>
                  <a:srgbClr val="5A6B7B"/>
                </a:solidFill>
                <a:latin typeface="Calibri" pitchFamily="34" charset="0"/>
                <a:ea typeface="Calibri" pitchFamily="34" charset="-122"/>
                <a:cs typeface="Calibri" pitchFamily="34" charset="-120"/>
              </a:rPr>
              <a:t>Substantial gas and hydropower resources exist, yet availability and consumption don't always translate into reliable access for every user.</a:t>
            </a:r>
            <a:endParaRPr lang="en-US" sz="1200" dirty="0"/>
          </a:p>
        </p:txBody>
      </p:sp>
      <p:sp>
        <p:nvSpPr>
          <p:cNvPr id="12" name="Shape 9"/>
          <p:cNvSpPr/>
          <p:nvPr/>
        </p:nvSpPr>
        <p:spPr>
          <a:xfrm>
            <a:off x="4325112" y="3291840"/>
            <a:ext cx="3520440" cy="2148840"/>
          </a:xfrm>
          <a:prstGeom prst="roundRect">
            <a:avLst>
              <a:gd name="adj" fmla="val 3404"/>
            </a:avLst>
          </a:prstGeom>
          <a:solidFill>
            <a:srgbClr val="F7F9FC"/>
          </a:solidFill>
          <a:ln w="12700">
            <a:solidFill>
              <a:srgbClr val="E2E8F0"/>
            </a:solidFill>
            <a:prstDash val="solid"/>
          </a:ln>
        </p:spPr>
        <p:txBody>
          <a:bodyPr/>
          <a:lstStyle/>
          <a:p>
            <a:endParaRPr lang="en-NG"/>
          </a:p>
        </p:txBody>
      </p:sp>
      <p:sp>
        <p:nvSpPr>
          <p:cNvPr id="13" name="Shape 10"/>
          <p:cNvSpPr/>
          <p:nvPr/>
        </p:nvSpPr>
        <p:spPr>
          <a:xfrm>
            <a:off x="4526280" y="3493008"/>
            <a:ext cx="475488" cy="475488"/>
          </a:xfrm>
          <a:prstGeom prst="ellipse">
            <a:avLst/>
          </a:prstGeom>
          <a:solidFill>
            <a:srgbClr val="0B2545"/>
          </a:solidFill>
          <a:ln/>
        </p:spPr>
        <p:txBody>
          <a:bodyPr/>
          <a:lstStyle/>
          <a:p>
            <a:endParaRPr lang="en-NG"/>
          </a:p>
        </p:txBody>
      </p:sp>
      <p:pic>
        <p:nvPicPr>
          <p:cNvPr id="14" name="Image 1" descr="icons/network_FFFFFF.png"/>
          <p:cNvPicPr>
            <a:picLocks noChangeAspect="1"/>
          </p:cNvPicPr>
          <p:nvPr/>
        </p:nvPicPr>
        <p:blipFill>
          <a:blip r:embed="rId5">
            <a:extLst>
              <a:ext uri="{BEBA8EAE-BF5A-486C-A8C5-ECC9F3942E4B}">
                <a14:imgProps xmlns:a14="http://schemas.microsoft.com/office/drawing/2010/main">
                  <a14:imgLayer r:embed="rId6">
                    <a14:imgEffect>
                      <a14:brightnessContrast bright="100000"/>
                    </a14:imgEffect>
                  </a14:imgLayer>
                </a14:imgProps>
              </a:ext>
            </a:extLst>
          </a:blip>
          <a:stretch>
            <a:fillRect/>
          </a:stretch>
        </p:blipFill>
        <p:spPr>
          <a:xfrm>
            <a:off x="4649907" y="3616635"/>
            <a:ext cx="228234" cy="228234"/>
          </a:xfrm>
          <a:prstGeom prst="rect">
            <a:avLst/>
          </a:prstGeom>
        </p:spPr>
      </p:pic>
      <p:sp>
        <p:nvSpPr>
          <p:cNvPr id="15" name="Text 11"/>
          <p:cNvSpPr txBox="1"/>
          <p:nvPr/>
        </p:nvSpPr>
        <p:spPr>
          <a:xfrm>
            <a:off x="4526280" y="4069080"/>
            <a:ext cx="3118104" cy="365760"/>
          </a:xfrm>
          <a:prstGeom prst="rect">
            <a:avLst/>
          </a:prstGeom>
          <a:noFill/>
          <a:ln/>
        </p:spPr>
        <p:txBody>
          <a:bodyPr wrap="square" rtlCol="0" anchor="ctr"/>
          <a:lstStyle/>
          <a:p>
            <a:pPr marL="0" indent="0">
              <a:buNone/>
            </a:pPr>
            <a:r>
              <a:rPr lang="en-US" sz="1400" b="1" dirty="0">
                <a:solidFill>
                  <a:srgbClr val="0B2545"/>
                </a:solidFill>
                <a:latin typeface="Cambria" pitchFamily="34" charset="0"/>
                <a:ea typeface="Cambria" pitchFamily="34" charset="-122"/>
                <a:cs typeface="Cambria" pitchFamily="34" charset="-120"/>
              </a:rPr>
              <a:t>Structural Gaps</a:t>
            </a:r>
            <a:endParaRPr lang="en-US" sz="1400" dirty="0"/>
          </a:p>
        </p:txBody>
      </p:sp>
      <p:sp>
        <p:nvSpPr>
          <p:cNvPr id="16" name="Text 12"/>
          <p:cNvSpPr txBox="1"/>
          <p:nvPr/>
        </p:nvSpPr>
        <p:spPr>
          <a:xfrm>
            <a:off x="4526280" y="4434840"/>
            <a:ext cx="3118104" cy="914400"/>
          </a:xfrm>
          <a:prstGeom prst="rect">
            <a:avLst/>
          </a:prstGeom>
          <a:noFill/>
          <a:ln/>
        </p:spPr>
        <p:txBody>
          <a:bodyPr wrap="square" rtlCol="0" anchor="ctr"/>
          <a:lstStyle/>
          <a:p>
            <a:pPr marL="0" indent="0">
              <a:lnSpc>
                <a:spcPct val="118000"/>
              </a:lnSpc>
              <a:buNone/>
            </a:pPr>
            <a:r>
              <a:rPr lang="en-US" sz="1200" dirty="0">
                <a:solidFill>
                  <a:srgbClr val="5A6B7B"/>
                </a:solidFill>
                <a:latin typeface="Calibri" pitchFamily="34" charset="0"/>
                <a:ea typeface="Calibri" pitchFamily="34" charset="-122"/>
                <a:cs typeface="Calibri" pitchFamily="34" charset="-120"/>
              </a:rPr>
              <a:t>Location, customer type, electricity cost and outages all shape how electricity gets consumed across the country.</a:t>
            </a:r>
            <a:endParaRPr lang="en-US" sz="1200" dirty="0"/>
          </a:p>
        </p:txBody>
      </p:sp>
      <p:sp>
        <p:nvSpPr>
          <p:cNvPr id="17" name="Shape 13"/>
          <p:cNvSpPr/>
          <p:nvPr/>
        </p:nvSpPr>
        <p:spPr>
          <a:xfrm>
            <a:off x="8101584" y="3291840"/>
            <a:ext cx="3520440" cy="2148840"/>
          </a:xfrm>
          <a:prstGeom prst="roundRect">
            <a:avLst>
              <a:gd name="adj" fmla="val 3404"/>
            </a:avLst>
          </a:prstGeom>
          <a:solidFill>
            <a:srgbClr val="F7F9FC"/>
          </a:solidFill>
          <a:ln w="12700">
            <a:solidFill>
              <a:srgbClr val="E2E8F0"/>
            </a:solidFill>
            <a:prstDash val="solid"/>
          </a:ln>
        </p:spPr>
        <p:txBody>
          <a:bodyPr/>
          <a:lstStyle/>
          <a:p>
            <a:endParaRPr lang="en-NG"/>
          </a:p>
        </p:txBody>
      </p:sp>
      <p:sp>
        <p:nvSpPr>
          <p:cNvPr id="18" name="Shape 14"/>
          <p:cNvSpPr/>
          <p:nvPr/>
        </p:nvSpPr>
        <p:spPr>
          <a:xfrm>
            <a:off x="8302752" y="3493008"/>
            <a:ext cx="475488" cy="475488"/>
          </a:xfrm>
          <a:prstGeom prst="ellipse">
            <a:avLst/>
          </a:prstGeom>
          <a:solidFill>
            <a:srgbClr val="0B2545"/>
          </a:solidFill>
          <a:ln/>
        </p:spPr>
        <p:txBody>
          <a:bodyPr/>
          <a:lstStyle/>
          <a:p>
            <a:endParaRPr lang="en-NG"/>
          </a:p>
        </p:txBody>
      </p:sp>
      <p:pic>
        <p:nvPicPr>
          <p:cNvPr id="19" name="Image 2" descr="icons/chartbar_FFFFFF.png"/>
          <p:cNvPicPr>
            <a:picLocks noChangeAspect="1"/>
          </p:cNvPicPr>
          <p:nvPr/>
        </p:nvPicPr>
        <p:blipFill>
          <a:blip r:embed="rId7">
            <a:extLst>
              <a:ext uri="{BEBA8EAE-BF5A-486C-A8C5-ECC9F3942E4B}">
                <a14:imgProps xmlns:a14="http://schemas.microsoft.com/office/drawing/2010/main">
                  <a14:imgLayer r:embed="rId8">
                    <a14:imgEffect>
                      <a14:brightnessContrast bright="100000"/>
                    </a14:imgEffect>
                  </a14:imgLayer>
                </a14:imgProps>
              </a:ext>
            </a:extLst>
          </a:blip>
          <a:stretch>
            <a:fillRect/>
          </a:stretch>
        </p:blipFill>
        <p:spPr>
          <a:xfrm>
            <a:off x="8426379" y="3616635"/>
            <a:ext cx="228234" cy="228234"/>
          </a:xfrm>
          <a:prstGeom prst="rect">
            <a:avLst/>
          </a:prstGeom>
        </p:spPr>
      </p:pic>
      <p:sp>
        <p:nvSpPr>
          <p:cNvPr id="20" name="Text 15"/>
          <p:cNvSpPr txBox="1"/>
          <p:nvPr/>
        </p:nvSpPr>
        <p:spPr>
          <a:xfrm>
            <a:off x="8302752" y="4069080"/>
            <a:ext cx="3118104" cy="365760"/>
          </a:xfrm>
          <a:prstGeom prst="rect">
            <a:avLst/>
          </a:prstGeom>
          <a:noFill/>
          <a:ln/>
        </p:spPr>
        <p:txBody>
          <a:bodyPr wrap="square" rtlCol="0" anchor="ctr"/>
          <a:lstStyle/>
          <a:p>
            <a:pPr marL="0" indent="0">
              <a:buNone/>
            </a:pPr>
            <a:r>
              <a:rPr lang="en-US" sz="1400" b="1" dirty="0">
                <a:solidFill>
                  <a:srgbClr val="0B2545"/>
                </a:solidFill>
                <a:latin typeface="Cambria" pitchFamily="34" charset="0"/>
                <a:ea typeface="Cambria" pitchFamily="34" charset="-122"/>
                <a:cs typeface="Cambria" pitchFamily="34" charset="-120"/>
              </a:rPr>
              <a:t>The Data Gap</a:t>
            </a:r>
            <a:endParaRPr lang="en-US" sz="1400" dirty="0"/>
          </a:p>
        </p:txBody>
      </p:sp>
      <p:sp>
        <p:nvSpPr>
          <p:cNvPr id="21" name="Text 16"/>
          <p:cNvSpPr txBox="1"/>
          <p:nvPr/>
        </p:nvSpPr>
        <p:spPr>
          <a:xfrm>
            <a:off x="8302752" y="4434840"/>
            <a:ext cx="3118104" cy="914400"/>
          </a:xfrm>
          <a:prstGeom prst="rect">
            <a:avLst/>
          </a:prstGeom>
          <a:noFill/>
          <a:ln/>
        </p:spPr>
        <p:txBody>
          <a:bodyPr wrap="square" rtlCol="0" anchor="ctr"/>
          <a:lstStyle/>
          <a:p>
            <a:pPr marL="0" indent="0">
              <a:lnSpc>
                <a:spcPct val="118000"/>
              </a:lnSpc>
              <a:buNone/>
            </a:pPr>
            <a:r>
              <a:rPr lang="en-US" sz="1200" dirty="0">
                <a:solidFill>
                  <a:srgbClr val="5A6B7B"/>
                </a:solidFill>
                <a:latin typeface="Calibri" pitchFamily="34" charset="0"/>
                <a:ea typeface="Calibri" pitchFamily="34" charset="-122"/>
                <a:cs typeface="Calibri" pitchFamily="34" charset="-120"/>
              </a:rPr>
              <a:t>Without structured analysis, records stay individual data points — no clear picture of demand or which cases need investigation</a:t>
            </a:r>
            <a:r>
              <a:rPr lang="en-US" sz="1030" dirty="0">
                <a:solidFill>
                  <a:srgbClr val="5A6B7B"/>
                </a:solidFill>
                <a:latin typeface="Calibri" pitchFamily="34" charset="0"/>
                <a:ea typeface="Calibri" pitchFamily="34" charset="-122"/>
                <a:cs typeface="Calibri" pitchFamily="34" charset="-120"/>
              </a:rPr>
              <a:t>.</a:t>
            </a:r>
            <a:endParaRPr lang="en-US" sz="1030" dirty="0"/>
          </a:p>
        </p:txBody>
      </p:sp>
      <p:sp>
        <p:nvSpPr>
          <p:cNvPr id="22" name="Shape 17"/>
          <p:cNvSpPr/>
          <p:nvPr/>
        </p:nvSpPr>
        <p:spPr>
          <a:xfrm>
            <a:off x="548640" y="5623560"/>
            <a:ext cx="11064240" cy="685800"/>
          </a:xfrm>
          <a:prstGeom prst="roundRect">
            <a:avLst>
              <a:gd name="adj" fmla="val 8000"/>
            </a:avLst>
          </a:prstGeom>
          <a:solidFill>
            <a:srgbClr val="0B2545"/>
          </a:solidFill>
          <a:ln/>
        </p:spPr>
        <p:txBody>
          <a:bodyPr/>
          <a:lstStyle/>
          <a:p>
            <a:endParaRPr lang="en-NG"/>
          </a:p>
        </p:txBody>
      </p:sp>
      <p:sp>
        <p:nvSpPr>
          <p:cNvPr id="23" name="Text 18"/>
          <p:cNvSpPr txBox="1"/>
          <p:nvPr/>
        </p:nvSpPr>
        <p:spPr>
          <a:xfrm>
            <a:off x="777240" y="5669280"/>
            <a:ext cx="10607040" cy="594360"/>
          </a:xfrm>
          <a:prstGeom prst="rect">
            <a:avLst/>
          </a:prstGeom>
          <a:noFill/>
          <a:ln/>
        </p:spPr>
        <p:txBody>
          <a:bodyPr wrap="square" rtlCol="0" anchor="ctr"/>
          <a:lstStyle/>
          <a:p>
            <a:pPr marL="0" indent="0">
              <a:lnSpc>
                <a:spcPct val="110000"/>
              </a:lnSpc>
              <a:buNone/>
            </a:pPr>
            <a:r>
              <a:rPr lang="en-US" sz="1200" i="1" dirty="0">
                <a:solidFill>
                  <a:srgbClr val="CADCFC"/>
                </a:solidFill>
                <a:latin typeface="Calibri" pitchFamily="34" charset="0"/>
                <a:ea typeface="Calibri" pitchFamily="34" charset="-122"/>
                <a:cs typeface="Calibri" pitchFamily="34" charset="-120"/>
              </a:rPr>
              <a:t>This project approaches the challenge from a data perspective — turning structured electricity-consumption records into useful information about demand, cost, customer groups and usage patterns.</a:t>
            </a:r>
            <a:endParaRPr lang="en-US" sz="1200" dirty="0"/>
          </a:p>
        </p:txBody>
      </p:sp>
      <p:sp>
        <p:nvSpPr>
          <p:cNvPr id="24" name="Text 19"/>
          <p:cNvSpPr txBox="1"/>
          <p:nvPr/>
        </p:nvSpPr>
        <p:spPr>
          <a:xfrm>
            <a:off x="467360" y="6473952"/>
            <a:ext cx="7315200" cy="274320"/>
          </a:xfrm>
          <a:prstGeom prst="rect">
            <a:avLst/>
          </a:prstGeom>
          <a:noFill/>
          <a:ln/>
        </p:spPr>
        <p:txBody>
          <a:bodyPr wrap="square" rtlCol="0" anchor="ctr"/>
          <a:lstStyle/>
          <a:p>
            <a:pPr marL="0" indent="0">
              <a:buNone/>
            </a:pPr>
            <a:r>
              <a:rPr lang="en-US" sz="900" dirty="0">
                <a:solidFill>
                  <a:srgbClr val="5A6B7B"/>
                </a:solidFill>
                <a:latin typeface="Calibri" pitchFamily="34" charset="0"/>
                <a:ea typeface="Calibri" pitchFamily="34" charset="-122"/>
                <a:cs typeface="Calibri" pitchFamily="34" charset="-120"/>
              </a:rPr>
              <a:t>ENERGY CONSUMPTION ANALYSIS SYSTEM </a:t>
            </a:r>
            <a:endParaRPr lang="en-US" sz="900" dirty="0"/>
          </a:p>
        </p:txBody>
      </p:sp>
      <p:sp>
        <p:nvSpPr>
          <p:cNvPr id="25" name="Text 20"/>
          <p:cNvSpPr txBox="1"/>
          <p:nvPr/>
        </p:nvSpPr>
        <p:spPr>
          <a:xfrm>
            <a:off x="11274552" y="6473952"/>
            <a:ext cx="548640" cy="274320"/>
          </a:xfrm>
          <a:prstGeom prst="rect">
            <a:avLst/>
          </a:prstGeom>
          <a:noFill/>
          <a:ln/>
        </p:spPr>
        <p:txBody>
          <a:bodyPr wrap="square" rtlCol="0" anchor="ctr"/>
          <a:lstStyle/>
          <a:p>
            <a:pPr marL="0" indent="0" algn="r">
              <a:buNone/>
            </a:pPr>
            <a:r>
              <a:rPr lang="en-US" sz="900" dirty="0">
                <a:solidFill>
                  <a:srgbClr val="5A6B7B"/>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84048"/>
            <a:ext cx="457200" cy="457200"/>
          </a:xfrm>
          <a:prstGeom prst="ellipse">
            <a:avLst/>
          </a:prstGeom>
          <a:solidFill>
            <a:srgbClr val="0B2545"/>
          </a:solidFill>
          <a:ln/>
        </p:spPr>
        <p:txBody>
          <a:bodyPr/>
          <a:lstStyle/>
          <a:p>
            <a:endParaRPr lang="en-NG"/>
          </a:p>
        </p:txBody>
      </p:sp>
      <p:sp>
        <p:nvSpPr>
          <p:cNvPr id="3" name="Text 1"/>
          <p:cNvSpPr txBox="1"/>
          <p:nvPr/>
        </p:nvSpPr>
        <p:spPr>
          <a:xfrm>
            <a:off x="548640" y="384048"/>
            <a:ext cx="457200" cy="45720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4" name="Text 2"/>
          <p:cNvSpPr txBox="1"/>
          <p:nvPr/>
        </p:nvSpPr>
        <p:spPr>
          <a:xfrm>
            <a:off x="548640" y="658368"/>
            <a:ext cx="10607040" cy="731520"/>
          </a:xfrm>
          <a:prstGeom prst="rect">
            <a:avLst/>
          </a:prstGeom>
          <a:noFill/>
          <a:ln/>
        </p:spPr>
        <p:txBody>
          <a:bodyPr wrap="square"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Aim and Objectives</a:t>
            </a:r>
            <a:endParaRPr lang="en-US" sz="3000" dirty="0"/>
          </a:p>
        </p:txBody>
      </p:sp>
      <p:sp>
        <p:nvSpPr>
          <p:cNvPr id="5" name="Shape 3"/>
          <p:cNvSpPr/>
          <p:nvPr/>
        </p:nvSpPr>
        <p:spPr>
          <a:xfrm>
            <a:off x="548640" y="1417320"/>
            <a:ext cx="11109960" cy="1097280"/>
          </a:xfrm>
          <a:prstGeom prst="roundRect">
            <a:avLst>
              <a:gd name="adj" fmla="val 6667"/>
            </a:avLst>
          </a:prstGeom>
          <a:solidFill>
            <a:srgbClr val="0B2545"/>
          </a:solidFill>
          <a:ln/>
        </p:spPr>
        <p:txBody>
          <a:bodyPr/>
          <a:lstStyle/>
          <a:p>
            <a:endParaRPr lang="en-NG"/>
          </a:p>
        </p:txBody>
      </p:sp>
      <p:sp>
        <p:nvSpPr>
          <p:cNvPr id="6" name="Shape 4"/>
          <p:cNvSpPr/>
          <p:nvPr/>
        </p:nvSpPr>
        <p:spPr>
          <a:xfrm>
            <a:off x="777240" y="1600200"/>
            <a:ext cx="731520" cy="731520"/>
          </a:xfrm>
          <a:prstGeom prst="ellipse">
            <a:avLst/>
          </a:prstGeom>
          <a:solidFill>
            <a:srgbClr val="F4A300"/>
          </a:solidFill>
          <a:ln/>
        </p:spPr>
        <p:txBody>
          <a:bodyPr/>
          <a:lstStyle/>
          <a:p>
            <a:endParaRPr lang="en-NG"/>
          </a:p>
        </p:txBody>
      </p:sp>
      <p:pic>
        <p:nvPicPr>
          <p:cNvPr id="7" name="Image 0" descr="icons/target_0B2545.png"/>
          <p:cNvPicPr>
            <a:picLocks noChangeAspect="1"/>
          </p:cNvPicPr>
          <p:nvPr/>
        </p:nvPicPr>
        <p:blipFill>
          <a:blip r:embed="rId3"/>
          <a:stretch>
            <a:fillRect/>
          </a:stretch>
        </p:blipFill>
        <p:spPr>
          <a:xfrm>
            <a:off x="967435" y="1790395"/>
            <a:ext cx="351130" cy="351130"/>
          </a:xfrm>
          <a:prstGeom prst="rect">
            <a:avLst/>
          </a:prstGeom>
        </p:spPr>
      </p:pic>
      <p:sp>
        <p:nvSpPr>
          <p:cNvPr id="8" name="Text 5"/>
          <p:cNvSpPr txBox="1"/>
          <p:nvPr/>
        </p:nvSpPr>
        <p:spPr>
          <a:xfrm>
            <a:off x="1691640" y="1463040"/>
            <a:ext cx="9784080" cy="1005840"/>
          </a:xfrm>
          <a:prstGeom prst="rect">
            <a:avLst/>
          </a:prstGeom>
          <a:noFill/>
          <a:ln/>
        </p:spPr>
        <p:txBody>
          <a:bodyPr wrap="square" rtlCol="0" anchor="ctr"/>
          <a:lstStyle/>
          <a:p>
            <a:pPr marL="0" indent="0">
              <a:lnSpc>
                <a:spcPct val="120000"/>
              </a:lnSpc>
              <a:buNone/>
            </a:pPr>
            <a:r>
              <a:rPr lang="en-US" sz="1400" i="1" dirty="0">
                <a:solidFill>
                  <a:srgbClr val="FFFFFF"/>
                </a:solidFill>
                <a:latin typeface="Cambria" pitchFamily="34" charset="0"/>
                <a:ea typeface="Cambria" pitchFamily="34" charset="-122"/>
                <a:cs typeface="Cambria" pitchFamily="34" charset="-120"/>
              </a:rPr>
              <a:t>Develop a Python-based Energy Consumption Analysis System that analyzes structured electricity-consumption records and provides useful insights into consumption, cost, customer groups, locations and usage patterns.</a:t>
            </a:r>
            <a:endParaRPr lang="en-US" sz="1400" dirty="0"/>
          </a:p>
        </p:txBody>
      </p:sp>
      <p:sp>
        <p:nvSpPr>
          <p:cNvPr id="9" name="Text 6"/>
          <p:cNvSpPr txBox="1"/>
          <p:nvPr/>
        </p:nvSpPr>
        <p:spPr>
          <a:xfrm>
            <a:off x="548640" y="2697480"/>
            <a:ext cx="5486400" cy="274320"/>
          </a:xfrm>
          <a:prstGeom prst="rect">
            <a:avLst/>
          </a:prstGeom>
          <a:noFill/>
          <a:ln/>
        </p:spPr>
        <p:txBody>
          <a:bodyPr wrap="square" rtlCol="0" anchor="ctr"/>
          <a:lstStyle/>
          <a:p>
            <a:pPr marL="0" indent="0">
              <a:buNone/>
            </a:pPr>
            <a:r>
              <a:rPr lang="en-US" sz="1200" b="1" kern="0" spc="150" dirty="0">
                <a:solidFill>
                  <a:srgbClr val="F4A300"/>
                </a:solidFill>
                <a:latin typeface="Calibri" pitchFamily="34" charset="0"/>
                <a:ea typeface="Calibri" pitchFamily="34" charset="-122"/>
                <a:cs typeface="Calibri" pitchFamily="34" charset="-120"/>
              </a:rPr>
              <a:t>THE PROJECT SET OUT TO:</a:t>
            </a:r>
            <a:endParaRPr lang="en-US" sz="1200" dirty="0"/>
          </a:p>
        </p:txBody>
      </p:sp>
      <p:sp>
        <p:nvSpPr>
          <p:cNvPr id="10" name="Shape 7"/>
          <p:cNvSpPr/>
          <p:nvPr/>
        </p:nvSpPr>
        <p:spPr>
          <a:xfrm>
            <a:off x="548640" y="3017520"/>
            <a:ext cx="2651760" cy="1508760"/>
          </a:xfrm>
          <a:prstGeom prst="roundRect">
            <a:avLst>
              <a:gd name="adj" fmla="val 4242"/>
            </a:avLst>
          </a:prstGeom>
          <a:solidFill>
            <a:srgbClr val="F7F9FC"/>
          </a:solidFill>
          <a:ln w="12700">
            <a:solidFill>
              <a:srgbClr val="E2E8F0"/>
            </a:solidFill>
            <a:prstDash val="solid"/>
          </a:ln>
        </p:spPr>
        <p:txBody>
          <a:bodyPr/>
          <a:lstStyle/>
          <a:p>
            <a:endParaRPr lang="en-NG"/>
          </a:p>
        </p:txBody>
      </p:sp>
      <p:sp>
        <p:nvSpPr>
          <p:cNvPr id="11" name="Shape 8"/>
          <p:cNvSpPr/>
          <p:nvPr/>
        </p:nvSpPr>
        <p:spPr>
          <a:xfrm>
            <a:off x="713232" y="3163824"/>
            <a:ext cx="384048" cy="384048"/>
          </a:xfrm>
          <a:prstGeom prst="ellipse">
            <a:avLst/>
          </a:prstGeom>
          <a:solidFill>
            <a:srgbClr val="0B2545"/>
          </a:solidFill>
          <a:ln/>
        </p:spPr>
        <p:txBody>
          <a:bodyPr/>
          <a:lstStyle/>
          <a:p>
            <a:endParaRPr lang="en-NG"/>
          </a:p>
        </p:txBody>
      </p:sp>
      <p:pic>
        <p:nvPicPr>
          <p:cNvPr id="12" name="Image 1" descr="icons/database_FFFFFF.png"/>
          <p:cNvPicPr>
            <a:picLocks noChangeAspect="1"/>
          </p:cNvPicPr>
          <p:nvPr/>
        </p:nvPicPr>
        <p:blipFill>
          <a:blip r:embed="rId4">
            <a:extLst>
              <a:ext uri="{BEBA8EAE-BF5A-486C-A8C5-ECC9F3942E4B}">
                <a14:imgProps xmlns:a14="http://schemas.microsoft.com/office/drawing/2010/main">
                  <a14:imgLayer r:embed="rId5">
                    <a14:imgEffect>
                      <a14:brightnessContrast bright="100000"/>
                    </a14:imgEffect>
                  </a14:imgLayer>
                </a14:imgProps>
              </a:ext>
            </a:extLst>
          </a:blip>
          <a:stretch>
            <a:fillRect/>
          </a:stretch>
        </p:blipFill>
        <p:spPr>
          <a:xfrm>
            <a:off x="813084" y="3263676"/>
            <a:ext cx="184343" cy="184343"/>
          </a:xfrm>
          <a:prstGeom prst="rect">
            <a:avLst/>
          </a:prstGeom>
        </p:spPr>
      </p:pic>
      <p:sp>
        <p:nvSpPr>
          <p:cNvPr id="13" name="Text 9"/>
          <p:cNvSpPr txBox="1"/>
          <p:nvPr/>
        </p:nvSpPr>
        <p:spPr>
          <a:xfrm>
            <a:off x="694944" y="3621024"/>
            <a:ext cx="2359152" cy="457200"/>
          </a:xfrm>
          <a:prstGeom prst="rect">
            <a:avLst/>
          </a:prstGeom>
          <a:noFill/>
          <a:ln/>
        </p:spPr>
        <p:txBody>
          <a:bodyPr wrap="square" rtlCol="0" anchor="ctr"/>
          <a:lstStyle/>
          <a:p>
            <a:pPr marL="0" indent="0">
              <a:lnSpc>
                <a:spcPct val="105000"/>
              </a:lnSpc>
              <a:buNone/>
            </a:pPr>
            <a:r>
              <a:rPr lang="en-US" sz="1400" b="1" dirty="0">
                <a:solidFill>
                  <a:srgbClr val="0B2545"/>
                </a:solidFill>
                <a:latin typeface="Calibri" pitchFamily="34" charset="0"/>
                <a:ea typeface="Calibri" pitchFamily="34" charset="-122"/>
                <a:cs typeface="Calibri" pitchFamily="34" charset="-120"/>
              </a:rPr>
              <a:t>Structure the Data</a:t>
            </a:r>
            <a:endParaRPr lang="en-US" sz="1400" dirty="0"/>
          </a:p>
        </p:txBody>
      </p:sp>
      <p:sp>
        <p:nvSpPr>
          <p:cNvPr id="14" name="Text 10"/>
          <p:cNvSpPr txBox="1"/>
          <p:nvPr/>
        </p:nvSpPr>
        <p:spPr>
          <a:xfrm>
            <a:off x="694944" y="4041648"/>
            <a:ext cx="2359152" cy="438912"/>
          </a:xfrm>
          <a:prstGeom prst="rect">
            <a:avLst/>
          </a:prstGeom>
          <a:noFill/>
          <a:ln/>
        </p:spPr>
        <p:txBody>
          <a:bodyPr wrap="square" rtlCol="0" anchor="ctr"/>
          <a:lstStyle/>
          <a:p>
            <a:pPr marL="0" indent="0">
              <a:lnSpc>
                <a:spcPct val="105000"/>
              </a:lnSpc>
              <a:buNone/>
            </a:pPr>
            <a:r>
              <a:rPr lang="en-US" sz="1050" dirty="0">
                <a:solidFill>
                  <a:srgbClr val="5A6B7B"/>
                </a:solidFill>
                <a:latin typeface="Calibri" pitchFamily="34" charset="0"/>
                <a:ea typeface="Calibri" pitchFamily="34" charset="-122"/>
                <a:cs typeface="Calibri" pitchFamily="34" charset="-120"/>
              </a:rPr>
              <a:t>Lists and dictionaries for every record</a:t>
            </a:r>
            <a:endParaRPr lang="en-US" sz="1050" dirty="0"/>
          </a:p>
        </p:txBody>
      </p:sp>
      <p:sp>
        <p:nvSpPr>
          <p:cNvPr id="15" name="Shape 11"/>
          <p:cNvSpPr/>
          <p:nvPr/>
        </p:nvSpPr>
        <p:spPr>
          <a:xfrm>
            <a:off x="3337560" y="3017520"/>
            <a:ext cx="2651760" cy="1508760"/>
          </a:xfrm>
          <a:prstGeom prst="roundRect">
            <a:avLst>
              <a:gd name="adj" fmla="val 4242"/>
            </a:avLst>
          </a:prstGeom>
          <a:solidFill>
            <a:srgbClr val="F7F9FC"/>
          </a:solidFill>
          <a:ln w="12700">
            <a:solidFill>
              <a:srgbClr val="E2E8F0"/>
            </a:solidFill>
            <a:prstDash val="solid"/>
          </a:ln>
        </p:spPr>
        <p:txBody>
          <a:bodyPr/>
          <a:lstStyle/>
          <a:p>
            <a:endParaRPr lang="en-NG"/>
          </a:p>
        </p:txBody>
      </p:sp>
      <p:sp>
        <p:nvSpPr>
          <p:cNvPr id="16" name="Shape 12"/>
          <p:cNvSpPr/>
          <p:nvPr/>
        </p:nvSpPr>
        <p:spPr>
          <a:xfrm>
            <a:off x="3502152" y="3163824"/>
            <a:ext cx="384048" cy="384048"/>
          </a:xfrm>
          <a:prstGeom prst="ellipse">
            <a:avLst/>
          </a:prstGeom>
          <a:solidFill>
            <a:srgbClr val="0B2545"/>
          </a:solidFill>
          <a:ln/>
        </p:spPr>
        <p:txBody>
          <a:bodyPr/>
          <a:lstStyle/>
          <a:p>
            <a:endParaRPr lang="en-NG"/>
          </a:p>
        </p:txBody>
      </p:sp>
      <p:pic>
        <p:nvPicPr>
          <p:cNvPr id="17" name="Image 2" descr="icons/check_FFFFFF.png"/>
          <p:cNvPicPr>
            <a:picLocks noChangeAspect="1"/>
          </p:cNvPicPr>
          <p:nvPr/>
        </p:nvPicPr>
        <p:blipFill>
          <a:blip r:embed="rId6">
            <a:extLst>
              <a:ext uri="{BEBA8EAE-BF5A-486C-A8C5-ECC9F3942E4B}">
                <a14:imgProps xmlns:a14="http://schemas.microsoft.com/office/drawing/2010/main">
                  <a14:imgLayer r:embed="rId7">
                    <a14:imgEffect>
                      <a14:brightnessContrast bright="100000"/>
                    </a14:imgEffect>
                  </a14:imgLayer>
                </a14:imgProps>
              </a:ext>
            </a:extLst>
          </a:blip>
          <a:stretch>
            <a:fillRect/>
          </a:stretch>
        </p:blipFill>
        <p:spPr>
          <a:xfrm>
            <a:off x="3602004" y="3263676"/>
            <a:ext cx="184343" cy="184343"/>
          </a:xfrm>
          <a:prstGeom prst="rect">
            <a:avLst/>
          </a:prstGeom>
        </p:spPr>
      </p:pic>
      <p:sp>
        <p:nvSpPr>
          <p:cNvPr id="18" name="Text 13"/>
          <p:cNvSpPr txBox="1"/>
          <p:nvPr/>
        </p:nvSpPr>
        <p:spPr>
          <a:xfrm>
            <a:off x="3483864" y="3621024"/>
            <a:ext cx="2359152" cy="457200"/>
          </a:xfrm>
          <a:prstGeom prst="rect">
            <a:avLst/>
          </a:prstGeom>
          <a:noFill/>
          <a:ln/>
        </p:spPr>
        <p:txBody>
          <a:bodyPr wrap="square" rtlCol="0" anchor="ctr"/>
          <a:lstStyle/>
          <a:p>
            <a:pPr marL="0" indent="0">
              <a:lnSpc>
                <a:spcPct val="105000"/>
              </a:lnSpc>
              <a:buNone/>
            </a:pPr>
            <a:r>
              <a:rPr lang="en-US" sz="1400" b="1" dirty="0">
                <a:solidFill>
                  <a:srgbClr val="0B2545"/>
                </a:solidFill>
                <a:latin typeface="Calibri" pitchFamily="34" charset="0"/>
                <a:ea typeface="Calibri" pitchFamily="34" charset="-122"/>
                <a:cs typeface="Calibri" pitchFamily="34" charset="-120"/>
              </a:rPr>
              <a:t>Validate the Dataset</a:t>
            </a:r>
            <a:endParaRPr lang="en-US" sz="1400" dirty="0"/>
          </a:p>
        </p:txBody>
      </p:sp>
      <p:sp>
        <p:nvSpPr>
          <p:cNvPr id="19" name="Text 14"/>
          <p:cNvSpPr txBox="1"/>
          <p:nvPr/>
        </p:nvSpPr>
        <p:spPr>
          <a:xfrm>
            <a:off x="3483864" y="4041648"/>
            <a:ext cx="2359152" cy="438912"/>
          </a:xfrm>
          <a:prstGeom prst="rect">
            <a:avLst/>
          </a:prstGeom>
          <a:noFill/>
          <a:ln/>
        </p:spPr>
        <p:txBody>
          <a:bodyPr wrap="square" rtlCol="0" anchor="ctr"/>
          <a:lstStyle/>
          <a:p>
            <a:pPr marL="0" indent="0">
              <a:lnSpc>
                <a:spcPct val="105000"/>
              </a:lnSpc>
              <a:buNone/>
            </a:pPr>
            <a:r>
              <a:rPr lang="en-US" sz="1050" dirty="0">
                <a:solidFill>
                  <a:srgbClr val="5A6B7B"/>
                </a:solidFill>
                <a:latin typeface="Calibri" pitchFamily="34" charset="0"/>
                <a:ea typeface="Calibri" pitchFamily="34" charset="-122"/>
                <a:cs typeface="Calibri" pitchFamily="34" charset="-120"/>
              </a:rPr>
              <a:t>Missing IDs, invalid values, duplicates</a:t>
            </a:r>
            <a:endParaRPr lang="en-US" sz="1050" dirty="0"/>
          </a:p>
        </p:txBody>
      </p:sp>
      <p:sp>
        <p:nvSpPr>
          <p:cNvPr id="20" name="Shape 15"/>
          <p:cNvSpPr/>
          <p:nvPr/>
        </p:nvSpPr>
        <p:spPr>
          <a:xfrm>
            <a:off x="6126480" y="3017520"/>
            <a:ext cx="2651760" cy="1508760"/>
          </a:xfrm>
          <a:prstGeom prst="roundRect">
            <a:avLst>
              <a:gd name="adj" fmla="val 4242"/>
            </a:avLst>
          </a:prstGeom>
          <a:solidFill>
            <a:srgbClr val="F7F9FC"/>
          </a:solidFill>
          <a:ln w="12700">
            <a:solidFill>
              <a:srgbClr val="E2E8F0"/>
            </a:solidFill>
            <a:prstDash val="solid"/>
          </a:ln>
        </p:spPr>
        <p:txBody>
          <a:bodyPr/>
          <a:lstStyle/>
          <a:p>
            <a:endParaRPr lang="en-NG"/>
          </a:p>
        </p:txBody>
      </p:sp>
      <p:sp>
        <p:nvSpPr>
          <p:cNvPr id="21" name="Shape 16"/>
          <p:cNvSpPr/>
          <p:nvPr/>
        </p:nvSpPr>
        <p:spPr>
          <a:xfrm>
            <a:off x="6291072" y="3163824"/>
            <a:ext cx="384048" cy="384048"/>
          </a:xfrm>
          <a:prstGeom prst="ellipse">
            <a:avLst/>
          </a:prstGeom>
          <a:solidFill>
            <a:srgbClr val="0B2545"/>
          </a:solidFill>
          <a:ln/>
        </p:spPr>
        <p:txBody>
          <a:bodyPr/>
          <a:lstStyle/>
          <a:p>
            <a:endParaRPr lang="en-NG"/>
          </a:p>
        </p:txBody>
      </p:sp>
      <p:pic>
        <p:nvPicPr>
          <p:cNvPr id="22" name="Image 3" descr="icons/chartbar_FFFFFF.png"/>
          <p:cNvPicPr>
            <a:picLocks noChangeAspect="1"/>
          </p:cNvPicPr>
          <p:nvPr/>
        </p:nvPicPr>
        <p:blipFill>
          <a:blip r:embed="rId8">
            <a:extLst>
              <a:ext uri="{BEBA8EAE-BF5A-486C-A8C5-ECC9F3942E4B}">
                <a14:imgProps xmlns:a14="http://schemas.microsoft.com/office/drawing/2010/main">
                  <a14:imgLayer r:embed="rId9">
                    <a14:imgEffect>
                      <a14:brightnessContrast bright="100000"/>
                    </a14:imgEffect>
                  </a14:imgLayer>
                </a14:imgProps>
              </a:ext>
            </a:extLst>
          </a:blip>
          <a:stretch>
            <a:fillRect/>
          </a:stretch>
        </p:blipFill>
        <p:spPr>
          <a:xfrm>
            <a:off x="6390924" y="3263676"/>
            <a:ext cx="184343" cy="184343"/>
          </a:xfrm>
          <a:prstGeom prst="rect">
            <a:avLst/>
          </a:prstGeom>
        </p:spPr>
      </p:pic>
      <p:sp>
        <p:nvSpPr>
          <p:cNvPr id="23" name="Text 17"/>
          <p:cNvSpPr txBox="1"/>
          <p:nvPr/>
        </p:nvSpPr>
        <p:spPr>
          <a:xfrm>
            <a:off x="6272784" y="3621024"/>
            <a:ext cx="2359152" cy="457200"/>
          </a:xfrm>
          <a:prstGeom prst="rect">
            <a:avLst/>
          </a:prstGeom>
          <a:noFill/>
          <a:ln/>
        </p:spPr>
        <p:txBody>
          <a:bodyPr wrap="square" rtlCol="0" anchor="ctr"/>
          <a:lstStyle/>
          <a:p>
            <a:pPr marL="0" indent="0">
              <a:lnSpc>
                <a:spcPct val="105000"/>
              </a:lnSpc>
              <a:buNone/>
            </a:pPr>
            <a:r>
              <a:rPr lang="en-US" sz="1400" b="1" dirty="0">
                <a:solidFill>
                  <a:srgbClr val="0B2545"/>
                </a:solidFill>
                <a:latin typeface="Calibri" pitchFamily="34" charset="0"/>
                <a:ea typeface="Calibri" pitchFamily="34" charset="-122"/>
                <a:cs typeface="Calibri" pitchFamily="34" charset="-120"/>
              </a:rPr>
              <a:t>Calculate Core Metrics</a:t>
            </a:r>
            <a:endParaRPr lang="en-US" sz="1400" dirty="0"/>
          </a:p>
        </p:txBody>
      </p:sp>
      <p:sp>
        <p:nvSpPr>
          <p:cNvPr id="24" name="Text 18"/>
          <p:cNvSpPr txBox="1"/>
          <p:nvPr/>
        </p:nvSpPr>
        <p:spPr>
          <a:xfrm>
            <a:off x="6272784" y="4041648"/>
            <a:ext cx="2359152" cy="438912"/>
          </a:xfrm>
          <a:prstGeom prst="rect">
            <a:avLst/>
          </a:prstGeom>
          <a:noFill/>
          <a:ln/>
        </p:spPr>
        <p:txBody>
          <a:bodyPr wrap="square" rtlCol="0" anchor="ctr"/>
          <a:lstStyle/>
          <a:p>
            <a:pPr marL="0" indent="0">
              <a:lnSpc>
                <a:spcPct val="105000"/>
              </a:lnSpc>
              <a:buNone/>
            </a:pPr>
            <a:r>
              <a:rPr lang="en-US" sz="1050" dirty="0">
                <a:solidFill>
                  <a:srgbClr val="5A6B7B"/>
                </a:solidFill>
                <a:latin typeface="Calibri" pitchFamily="34" charset="0"/>
                <a:ea typeface="Calibri" pitchFamily="34" charset="-122"/>
                <a:cs typeface="Calibri" pitchFamily="34" charset="-120"/>
              </a:rPr>
              <a:t>Total, average, max, min consumption</a:t>
            </a:r>
            <a:endParaRPr lang="en-US" sz="1050" dirty="0"/>
          </a:p>
        </p:txBody>
      </p:sp>
      <p:sp>
        <p:nvSpPr>
          <p:cNvPr id="25" name="Shape 19"/>
          <p:cNvSpPr/>
          <p:nvPr/>
        </p:nvSpPr>
        <p:spPr>
          <a:xfrm>
            <a:off x="8915400" y="3017520"/>
            <a:ext cx="2651760" cy="1508760"/>
          </a:xfrm>
          <a:prstGeom prst="roundRect">
            <a:avLst>
              <a:gd name="adj" fmla="val 4242"/>
            </a:avLst>
          </a:prstGeom>
          <a:solidFill>
            <a:srgbClr val="F7F9FC"/>
          </a:solidFill>
          <a:ln w="12700">
            <a:solidFill>
              <a:srgbClr val="E2E8F0"/>
            </a:solidFill>
            <a:prstDash val="solid"/>
          </a:ln>
        </p:spPr>
        <p:txBody>
          <a:bodyPr/>
          <a:lstStyle/>
          <a:p>
            <a:endParaRPr lang="en-NG"/>
          </a:p>
        </p:txBody>
      </p:sp>
      <p:sp>
        <p:nvSpPr>
          <p:cNvPr id="26" name="Shape 20"/>
          <p:cNvSpPr/>
          <p:nvPr/>
        </p:nvSpPr>
        <p:spPr>
          <a:xfrm>
            <a:off x="9079992" y="3163824"/>
            <a:ext cx="384048" cy="384048"/>
          </a:xfrm>
          <a:prstGeom prst="ellipse">
            <a:avLst/>
          </a:prstGeom>
          <a:solidFill>
            <a:srgbClr val="0B2545"/>
          </a:solidFill>
          <a:ln/>
        </p:spPr>
        <p:txBody>
          <a:bodyPr/>
          <a:lstStyle/>
          <a:p>
            <a:endParaRPr lang="en-NG"/>
          </a:p>
        </p:txBody>
      </p:sp>
      <p:pic>
        <p:nvPicPr>
          <p:cNvPr id="27" name="Image 4" descr="icons/money_FFFFFF.png"/>
          <p:cNvPicPr>
            <a:picLocks noChangeAspect="1"/>
          </p:cNvPicPr>
          <p:nvPr/>
        </p:nvPicPr>
        <p:blipFill>
          <a:blip r:embed="rId10">
            <a:extLst>
              <a:ext uri="{BEBA8EAE-BF5A-486C-A8C5-ECC9F3942E4B}">
                <a14:imgProps xmlns:a14="http://schemas.microsoft.com/office/drawing/2010/main">
                  <a14:imgLayer r:embed="rId11">
                    <a14:imgEffect>
                      <a14:brightnessContrast bright="100000"/>
                    </a14:imgEffect>
                  </a14:imgLayer>
                </a14:imgProps>
              </a:ext>
            </a:extLst>
          </a:blip>
          <a:stretch>
            <a:fillRect/>
          </a:stretch>
        </p:blipFill>
        <p:spPr>
          <a:xfrm>
            <a:off x="9179844" y="3263676"/>
            <a:ext cx="184343" cy="184343"/>
          </a:xfrm>
          <a:prstGeom prst="rect">
            <a:avLst/>
          </a:prstGeom>
        </p:spPr>
      </p:pic>
      <p:sp>
        <p:nvSpPr>
          <p:cNvPr id="28" name="Text 21"/>
          <p:cNvSpPr txBox="1"/>
          <p:nvPr/>
        </p:nvSpPr>
        <p:spPr>
          <a:xfrm>
            <a:off x="9061704" y="3621024"/>
            <a:ext cx="2359152" cy="457200"/>
          </a:xfrm>
          <a:prstGeom prst="rect">
            <a:avLst/>
          </a:prstGeom>
          <a:noFill/>
          <a:ln/>
        </p:spPr>
        <p:txBody>
          <a:bodyPr wrap="square" rtlCol="0" anchor="ctr"/>
          <a:lstStyle/>
          <a:p>
            <a:pPr marL="0" indent="0">
              <a:lnSpc>
                <a:spcPct val="105000"/>
              </a:lnSpc>
              <a:buNone/>
            </a:pPr>
            <a:r>
              <a:rPr lang="en-US" sz="1400" b="1" dirty="0">
                <a:solidFill>
                  <a:srgbClr val="0B2545"/>
                </a:solidFill>
                <a:latin typeface="Calibri" pitchFamily="34" charset="0"/>
                <a:ea typeface="Calibri" pitchFamily="34" charset="-122"/>
                <a:cs typeface="Calibri" pitchFamily="34" charset="-120"/>
              </a:rPr>
              <a:t>Analyze Cost</a:t>
            </a:r>
            <a:endParaRPr lang="en-US" sz="1400" dirty="0"/>
          </a:p>
        </p:txBody>
      </p:sp>
      <p:sp>
        <p:nvSpPr>
          <p:cNvPr id="29" name="Text 22"/>
          <p:cNvSpPr txBox="1"/>
          <p:nvPr/>
        </p:nvSpPr>
        <p:spPr>
          <a:xfrm>
            <a:off x="9061704" y="4041648"/>
            <a:ext cx="2359152" cy="438912"/>
          </a:xfrm>
          <a:prstGeom prst="rect">
            <a:avLst/>
          </a:prstGeom>
          <a:noFill/>
          <a:ln/>
        </p:spPr>
        <p:txBody>
          <a:bodyPr wrap="square" rtlCol="0" anchor="ctr"/>
          <a:lstStyle/>
          <a:p>
            <a:pPr marL="0" indent="0">
              <a:lnSpc>
                <a:spcPct val="105000"/>
              </a:lnSpc>
              <a:buNone/>
            </a:pPr>
            <a:r>
              <a:rPr lang="en-US" sz="1050" dirty="0">
                <a:solidFill>
                  <a:srgbClr val="5A6B7B"/>
                </a:solidFill>
                <a:latin typeface="Calibri" pitchFamily="34" charset="0"/>
                <a:ea typeface="Calibri" pitchFamily="34" charset="-122"/>
                <a:cs typeface="Calibri" pitchFamily="34" charset="-120"/>
              </a:rPr>
              <a:t>Consumption × tariff, per customer and overall</a:t>
            </a:r>
            <a:endParaRPr lang="en-US" sz="1050" dirty="0"/>
          </a:p>
        </p:txBody>
      </p:sp>
      <p:sp>
        <p:nvSpPr>
          <p:cNvPr id="30" name="Shape 23"/>
          <p:cNvSpPr/>
          <p:nvPr/>
        </p:nvSpPr>
        <p:spPr>
          <a:xfrm>
            <a:off x="548640" y="4663440"/>
            <a:ext cx="2651760" cy="1508760"/>
          </a:xfrm>
          <a:prstGeom prst="roundRect">
            <a:avLst>
              <a:gd name="adj" fmla="val 4242"/>
            </a:avLst>
          </a:prstGeom>
          <a:solidFill>
            <a:srgbClr val="F7F9FC"/>
          </a:solidFill>
          <a:ln w="12700">
            <a:solidFill>
              <a:srgbClr val="E2E8F0"/>
            </a:solidFill>
            <a:prstDash val="solid"/>
          </a:ln>
        </p:spPr>
        <p:txBody>
          <a:bodyPr/>
          <a:lstStyle/>
          <a:p>
            <a:endParaRPr lang="en-NG"/>
          </a:p>
        </p:txBody>
      </p:sp>
      <p:sp>
        <p:nvSpPr>
          <p:cNvPr id="31" name="Shape 24"/>
          <p:cNvSpPr/>
          <p:nvPr/>
        </p:nvSpPr>
        <p:spPr>
          <a:xfrm>
            <a:off x="713232" y="4809744"/>
            <a:ext cx="384048" cy="384048"/>
          </a:xfrm>
          <a:prstGeom prst="ellipse">
            <a:avLst/>
          </a:prstGeom>
          <a:solidFill>
            <a:srgbClr val="0B2545"/>
          </a:solidFill>
          <a:ln/>
        </p:spPr>
        <p:txBody>
          <a:bodyPr/>
          <a:lstStyle/>
          <a:p>
            <a:endParaRPr lang="en-NG"/>
          </a:p>
        </p:txBody>
      </p:sp>
      <p:pic>
        <p:nvPicPr>
          <p:cNvPr id="32" name="Image 5" descr="icons/pin_FFFFFF.png"/>
          <p:cNvPicPr>
            <a:picLocks noChangeAspect="1"/>
          </p:cNvPicPr>
          <p:nvPr/>
        </p:nvPicPr>
        <p:blipFill>
          <a:blip r:embed="rId12">
            <a:extLst>
              <a:ext uri="{BEBA8EAE-BF5A-486C-A8C5-ECC9F3942E4B}">
                <a14:imgProps xmlns:a14="http://schemas.microsoft.com/office/drawing/2010/main">
                  <a14:imgLayer r:embed="rId13">
                    <a14:imgEffect>
                      <a14:brightnessContrast bright="100000"/>
                    </a14:imgEffect>
                  </a14:imgLayer>
                </a14:imgProps>
              </a:ext>
            </a:extLst>
          </a:blip>
          <a:stretch>
            <a:fillRect/>
          </a:stretch>
        </p:blipFill>
        <p:spPr>
          <a:xfrm>
            <a:off x="813084" y="4909596"/>
            <a:ext cx="184343" cy="184343"/>
          </a:xfrm>
          <a:prstGeom prst="rect">
            <a:avLst/>
          </a:prstGeom>
        </p:spPr>
      </p:pic>
      <p:sp>
        <p:nvSpPr>
          <p:cNvPr id="33" name="Text 25"/>
          <p:cNvSpPr txBox="1"/>
          <p:nvPr/>
        </p:nvSpPr>
        <p:spPr>
          <a:xfrm>
            <a:off x="694944" y="5266944"/>
            <a:ext cx="2359152" cy="457200"/>
          </a:xfrm>
          <a:prstGeom prst="rect">
            <a:avLst/>
          </a:prstGeom>
          <a:noFill/>
          <a:ln/>
        </p:spPr>
        <p:txBody>
          <a:bodyPr wrap="square" rtlCol="0" anchor="ctr"/>
          <a:lstStyle/>
          <a:p>
            <a:pPr marL="0" indent="0">
              <a:lnSpc>
                <a:spcPct val="105000"/>
              </a:lnSpc>
              <a:buNone/>
            </a:pPr>
            <a:r>
              <a:rPr lang="en-US" sz="1400" b="1" dirty="0">
                <a:solidFill>
                  <a:srgbClr val="0B2545"/>
                </a:solidFill>
                <a:latin typeface="Calibri" pitchFamily="34" charset="0"/>
                <a:ea typeface="Calibri" pitchFamily="34" charset="-122"/>
                <a:cs typeface="Calibri" pitchFamily="34" charset="-120"/>
              </a:rPr>
              <a:t>Compare Locations and Types</a:t>
            </a:r>
            <a:endParaRPr lang="en-US" sz="1400" dirty="0"/>
          </a:p>
        </p:txBody>
      </p:sp>
      <p:sp>
        <p:nvSpPr>
          <p:cNvPr id="34" name="Text 26"/>
          <p:cNvSpPr txBox="1"/>
          <p:nvPr/>
        </p:nvSpPr>
        <p:spPr>
          <a:xfrm>
            <a:off x="694944" y="5687568"/>
            <a:ext cx="2359152" cy="438912"/>
          </a:xfrm>
          <a:prstGeom prst="rect">
            <a:avLst/>
          </a:prstGeom>
          <a:noFill/>
          <a:ln/>
        </p:spPr>
        <p:txBody>
          <a:bodyPr wrap="square" rtlCol="0" anchor="ctr"/>
          <a:lstStyle/>
          <a:p>
            <a:pPr marL="0" indent="0">
              <a:lnSpc>
                <a:spcPct val="105000"/>
              </a:lnSpc>
              <a:buNone/>
            </a:pPr>
            <a:r>
              <a:rPr lang="en-US" sz="1050" dirty="0">
                <a:solidFill>
                  <a:srgbClr val="5A6B7B"/>
                </a:solidFill>
                <a:latin typeface="Calibri" pitchFamily="34" charset="0"/>
                <a:ea typeface="Calibri" pitchFamily="34" charset="-122"/>
                <a:cs typeface="Calibri" pitchFamily="34" charset="-120"/>
              </a:rPr>
              <a:t>Lagos, Abuja, Ibadan; 6 customer categories</a:t>
            </a:r>
            <a:endParaRPr lang="en-US" sz="1050" dirty="0"/>
          </a:p>
        </p:txBody>
      </p:sp>
      <p:sp>
        <p:nvSpPr>
          <p:cNvPr id="35" name="Shape 27"/>
          <p:cNvSpPr/>
          <p:nvPr/>
        </p:nvSpPr>
        <p:spPr>
          <a:xfrm>
            <a:off x="3337560" y="4663440"/>
            <a:ext cx="2651760" cy="1508760"/>
          </a:xfrm>
          <a:prstGeom prst="roundRect">
            <a:avLst>
              <a:gd name="adj" fmla="val 4242"/>
            </a:avLst>
          </a:prstGeom>
          <a:solidFill>
            <a:srgbClr val="F7F9FC"/>
          </a:solidFill>
          <a:ln w="12700">
            <a:solidFill>
              <a:srgbClr val="E2E8F0"/>
            </a:solidFill>
            <a:prstDash val="solid"/>
          </a:ln>
        </p:spPr>
        <p:txBody>
          <a:bodyPr/>
          <a:lstStyle/>
          <a:p>
            <a:endParaRPr lang="en-NG"/>
          </a:p>
        </p:txBody>
      </p:sp>
      <p:sp>
        <p:nvSpPr>
          <p:cNvPr id="36" name="Shape 28"/>
          <p:cNvSpPr/>
          <p:nvPr/>
        </p:nvSpPr>
        <p:spPr>
          <a:xfrm>
            <a:off x="3502152" y="4809744"/>
            <a:ext cx="384048" cy="384048"/>
          </a:xfrm>
          <a:prstGeom prst="ellipse">
            <a:avLst/>
          </a:prstGeom>
          <a:solidFill>
            <a:srgbClr val="0B2545"/>
          </a:solidFill>
          <a:ln/>
        </p:spPr>
        <p:txBody>
          <a:bodyPr/>
          <a:lstStyle/>
          <a:p>
            <a:endParaRPr lang="en-NG"/>
          </a:p>
        </p:txBody>
      </p:sp>
      <p:pic>
        <p:nvPicPr>
          <p:cNvPr id="37" name="Image 6" descr="icons/calendar_FFFFFF.png"/>
          <p:cNvPicPr>
            <a:picLocks noChangeAspect="1"/>
          </p:cNvPicPr>
          <p:nvPr/>
        </p:nvPicPr>
        <p:blipFill>
          <a:blip r:embed="rId14">
            <a:extLst>
              <a:ext uri="{BEBA8EAE-BF5A-486C-A8C5-ECC9F3942E4B}">
                <a14:imgProps xmlns:a14="http://schemas.microsoft.com/office/drawing/2010/main">
                  <a14:imgLayer r:embed="rId15">
                    <a14:imgEffect>
                      <a14:brightnessContrast bright="100000"/>
                    </a14:imgEffect>
                  </a14:imgLayer>
                </a14:imgProps>
              </a:ext>
            </a:extLst>
          </a:blip>
          <a:stretch>
            <a:fillRect/>
          </a:stretch>
        </p:blipFill>
        <p:spPr>
          <a:xfrm>
            <a:off x="3602004" y="4909596"/>
            <a:ext cx="184343" cy="184343"/>
          </a:xfrm>
          <a:prstGeom prst="rect">
            <a:avLst/>
          </a:prstGeom>
        </p:spPr>
      </p:pic>
      <p:sp>
        <p:nvSpPr>
          <p:cNvPr id="38" name="Text 29"/>
          <p:cNvSpPr txBox="1"/>
          <p:nvPr/>
        </p:nvSpPr>
        <p:spPr>
          <a:xfrm>
            <a:off x="3483864" y="5266944"/>
            <a:ext cx="2359152" cy="457200"/>
          </a:xfrm>
          <a:prstGeom prst="rect">
            <a:avLst/>
          </a:prstGeom>
          <a:noFill/>
          <a:ln/>
        </p:spPr>
        <p:txBody>
          <a:bodyPr wrap="square" rtlCol="0" anchor="ctr"/>
          <a:lstStyle/>
          <a:p>
            <a:pPr marL="0" indent="0">
              <a:lnSpc>
                <a:spcPct val="105000"/>
              </a:lnSpc>
              <a:buNone/>
            </a:pPr>
            <a:r>
              <a:rPr lang="en-US" sz="1400" b="1" dirty="0">
                <a:solidFill>
                  <a:srgbClr val="0B2545"/>
                </a:solidFill>
                <a:latin typeface="Calibri" pitchFamily="34" charset="0"/>
                <a:ea typeface="Calibri" pitchFamily="34" charset="-122"/>
                <a:cs typeface="Calibri" pitchFamily="34" charset="-120"/>
              </a:rPr>
              <a:t>Track Monthly Patterns</a:t>
            </a:r>
            <a:endParaRPr lang="en-US" sz="1400" dirty="0"/>
          </a:p>
        </p:txBody>
      </p:sp>
      <p:sp>
        <p:nvSpPr>
          <p:cNvPr id="39" name="Text 30"/>
          <p:cNvSpPr txBox="1"/>
          <p:nvPr/>
        </p:nvSpPr>
        <p:spPr>
          <a:xfrm>
            <a:off x="3483864" y="5687568"/>
            <a:ext cx="2359152" cy="438912"/>
          </a:xfrm>
          <a:prstGeom prst="rect">
            <a:avLst/>
          </a:prstGeom>
          <a:noFill/>
          <a:ln/>
        </p:spPr>
        <p:txBody>
          <a:bodyPr wrap="square" rtlCol="0" anchor="ctr"/>
          <a:lstStyle/>
          <a:p>
            <a:pPr marL="0" indent="0">
              <a:lnSpc>
                <a:spcPct val="105000"/>
              </a:lnSpc>
              <a:buNone/>
            </a:pPr>
            <a:r>
              <a:rPr lang="en-US" sz="1050" dirty="0">
                <a:solidFill>
                  <a:srgbClr val="5A6B7B"/>
                </a:solidFill>
                <a:latin typeface="Calibri" pitchFamily="34" charset="0"/>
                <a:ea typeface="Calibri" pitchFamily="34" charset="-122"/>
                <a:cs typeface="Calibri" pitchFamily="34" charset="-120"/>
              </a:rPr>
              <a:t>Consumption trends across Jan–Jun</a:t>
            </a:r>
            <a:endParaRPr lang="en-US" sz="1050" dirty="0"/>
          </a:p>
        </p:txBody>
      </p:sp>
      <p:sp>
        <p:nvSpPr>
          <p:cNvPr id="40" name="Shape 31"/>
          <p:cNvSpPr/>
          <p:nvPr/>
        </p:nvSpPr>
        <p:spPr>
          <a:xfrm>
            <a:off x="6126480" y="4663440"/>
            <a:ext cx="2651760" cy="1508760"/>
          </a:xfrm>
          <a:prstGeom prst="roundRect">
            <a:avLst>
              <a:gd name="adj" fmla="val 4242"/>
            </a:avLst>
          </a:prstGeom>
          <a:solidFill>
            <a:srgbClr val="F7F9FC"/>
          </a:solidFill>
          <a:ln w="12700">
            <a:solidFill>
              <a:srgbClr val="E2E8F0"/>
            </a:solidFill>
            <a:prstDash val="solid"/>
          </a:ln>
        </p:spPr>
        <p:txBody>
          <a:bodyPr/>
          <a:lstStyle/>
          <a:p>
            <a:endParaRPr lang="en-NG"/>
          </a:p>
        </p:txBody>
      </p:sp>
      <p:sp>
        <p:nvSpPr>
          <p:cNvPr id="41" name="Shape 32"/>
          <p:cNvSpPr/>
          <p:nvPr/>
        </p:nvSpPr>
        <p:spPr>
          <a:xfrm>
            <a:off x="6291072" y="4809744"/>
            <a:ext cx="384048" cy="384048"/>
          </a:xfrm>
          <a:prstGeom prst="ellipse">
            <a:avLst/>
          </a:prstGeom>
          <a:solidFill>
            <a:srgbClr val="0B2545"/>
          </a:solidFill>
          <a:ln/>
        </p:spPr>
        <p:txBody>
          <a:bodyPr/>
          <a:lstStyle/>
          <a:p>
            <a:endParaRPr lang="en-NG"/>
          </a:p>
        </p:txBody>
      </p:sp>
      <p:pic>
        <p:nvPicPr>
          <p:cNvPr id="42" name="Image 7" descr="icons/alert_FFFFFF.png"/>
          <p:cNvPicPr>
            <a:picLocks noChangeAspect="1"/>
          </p:cNvPicPr>
          <p:nvPr/>
        </p:nvPicPr>
        <p:blipFill>
          <a:blip r:embed="rId16">
            <a:extLst>
              <a:ext uri="{BEBA8EAE-BF5A-486C-A8C5-ECC9F3942E4B}">
                <a14:imgProps xmlns:a14="http://schemas.microsoft.com/office/drawing/2010/main">
                  <a14:imgLayer r:embed="rId17">
                    <a14:imgEffect>
                      <a14:brightnessContrast bright="100000"/>
                    </a14:imgEffect>
                  </a14:imgLayer>
                </a14:imgProps>
              </a:ext>
            </a:extLst>
          </a:blip>
          <a:stretch>
            <a:fillRect/>
          </a:stretch>
        </p:blipFill>
        <p:spPr>
          <a:xfrm>
            <a:off x="6390924" y="4909596"/>
            <a:ext cx="184343" cy="184343"/>
          </a:xfrm>
          <a:prstGeom prst="rect">
            <a:avLst/>
          </a:prstGeom>
        </p:spPr>
      </p:pic>
      <p:sp>
        <p:nvSpPr>
          <p:cNvPr id="43" name="Text 33"/>
          <p:cNvSpPr txBox="1"/>
          <p:nvPr/>
        </p:nvSpPr>
        <p:spPr>
          <a:xfrm>
            <a:off x="6272784" y="5266944"/>
            <a:ext cx="2359152" cy="457200"/>
          </a:xfrm>
          <a:prstGeom prst="rect">
            <a:avLst/>
          </a:prstGeom>
          <a:noFill/>
          <a:ln/>
        </p:spPr>
        <p:txBody>
          <a:bodyPr wrap="square" rtlCol="0" anchor="ctr"/>
          <a:lstStyle/>
          <a:p>
            <a:pPr marL="0" indent="0">
              <a:lnSpc>
                <a:spcPct val="105000"/>
              </a:lnSpc>
              <a:buNone/>
            </a:pPr>
            <a:r>
              <a:rPr lang="en-US" sz="1400" b="1" dirty="0">
                <a:solidFill>
                  <a:srgbClr val="0B2545"/>
                </a:solidFill>
                <a:latin typeface="Calibri" pitchFamily="34" charset="0"/>
                <a:ea typeface="Calibri" pitchFamily="34" charset="-122"/>
                <a:cs typeface="Calibri" pitchFamily="34" charset="-120"/>
              </a:rPr>
              <a:t>Flag High-Attention Cases</a:t>
            </a:r>
            <a:endParaRPr lang="en-US" sz="1400" dirty="0"/>
          </a:p>
        </p:txBody>
      </p:sp>
      <p:sp>
        <p:nvSpPr>
          <p:cNvPr id="44" name="Text 34"/>
          <p:cNvSpPr txBox="1"/>
          <p:nvPr/>
        </p:nvSpPr>
        <p:spPr>
          <a:xfrm>
            <a:off x="6272784" y="5687568"/>
            <a:ext cx="2359152" cy="438912"/>
          </a:xfrm>
          <a:prstGeom prst="rect">
            <a:avLst/>
          </a:prstGeom>
          <a:noFill/>
          <a:ln/>
        </p:spPr>
        <p:txBody>
          <a:bodyPr wrap="square" rtlCol="0" anchor="ctr"/>
          <a:lstStyle/>
          <a:p>
            <a:pPr marL="0" indent="0">
              <a:lnSpc>
                <a:spcPct val="105000"/>
              </a:lnSpc>
              <a:buNone/>
            </a:pPr>
            <a:r>
              <a:rPr lang="en-US" sz="1050" dirty="0">
                <a:solidFill>
                  <a:srgbClr val="5A6B7B"/>
                </a:solidFill>
                <a:latin typeface="Calibri" pitchFamily="34" charset="0"/>
                <a:ea typeface="Calibri" pitchFamily="34" charset="-122"/>
                <a:cs typeface="Calibri" pitchFamily="34" charset="-120"/>
              </a:rPr>
              <a:t>Defined analytical risk criteria</a:t>
            </a:r>
            <a:endParaRPr lang="en-US" sz="1050" dirty="0"/>
          </a:p>
        </p:txBody>
      </p:sp>
      <p:sp>
        <p:nvSpPr>
          <p:cNvPr id="45" name="Shape 35"/>
          <p:cNvSpPr/>
          <p:nvPr/>
        </p:nvSpPr>
        <p:spPr>
          <a:xfrm>
            <a:off x="8915400" y="4663440"/>
            <a:ext cx="2651760" cy="1508760"/>
          </a:xfrm>
          <a:prstGeom prst="roundRect">
            <a:avLst>
              <a:gd name="adj" fmla="val 4242"/>
            </a:avLst>
          </a:prstGeom>
          <a:solidFill>
            <a:srgbClr val="F7F9FC"/>
          </a:solidFill>
          <a:ln w="12700">
            <a:solidFill>
              <a:srgbClr val="E2E8F0"/>
            </a:solidFill>
            <a:prstDash val="solid"/>
          </a:ln>
        </p:spPr>
        <p:txBody>
          <a:bodyPr/>
          <a:lstStyle/>
          <a:p>
            <a:endParaRPr lang="en-NG"/>
          </a:p>
        </p:txBody>
      </p:sp>
      <p:sp>
        <p:nvSpPr>
          <p:cNvPr id="46" name="Shape 36"/>
          <p:cNvSpPr/>
          <p:nvPr/>
        </p:nvSpPr>
        <p:spPr>
          <a:xfrm>
            <a:off x="9079992" y="4809744"/>
            <a:ext cx="384048" cy="384048"/>
          </a:xfrm>
          <a:prstGeom prst="ellipse">
            <a:avLst/>
          </a:prstGeom>
          <a:solidFill>
            <a:srgbClr val="0B2545"/>
          </a:solidFill>
          <a:ln/>
        </p:spPr>
        <p:txBody>
          <a:bodyPr/>
          <a:lstStyle/>
          <a:p>
            <a:endParaRPr lang="en-NG"/>
          </a:p>
        </p:txBody>
      </p:sp>
      <p:pic>
        <p:nvPicPr>
          <p:cNvPr id="47" name="Image 8" descr="icons/cogs_FFFFFF.png"/>
          <p:cNvPicPr>
            <a:picLocks noChangeAspect="1"/>
          </p:cNvPicPr>
          <p:nvPr/>
        </p:nvPicPr>
        <p:blipFill>
          <a:blip r:embed="rId18">
            <a:extLst>
              <a:ext uri="{BEBA8EAE-BF5A-486C-A8C5-ECC9F3942E4B}">
                <a14:imgProps xmlns:a14="http://schemas.microsoft.com/office/drawing/2010/main">
                  <a14:imgLayer r:embed="rId19">
                    <a14:imgEffect>
                      <a14:brightnessContrast bright="100000"/>
                    </a14:imgEffect>
                  </a14:imgLayer>
                </a14:imgProps>
              </a:ext>
            </a:extLst>
          </a:blip>
          <a:stretch>
            <a:fillRect/>
          </a:stretch>
        </p:blipFill>
        <p:spPr>
          <a:xfrm>
            <a:off x="9179844" y="4909596"/>
            <a:ext cx="184343" cy="184343"/>
          </a:xfrm>
          <a:prstGeom prst="rect">
            <a:avLst/>
          </a:prstGeom>
        </p:spPr>
      </p:pic>
      <p:sp>
        <p:nvSpPr>
          <p:cNvPr id="48" name="Text 37"/>
          <p:cNvSpPr txBox="1"/>
          <p:nvPr/>
        </p:nvSpPr>
        <p:spPr>
          <a:xfrm>
            <a:off x="9061704" y="5266944"/>
            <a:ext cx="2359152" cy="457200"/>
          </a:xfrm>
          <a:prstGeom prst="rect">
            <a:avLst/>
          </a:prstGeom>
          <a:noFill/>
          <a:ln/>
        </p:spPr>
        <p:txBody>
          <a:bodyPr wrap="square" rtlCol="0" anchor="ctr"/>
          <a:lstStyle/>
          <a:p>
            <a:pPr marL="0" indent="0">
              <a:lnSpc>
                <a:spcPct val="105000"/>
              </a:lnSpc>
              <a:buNone/>
            </a:pPr>
            <a:r>
              <a:rPr lang="en-US" sz="1400" b="1" dirty="0">
                <a:solidFill>
                  <a:srgbClr val="0B2545"/>
                </a:solidFill>
                <a:latin typeface="Calibri" pitchFamily="34" charset="0"/>
                <a:ea typeface="Calibri" pitchFamily="34" charset="-122"/>
                <a:cs typeface="Calibri" pitchFamily="34" charset="-120"/>
              </a:rPr>
              <a:t>Build an Interactive System</a:t>
            </a:r>
            <a:endParaRPr lang="en-US" sz="1400" dirty="0"/>
          </a:p>
        </p:txBody>
      </p:sp>
      <p:sp>
        <p:nvSpPr>
          <p:cNvPr id="49" name="Text 38"/>
          <p:cNvSpPr txBox="1"/>
          <p:nvPr/>
        </p:nvSpPr>
        <p:spPr>
          <a:xfrm>
            <a:off x="9061704" y="5687568"/>
            <a:ext cx="2359152" cy="438912"/>
          </a:xfrm>
          <a:prstGeom prst="rect">
            <a:avLst/>
          </a:prstGeom>
          <a:noFill/>
          <a:ln/>
        </p:spPr>
        <p:txBody>
          <a:bodyPr wrap="square" rtlCol="0" anchor="ctr"/>
          <a:lstStyle/>
          <a:p>
            <a:pPr marL="0" indent="0">
              <a:lnSpc>
                <a:spcPct val="105000"/>
              </a:lnSpc>
              <a:buNone/>
            </a:pPr>
            <a:r>
              <a:rPr lang="en-US" sz="1050" dirty="0">
                <a:solidFill>
                  <a:srgbClr val="5A6B7B"/>
                </a:solidFill>
                <a:latin typeface="Calibri" pitchFamily="34" charset="0"/>
                <a:ea typeface="Calibri" pitchFamily="34" charset="-122"/>
                <a:cs typeface="Calibri" pitchFamily="34" charset="-120"/>
              </a:rPr>
              <a:t>Menu-driven, while-loop controlled</a:t>
            </a:r>
            <a:endParaRPr lang="en-US" sz="1050" dirty="0"/>
          </a:p>
        </p:txBody>
      </p:sp>
      <p:sp>
        <p:nvSpPr>
          <p:cNvPr id="50" name="Text 39"/>
          <p:cNvSpPr txBox="1"/>
          <p:nvPr/>
        </p:nvSpPr>
        <p:spPr>
          <a:xfrm>
            <a:off x="457200" y="6473952"/>
            <a:ext cx="7315200" cy="274320"/>
          </a:xfrm>
          <a:prstGeom prst="rect">
            <a:avLst/>
          </a:prstGeom>
          <a:noFill/>
          <a:ln/>
        </p:spPr>
        <p:txBody>
          <a:bodyPr wrap="square" rtlCol="0" anchor="ctr"/>
          <a:lstStyle/>
          <a:p>
            <a:pPr marL="0" indent="0">
              <a:buNone/>
            </a:pPr>
            <a:r>
              <a:rPr lang="en-US" sz="900" dirty="0">
                <a:solidFill>
                  <a:srgbClr val="5A6B7B"/>
                </a:solidFill>
                <a:latin typeface="Calibri" pitchFamily="34" charset="0"/>
                <a:ea typeface="Calibri" pitchFamily="34" charset="-122"/>
                <a:cs typeface="Calibri" pitchFamily="34" charset="-120"/>
              </a:rPr>
              <a:t>ENERGY CONSUMPTION ANALYSIS SYSTEM  •  TEAM A</a:t>
            </a:r>
            <a:endParaRPr lang="en-US" sz="900" dirty="0"/>
          </a:p>
        </p:txBody>
      </p:sp>
      <p:sp>
        <p:nvSpPr>
          <p:cNvPr id="51" name="Text 40"/>
          <p:cNvSpPr txBox="1"/>
          <p:nvPr/>
        </p:nvSpPr>
        <p:spPr>
          <a:xfrm>
            <a:off x="11274552" y="6473952"/>
            <a:ext cx="548640" cy="274320"/>
          </a:xfrm>
          <a:prstGeom prst="rect">
            <a:avLst/>
          </a:prstGeom>
          <a:noFill/>
          <a:ln/>
        </p:spPr>
        <p:txBody>
          <a:bodyPr wrap="square" rtlCol="0" anchor="ctr"/>
          <a:lstStyle/>
          <a:p>
            <a:pPr marL="0" indent="0" algn="r">
              <a:buNone/>
            </a:pPr>
            <a:r>
              <a:rPr lang="en-US" sz="900" dirty="0">
                <a:solidFill>
                  <a:srgbClr val="5A6B7B"/>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84048"/>
            <a:ext cx="457200" cy="457200"/>
          </a:xfrm>
          <a:prstGeom prst="ellipse">
            <a:avLst/>
          </a:prstGeom>
          <a:solidFill>
            <a:srgbClr val="0B2545"/>
          </a:solidFill>
          <a:ln/>
        </p:spPr>
        <p:txBody>
          <a:bodyPr/>
          <a:lstStyle/>
          <a:p>
            <a:endParaRPr lang="en-NG"/>
          </a:p>
        </p:txBody>
      </p:sp>
      <p:sp>
        <p:nvSpPr>
          <p:cNvPr id="3" name="Text 1"/>
          <p:cNvSpPr txBox="1"/>
          <p:nvPr/>
        </p:nvSpPr>
        <p:spPr>
          <a:xfrm>
            <a:off x="548640" y="384048"/>
            <a:ext cx="457200" cy="45720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4" name="Text 2"/>
          <p:cNvSpPr txBox="1"/>
          <p:nvPr/>
        </p:nvSpPr>
        <p:spPr>
          <a:xfrm>
            <a:off x="548640" y="658368"/>
            <a:ext cx="10607040" cy="731520"/>
          </a:xfrm>
          <a:prstGeom prst="rect">
            <a:avLst/>
          </a:prstGeom>
          <a:noFill/>
          <a:ln/>
        </p:spPr>
        <p:txBody>
          <a:bodyPr wrap="square"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Industry Relevance</a:t>
            </a:r>
            <a:endParaRPr lang="en-US" sz="3000" dirty="0"/>
          </a:p>
        </p:txBody>
      </p:sp>
      <p:sp>
        <p:nvSpPr>
          <p:cNvPr id="5" name="Text 3"/>
          <p:cNvSpPr txBox="1"/>
          <p:nvPr/>
        </p:nvSpPr>
        <p:spPr>
          <a:xfrm>
            <a:off x="548640" y="1463040"/>
            <a:ext cx="10881360" cy="457200"/>
          </a:xfrm>
          <a:prstGeom prst="rect">
            <a:avLst/>
          </a:prstGeom>
          <a:noFill/>
          <a:ln/>
        </p:spPr>
        <p:txBody>
          <a:bodyPr wrap="square" rtlCol="0" anchor="ctr"/>
          <a:lstStyle/>
          <a:p>
            <a:pPr marL="0" indent="0">
              <a:lnSpc>
                <a:spcPct val="120000"/>
              </a:lnSpc>
              <a:buNone/>
            </a:pPr>
            <a:r>
              <a:rPr lang="en-US" sz="1400" dirty="0">
                <a:solidFill>
                  <a:srgbClr val="0B2545"/>
                </a:solidFill>
                <a:latin typeface="Calibri" pitchFamily="34" charset="0"/>
                <a:ea typeface="Calibri" pitchFamily="34" charset="-122"/>
                <a:cs typeface="Calibri" pitchFamily="34" charset="-120"/>
              </a:rPr>
              <a:t>Reliable electricity supports businesses, schools, hospitals, agriculture and households. This project's relevance spans six areas:</a:t>
            </a:r>
            <a:endParaRPr lang="en-US" sz="1400" dirty="0"/>
          </a:p>
        </p:txBody>
      </p:sp>
      <p:sp>
        <p:nvSpPr>
          <p:cNvPr id="6" name="Shape 4"/>
          <p:cNvSpPr/>
          <p:nvPr/>
        </p:nvSpPr>
        <p:spPr>
          <a:xfrm>
            <a:off x="548640" y="2103120"/>
            <a:ext cx="3520440" cy="1965960"/>
          </a:xfrm>
          <a:prstGeom prst="roundRect">
            <a:avLst>
              <a:gd name="adj" fmla="val 3721"/>
            </a:avLst>
          </a:prstGeom>
          <a:solidFill>
            <a:srgbClr val="F7F9FC"/>
          </a:solidFill>
          <a:ln w="12700">
            <a:solidFill>
              <a:srgbClr val="E2E8F0"/>
            </a:solidFill>
            <a:prstDash val="solid"/>
          </a:ln>
        </p:spPr>
        <p:txBody>
          <a:bodyPr/>
          <a:lstStyle/>
          <a:p>
            <a:endParaRPr lang="en-NG"/>
          </a:p>
        </p:txBody>
      </p:sp>
      <p:sp>
        <p:nvSpPr>
          <p:cNvPr id="7" name="Shape 5"/>
          <p:cNvSpPr/>
          <p:nvPr/>
        </p:nvSpPr>
        <p:spPr>
          <a:xfrm>
            <a:off x="749808" y="2304288"/>
            <a:ext cx="502920" cy="502920"/>
          </a:xfrm>
          <a:prstGeom prst="ellipse">
            <a:avLst/>
          </a:prstGeom>
          <a:solidFill>
            <a:srgbClr val="0B2545"/>
          </a:solidFill>
          <a:ln/>
        </p:spPr>
        <p:txBody>
          <a:bodyPr/>
          <a:lstStyle/>
          <a:p>
            <a:endParaRPr lang="en-NG"/>
          </a:p>
        </p:txBody>
      </p:sp>
      <p:pic>
        <p:nvPicPr>
          <p:cNvPr id="8" name="Image 0" descr="icons/network_FFFFFF.png"/>
          <p:cNvPicPr>
            <a:picLocks noChangeAspect="1"/>
          </p:cNvPicPr>
          <p:nvPr/>
        </p:nvPicPr>
        <p:blipFill>
          <a:blip r:embed="rId3">
            <a:extLst>
              <a:ext uri="{BEBA8EAE-BF5A-486C-A8C5-ECC9F3942E4B}">
                <a14:imgProps xmlns:a14="http://schemas.microsoft.com/office/drawing/2010/main">
                  <a14:imgLayer r:embed="rId4">
                    <a14:imgEffect>
                      <a14:brightnessContrast bright="100000"/>
                    </a14:imgEffect>
                  </a14:imgLayer>
                </a14:imgProps>
              </a:ext>
            </a:extLst>
          </a:blip>
          <a:stretch>
            <a:fillRect/>
          </a:stretch>
        </p:blipFill>
        <p:spPr>
          <a:xfrm>
            <a:off x="880567" y="2435047"/>
            <a:ext cx="241402" cy="241402"/>
          </a:xfrm>
          <a:prstGeom prst="rect">
            <a:avLst/>
          </a:prstGeom>
        </p:spPr>
      </p:pic>
      <p:sp>
        <p:nvSpPr>
          <p:cNvPr id="9" name="Text 6"/>
          <p:cNvSpPr txBox="1"/>
          <p:nvPr/>
        </p:nvSpPr>
        <p:spPr>
          <a:xfrm>
            <a:off x="749808" y="2926080"/>
            <a:ext cx="3118104" cy="365760"/>
          </a:xfrm>
          <a:prstGeom prst="rect">
            <a:avLst/>
          </a:prstGeom>
          <a:noFill/>
          <a:ln/>
        </p:spPr>
        <p:txBody>
          <a:bodyPr wrap="square" rtlCol="0" anchor="ctr"/>
          <a:lstStyle/>
          <a:p>
            <a:pPr marL="0" indent="0">
              <a:buNone/>
            </a:pPr>
            <a:r>
              <a:rPr lang="en-US" sz="1400" b="1" dirty="0">
                <a:solidFill>
                  <a:srgbClr val="0B2545"/>
                </a:solidFill>
                <a:latin typeface="Cambria" pitchFamily="34" charset="0"/>
                <a:ea typeface="Cambria" pitchFamily="34" charset="-122"/>
                <a:cs typeface="Cambria" pitchFamily="34" charset="-120"/>
              </a:rPr>
              <a:t>Energy Planning</a:t>
            </a:r>
            <a:endParaRPr lang="en-US" sz="1400" dirty="0"/>
          </a:p>
        </p:txBody>
      </p:sp>
      <p:sp>
        <p:nvSpPr>
          <p:cNvPr id="10" name="Text 7"/>
          <p:cNvSpPr txBox="1"/>
          <p:nvPr/>
        </p:nvSpPr>
        <p:spPr>
          <a:xfrm>
            <a:off x="749808" y="3264408"/>
            <a:ext cx="3118104" cy="731520"/>
          </a:xfrm>
          <a:prstGeom prst="rect">
            <a:avLst/>
          </a:prstGeom>
          <a:noFill/>
          <a:ln/>
        </p:spPr>
        <p:txBody>
          <a:bodyPr wrap="square" rtlCol="0" anchor="ctr"/>
          <a:lstStyle/>
          <a:p>
            <a:pPr marL="0" indent="0">
              <a:lnSpc>
                <a:spcPct val="115000"/>
              </a:lnSpc>
              <a:buNone/>
            </a:pPr>
            <a:r>
              <a:rPr lang="en-US" sz="1200" dirty="0">
                <a:solidFill>
                  <a:srgbClr val="5A6B7B"/>
                </a:solidFill>
                <a:latin typeface="Calibri" pitchFamily="34" charset="0"/>
                <a:ea typeface="Calibri" pitchFamily="34" charset="-122"/>
                <a:cs typeface="Calibri" pitchFamily="34" charset="-120"/>
              </a:rPr>
              <a:t>Understand demand across locations and customer groups to support infrastructure decisions</a:t>
            </a:r>
            <a:r>
              <a:rPr lang="en-US" sz="1050" dirty="0">
                <a:solidFill>
                  <a:srgbClr val="5A6B7B"/>
                </a:solidFill>
                <a:latin typeface="Calibri" pitchFamily="34" charset="0"/>
                <a:ea typeface="Calibri" pitchFamily="34" charset="-122"/>
                <a:cs typeface="Calibri" pitchFamily="34" charset="-120"/>
              </a:rPr>
              <a:t>.</a:t>
            </a:r>
            <a:endParaRPr lang="en-US" sz="1050" dirty="0"/>
          </a:p>
        </p:txBody>
      </p:sp>
      <p:sp>
        <p:nvSpPr>
          <p:cNvPr id="11" name="Shape 8"/>
          <p:cNvSpPr/>
          <p:nvPr/>
        </p:nvSpPr>
        <p:spPr>
          <a:xfrm>
            <a:off x="4325112" y="2103120"/>
            <a:ext cx="3520440" cy="1965960"/>
          </a:xfrm>
          <a:prstGeom prst="roundRect">
            <a:avLst>
              <a:gd name="adj" fmla="val 3721"/>
            </a:avLst>
          </a:prstGeom>
          <a:solidFill>
            <a:srgbClr val="F7F9FC"/>
          </a:solidFill>
          <a:ln w="12700">
            <a:solidFill>
              <a:srgbClr val="E2E8F0"/>
            </a:solidFill>
            <a:prstDash val="solid"/>
          </a:ln>
        </p:spPr>
        <p:txBody>
          <a:bodyPr/>
          <a:lstStyle/>
          <a:p>
            <a:endParaRPr lang="en-NG"/>
          </a:p>
        </p:txBody>
      </p:sp>
      <p:sp>
        <p:nvSpPr>
          <p:cNvPr id="12" name="Shape 9"/>
          <p:cNvSpPr/>
          <p:nvPr/>
        </p:nvSpPr>
        <p:spPr>
          <a:xfrm>
            <a:off x="4526280" y="2304288"/>
            <a:ext cx="502920" cy="502920"/>
          </a:xfrm>
          <a:prstGeom prst="ellipse">
            <a:avLst/>
          </a:prstGeom>
          <a:solidFill>
            <a:srgbClr val="0B2545"/>
          </a:solidFill>
          <a:ln/>
        </p:spPr>
        <p:txBody>
          <a:bodyPr/>
          <a:lstStyle/>
          <a:p>
            <a:endParaRPr lang="en-NG"/>
          </a:p>
        </p:txBody>
      </p:sp>
      <p:pic>
        <p:nvPicPr>
          <p:cNvPr id="13" name="Image 1" descr="icons/bulb_FFFFFF.png"/>
          <p:cNvPicPr>
            <a:picLocks noChangeAspect="1"/>
          </p:cNvPicPr>
          <p:nvPr/>
        </p:nvPicPr>
        <p:blipFill>
          <a:blip r:embed="rId5">
            <a:extLst>
              <a:ext uri="{BEBA8EAE-BF5A-486C-A8C5-ECC9F3942E4B}">
                <a14:imgProps xmlns:a14="http://schemas.microsoft.com/office/drawing/2010/main">
                  <a14:imgLayer r:embed="rId6">
                    <a14:imgEffect>
                      <a14:brightnessContrast bright="100000"/>
                    </a14:imgEffect>
                  </a14:imgLayer>
                </a14:imgProps>
              </a:ext>
            </a:extLst>
          </a:blip>
          <a:stretch>
            <a:fillRect/>
          </a:stretch>
        </p:blipFill>
        <p:spPr>
          <a:xfrm>
            <a:off x="4657039" y="2435047"/>
            <a:ext cx="241402" cy="241402"/>
          </a:xfrm>
          <a:prstGeom prst="rect">
            <a:avLst/>
          </a:prstGeom>
        </p:spPr>
      </p:pic>
      <p:sp>
        <p:nvSpPr>
          <p:cNvPr id="14" name="Text 10"/>
          <p:cNvSpPr txBox="1"/>
          <p:nvPr/>
        </p:nvSpPr>
        <p:spPr>
          <a:xfrm>
            <a:off x="4526280" y="2926080"/>
            <a:ext cx="3118104" cy="365760"/>
          </a:xfrm>
          <a:prstGeom prst="rect">
            <a:avLst/>
          </a:prstGeom>
          <a:noFill/>
          <a:ln/>
        </p:spPr>
        <p:txBody>
          <a:bodyPr wrap="square" rtlCol="0" anchor="ctr"/>
          <a:lstStyle/>
          <a:p>
            <a:pPr marL="0" indent="0">
              <a:buNone/>
            </a:pPr>
            <a:r>
              <a:rPr lang="en-US" sz="1400" b="1" dirty="0">
                <a:solidFill>
                  <a:srgbClr val="0B2545"/>
                </a:solidFill>
                <a:latin typeface="Cambria" pitchFamily="34" charset="0"/>
                <a:ea typeface="Cambria" pitchFamily="34" charset="-122"/>
                <a:cs typeface="Cambria" pitchFamily="34" charset="-120"/>
              </a:rPr>
              <a:t>Energy Efficiency</a:t>
            </a:r>
            <a:endParaRPr lang="en-US" sz="1400" dirty="0"/>
          </a:p>
        </p:txBody>
      </p:sp>
      <p:sp>
        <p:nvSpPr>
          <p:cNvPr id="15" name="Text 11"/>
          <p:cNvSpPr txBox="1"/>
          <p:nvPr/>
        </p:nvSpPr>
        <p:spPr>
          <a:xfrm>
            <a:off x="4526280" y="3264408"/>
            <a:ext cx="3118104" cy="731520"/>
          </a:xfrm>
          <a:prstGeom prst="rect">
            <a:avLst/>
          </a:prstGeom>
          <a:noFill/>
          <a:ln/>
        </p:spPr>
        <p:txBody>
          <a:bodyPr wrap="square" rtlCol="0" anchor="ctr"/>
          <a:lstStyle/>
          <a:p>
            <a:pPr marL="0" indent="0">
              <a:lnSpc>
                <a:spcPct val="115000"/>
              </a:lnSpc>
              <a:buNone/>
            </a:pPr>
            <a:r>
              <a:rPr lang="en-US" sz="1200" dirty="0">
                <a:solidFill>
                  <a:srgbClr val="5A6B7B"/>
                </a:solidFill>
                <a:latin typeface="Calibri" pitchFamily="34" charset="0"/>
                <a:ea typeface="Calibri" pitchFamily="34" charset="-122"/>
                <a:cs typeface="Calibri" pitchFamily="34" charset="-120"/>
              </a:rPr>
              <a:t>Unusually high consumption flags cases worth investigating for efficiency opportunities</a:t>
            </a:r>
            <a:r>
              <a:rPr lang="en-US" sz="1050" dirty="0">
                <a:solidFill>
                  <a:srgbClr val="5A6B7B"/>
                </a:solidFill>
                <a:latin typeface="Calibri" pitchFamily="34" charset="0"/>
                <a:ea typeface="Calibri" pitchFamily="34" charset="-122"/>
                <a:cs typeface="Calibri" pitchFamily="34" charset="-120"/>
              </a:rPr>
              <a:t>.</a:t>
            </a:r>
            <a:endParaRPr lang="en-US" sz="1050" dirty="0"/>
          </a:p>
        </p:txBody>
      </p:sp>
      <p:sp>
        <p:nvSpPr>
          <p:cNvPr id="16" name="Shape 12"/>
          <p:cNvSpPr/>
          <p:nvPr/>
        </p:nvSpPr>
        <p:spPr>
          <a:xfrm>
            <a:off x="8101584" y="2103120"/>
            <a:ext cx="3520440" cy="1965960"/>
          </a:xfrm>
          <a:prstGeom prst="roundRect">
            <a:avLst>
              <a:gd name="adj" fmla="val 3721"/>
            </a:avLst>
          </a:prstGeom>
          <a:solidFill>
            <a:srgbClr val="F7F9FC"/>
          </a:solidFill>
          <a:ln w="12700">
            <a:solidFill>
              <a:srgbClr val="E2E8F0"/>
            </a:solidFill>
            <a:prstDash val="solid"/>
          </a:ln>
        </p:spPr>
        <p:txBody>
          <a:bodyPr/>
          <a:lstStyle/>
          <a:p>
            <a:endParaRPr lang="en-NG"/>
          </a:p>
        </p:txBody>
      </p:sp>
      <p:sp>
        <p:nvSpPr>
          <p:cNvPr id="17" name="Shape 13"/>
          <p:cNvSpPr/>
          <p:nvPr/>
        </p:nvSpPr>
        <p:spPr>
          <a:xfrm>
            <a:off x="8302752" y="2304288"/>
            <a:ext cx="502920" cy="502920"/>
          </a:xfrm>
          <a:prstGeom prst="ellipse">
            <a:avLst/>
          </a:prstGeom>
          <a:solidFill>
            <a:srgbClr val="0B2545"/>
          </a:solidFill>
          <a:ln/>
        </p:spPr>
        <p:txBody>
          <a:bodyPr/>
          <a:lstStyle/>
          <a:p>
            <a:endParaRPr lang="en-NG"/>
          </a:p>
        </p:txBody>
      </p:sp>
      <p:pic>
        <p:nvPicPr>
          <p:cNvPr id="18" name="Image 2" descr="icons/leaf_FFFFFF.png"/>
          <p:cNvPicPr>
            <a:picLocks noChangeAspect="1"/>
          </p:cNvPicPr>
          <p:nvPr/>
        </p:nvPicPr>
        <p:blipFill>
          <a:blip r:embed="rId7">
            <a:extLst>
              <a:ext uri="{BEBA8EAE-BF5A-486C-A8C5-ECC9F3942E4B}">
                <a14:imgProps xmlns:a14="http://schemas.microsoft.com/office/drawing/2010/main">
                  <a14:imgLayer r:embed="rId8">
                    <a14:imgEffect>
                      <a14:brightnessContrast bright="100000"/>
                    </a14:imgEffect>
                  </a14:imgLayer>
                </a14:imgProps>
              </a:ext>
            </a:extLst>
          </a:blip>
          <a:stretch>
            <a:fillRect/>
          </a:stretch>
        </p:blipFill>
        <p:spPr>
          <a:xfrm>
            <a:off x="8433511" y="2435047"/>
            <a:ext cx="241402" cy="241402"/>
          </a:xfrm>
          <a:prstGeom prst="rect">
            <a:avLst/>
          </a:prstGeom>
        </p:spPr>
      </p:pic>
      <p:sp>
        <p:nvSpPr>
          <p:cNvPr id="19" name="Text 14"/>
          <p:cNvSpPr txBox="1"/>
          <p:nvPr/>
        </p:nvSpPr>
        <p:spPr>
          <a:xfrm>
            <a:off x="8302752" y="2926080"/>
            <a:ext cx="3118104" cy="365760"/>
          </a:xfrm>
          <a:prstGeom prst="rect">
            <a:avLst/>
          </a:prstGeom>
          <a:noFill/>
          <a:ln/>
        </p:spPr>
        <p:txBody>
          <a:bodyPr wrap="square" rtlCol="0" anchor="ctr"/>
          <a:lstStyle/>
          <a:p>
            <a:pPr marL="0" indent="0">
              <a:buNone/>
            </a:pPr>
            <a:r>
              <a:rPr lang="en-US" sz="1400" b="1" dirty="0">
                <a:solidFill>
                  <a:srgbClr val="0B2545"/>
                </a:solidFill>
                <a:latin typeface="Cambria" pitchFamily="34" charset="0"/>
                <a:ea typeface="Cambria" pitchFamily="34" charset="-122"/>
                <a:cs typeface="Cambria" pitchFamily="34" charset="-120"/>
              </a:rPr>
              <a:t>Renewable Planning</a:t>
            </a:r>
            <a:endParaRPr lang="en-US" sz="1400" dirty="0"/>
          </a:p>
        </p:txBody>
      </p:sp>
      <p:sp>
        <p:nvSpPr>
          <p:cNvPr id="20" name="Text 15"/>
          <p:cNvSpPr txBox="1"/>
          <p:nvPr/>
        </p:nvSpPr>
        <p:spPr>
          <a:xfrm>
            <a:off x="8302752" y="3264408"/>
            <a:ext cx="3118104" cy="731520"/>
          </a:xfrm>
          <a:prstGeom prst="rect">
            <a:avLst/>
          </a:prstGeom>
          <a:noFill/>
          <a:ln/>
        </p:spPr>
        <p:txBody>
          <a:bodyPr wrap="square" rtlCol="0" anchor="ctr"/>
          <a:lstStyle/>
          <a:p>
            <a:pPr marL="0" indent="0">
              <a:lnSpc>
                <a:spcPct val="115000"/>
              </a:lnSpc>
              <a:buNone/>
            </a:pPr>
            <a:r>
              <a:rPr lang="en-US" sz="1200" dirty="0">
                <a:solidFill>
                  <a:srgbClr val="5A6B7B"/>
                </a:solidFill>
                <a:latin typeface="Calibri" pitchFamily="34" charset="0"/>
                <a:ea typeface="Calibri" pitchFamily="34" charset="-122"/>
                <a:cs typeface="Calibri" pitchFamily="34" charset="-120"/>
              </a:rPr>
              <a:t>Compare consumption with renewable share to find high-demand, low-renewable customers</a:t>
            </a:r>
            <a:r>
              <a:rPr lang="en-US" sz="1050" dirty="0">
                <a:solidFill>
                  <a:srgbClr val="5A6B7B"/>
                </a:solidFill>
                <a:latin typeface="Calibri" pitchFamily="34" charset="0"/>
                <a:ea typeface="Calibri" pitchFamily="34" charset="-122"/>
                <a:cs typeface="Calibri" pitchFamily="34" charset="-120"/>
              </a:rPr>
              <a:t>.</a:t>
            </a:r>
            <a:endParaRPr lang="en-US" sz="1050" dirty="0"/>
          </a:p>
        </p:txBody>
      </p:sp>
      <p:sp>
        <p:nvSpPr>
          <p:cNvPr id="21" name="Shape 16"/>
          <p:cNvSpPr/>
          <p:nvPr/>
        </p:nvSpPr>
        <p:spPr>
          <a:xfrm>
            <a:off x="548640" y="4270248"/>
            <a:ext cx="3520440" cy="1965960"/>
          </a:xfrm>
          <a:prstGeom prst="roundRect">
            <a:avLst>
              <a:gd name="adj" fmla="val 3721"/>
            </a:avLst>
          </a:prstGeom>
          <a:solidFill>
            <a:srgbClr val="F7F9FC"/>
          </a:solidFill>
          <a:ln w="12700">
            <a:solidFill>
              <a:srgbClr val="E2E8F0"/>
            </a:solidFill>
            <a:prstDash val="solid"/>
          </a:ln>
        </p:spPr>
        <p:txBody>
          <a:bodyPr/>
          <a:lstStyle/>
          <a:p>
            <a:endParaRPr lang="en-NG"/>
          </a:p>
        </p:txBody>
      </p:sp>
      <p:sp>
        <p:nvSpPr>
          <p:cNvPr id="22" name="Shape 17"/>
          <p:cNvSpPr/>
          <p:nvPr/>
        </p:nvSpPr>
        <p:spPr>
          <a:xfrm>
            <a:off x="749808" y="4471416"/>
            <a:ext cx="502920" cy="502920"/>
          </a:xfrm>
          <a:prstGeom prst="ellipse">
            <a:avLst/>
          </a:prstGeom>
          <a:solidFill>
            <a:srgbClr val="0B2545"/>
          </a:solidFill>
          <a:ln/>
        </p:spPr>
        <p:txBody>
          <a:bodyPr/>
          <a:lstStyle/>
          <a:p>
            <a:endParaRPr lang="en-NG"/>
          </a:p>
        </p:txBody>
      </p:sp>
      <p:pic>
        <p:nvPicPr>
          <p:cNvPr id="23" name="Image 3" descr="icons/pin_FFFFFF.png"/>
          <p:cNvPicPr>
            <a:picLocks noChangeAspect="1"/>
          </p:cNvPicPr>
          <p:nvPr/>
        </p:nvPicPr>
        <p:blipFill>
          <a:blip r:embed="rId9">
            <a:extLst>
              <a:ext uri="{BEBA8EAE-BF5A-486C-A8C5-ECC9F3942E4B}">
                <a14:imgProps xmlns:a14="http://schemas.microsoft.com/office/drawing/2010/main">
                  <a14:imgLayer r:embed="rId10">
                    <a14:imgEffect>
                      <a14:brightnessContrast bright="100000"/>
                    </a14:imgEffect>
                  </a14:imgLayer>
                </a14:imgProps>
              </a:ext>
            </a:extLst>
          </a:blip>
          <a:stretch>
            <a:fillRect/>
          </a:stretch>
        </p:blipFill>
        <p:spPr>
          <a:xfrm>
            <a:off x="880567" y="4602175"/>
            <a:ext cx="241402" cy="241402"/>
          </a:xfrm>
          <a:prstGeom prst="rect">
            <a:avLst/>
          </a:prstGeom>
        </p:spPr>
      </p:pic>
      <p:sp>
        <p:nvSpPr>
          <p:cNvPr id="24" name="Text 18"/>
          <p:cNvSpPr txBox="1"/>
          <p:nvPr/>
        </p:nvSpPr>
        <p:spPr>
          <a:xfrm>
            <a:off x="749808" y="5093208"/>
            <a:ext cx="3118104" cy="365760"/>
          </a:xfrm>
          <a:prstGeom prst="rect">
            <a:avLst/>
          </a:prstGeom>
          <a:noFill/>
          <a:ln/>
        </p:spPr>
        <p:txBody>
          <a:bodyPr wrap="square" rtlCol="0" anchor="ctr"/>
          <a:lstStyle/>
          <a:p>
            <a:pPr marL="0" indent="0">
              <a:buNone/>
            </a:pPr>
            <a:r>
              <a:rPr lang="en-US" sz="1400" b="1" dirty="0">
                <a:solidFill>
                  <a:srgbClr val="0B2545"/>
                </a:solidFill>
                <a:latin typeface="Cambria" pitchFamily="34" charset="0"/>
                <a:ea typeface="Cambria" pitchFamily="34" charset="-122"/>
                <a:cs typeface="Cambria" pitchFamily="34" charset="-120"/>
              </a:rPr>
              <a:t>Infrastructure and Access</a:t>
            </a:r>
            <a:endParaRPr lang="en-US" sz="1400" dirty="0"/>
          </a:p>
        </p:txBody>
      </p:sp>
      <p:sp>
        <p:nvSpPr>
          <p:cNvPr id="25" name="Text 19"/>
          <p:cNvSpPr txBox="1"/>
          <p:nvPr/>
        </p:nvSpPr>
        <p:spPr>
          <a:xfrm>
            <a:off x="749808" y="5431536"/>
            <a:ext cx="3118104" cy="731520"/>
          </a:xfrm>
          <a:prstGeom prst="rect">
            <a:avLst/>
          </a:prstGeom>
          <a:noFill/>
          <a:ln/>
        </p:spPr>
        <p:txBody>
          <a:bodyPr wrap="square" rtlCol="0" anchor="ctr"/>
          <a:lstStyle/>
          <a:p>
            <a:pPr marL="0" indent="0">
              <a:lnSpc>
                <a:spcPct val="115000"/>
              </a:lnSpc>
              <a:buNone/>
            </a:pPr>
            <a:r>
              <a:rPr lang="en-US" sz="1200" dirty="0">
                <a:solidFill>
                  <a:srgbClr val="5A6B7B"/>
                </a:solidFill>
                <a:latin typeface="Calibri" pitchFamily="34" charset="0"/>
                <a:ea typeface="Calibri" pitchFamily="34" charset="-122"/>
                <a:cs typeface="Calibri" pitchFamily="34" charset="-120"/>
              </a:rPr>
              <a:t>Consumption differences by location complement wider electricity-access initiatives.</a:t>
            </a:r>
            <a:endParaRPr lang="en-US" sz="1200" dirty="0"/>
          </a:p>
        </p:txBody>
      </p:sp>
      <p:sp>
        <p:nvSpPr>
          <p:cNvPr id="26" name="Shape 20"/>
          <p:cNvSpPr/>
          <p:nvPr/>
        </p:nvSpPr>
        <p:spPr>
          <a:xfrm>
            <a:off x="4325112" y="4270248"/>
            <a:ext cx="3520440" cy="1965960"/>
          </a:xfrm>
          <a:prstGeom prst="roundRect">
            <a:avLst>
              <a:gd name="adj" fmla="val 3721"/>
            </a:avLst>
          </a:prstGeom>
          <a:solidFill>
            <a:srgbClr val="F7F9FC"/>
          </a:solidFill>
          <a:ln w="12700">
            <a:solidFill>
              <a:srgbClr val="E2E8F0"/>
            </a:solidFill>
            <a:prstDash val="solid"/>
          </a:ln>
        </p:spPr>
        <p:txBody>
          <a:bodyPr/>
          <a:lstStyle/>
          <a:p>
            <a:endParaRPr lang="en-NG"/>
          </a:p>
        </p:txBody>
      </p:sp>
      <p:sp>
        <p:nvSpPr>
          <p:cNvPr id="27" name="Shape 21"/>
          <p:cNvSpPr/>
          <p:nvPr/>
        </p:nvSpPr>
        <p:spPr>
          <a:xfrm>
            <a:off x="4526280" y="4471416"/>
            <a:ext cx="502920" cy="502920"/>
          </a:xfrm>
          <a:prstGeom prst="ellipse">
            <a:avLst/>
          </a:prstGeom>
          <a:solidFill>
            <a:srgbClr val="0B2545"/>
          </a:solidFill>
          <a:ln/>
        </p:spPr>
        <p:txBody>
          <a:bodyPr/>
          <a:lstStyle/>
          <a:p>
            <a:endParaRPr lang="en-NG"/>
          </a:p>
        </p:txBody>
      </p:sp>
      <p:pic>
        <p:nvPicPr>
          <p:cNvPr id="28" name="Image 4" descr="icons/money_FFFFFF.png"/>
          <p:cNvPicPr>
            <a:picLocks noChangeAspect="1"/>
          </p:cNvPicPr>
          <p:nvPr/>
        </p:nvPicPr>
        <p:blipFill>
          <a:blip r:embed="rId11">
            <a:extLst>
              <a:ext uri="{BEBA8EAE-BF5A-486C-A8C5-ECC9F3942E4B}">
                <a14:imgProps xmlns:a14="http://schemas.microsoft.com/office/drawing/2010/main">
                  <a14:imgLayer r:embed="rId12">
                    <a14:imgEffect>
                      <a14:brightnessContrast bright="100000"/>
                    </a14:imgEffect>
                  </a14:imgLayer>
                </a14:imgProps>
              </a:ext>
            </a:extLst>
          </a:blip>
          <a:stretch>
            <a:fillRect/>
          </a:stretch>
        </p:blipFill>
        <p:spPr>
          <a:xfrm>
            <a:off x="4657039" y="4602175"/>
            <a:ext cx="241402" cy="241402"/>
          </a:xfrm>
          <a:prstGeom prst="rect">
            <a:avLst/>
          </a:prstGeom>
        </p:spPr>
      </p:pic>
      <p:sp>
        <p:nvSpPr>
          <p:cNvPr id="29" name="Text 22"/>
          <p:cNvSpPr txBox="1"/>
          <p:nvPr/>
        </p:nvSpPr>
        <p:spPr>
          <a:xfrm>
            <a:off x="4526280" y="5093208"/>
            <a:ext cx="3118104" cy="365760"/>
          </a:xfrm>
          <a:prstGeom prst="rect">
            <a:avLst/>
          </a:prstGeom>
          <a:noFill/>
          <a:ln/>
        </p:spPr>
        <p:txBody>
          <a:bodyPr wrap="square" rtlCol="0" anchor="ctr"/>
          <a:lstStyle/>
          <a:p>
            <a:pPr marL="0" indent="0">
              <a:buNone/>
            </a:pPr>
            <a:r>
              <a:rPr lang="en-US" sz="1400" b="1" dirty="0">
                <a:solidFill>
                  <a:srgbClr val="0B2545"/>
                </a:solidFill>
                <a:latin typeface="Cambria" pitchFamily="34" charset="0"/>
                <a:ea typeface="Cambria" pitchFamily="34" charset="-122"/>
                <a:cs typeface="Cambria" pitchFamily="34" charset="-120"/>
              </a:rPr>
              <a:t>Cost and Affordability</a:t>
            </a:r>
            <a:endParaRPr lang="en-US" sz="1400" dirty="0"/>
          </a:p>
        </p:txBody>
      </p:sp>
      <p:sp>
        <p:nvSpPr>
          <p:cNvPr id="30" name="Text 23"/>
          <p:cNvSpPr txBox="1"/>
          <p:nvPr/>
        </p:nvSpPr>
        <p:spPr>
          <a:xfrm>
            <a:off x="4526280" y="5431536"/>
            <a:ext cx="3118104" cy="731520"/>
          </a:xfrm>
          <a:prstGeom prst="rect">
            <a:avLst/>
          </a:prstGeom>
          <a:noFill/>
          <a:ln/>
        </p:spPr>
        <p:txBody>
          <a:bodyPr wrap="square" rtlCol="0" anchor="ctr"/>
          <a:lstStyle/>
          <a:p>
            <a:pPr marL="0" indent="0">
              <a:lnSpc>
                <a:spcPct val="115000"/>
              </a:lnSpc>
              <a:buNone/>
            </a:pPr>
            <a:r>
              <a:rPr lang="en-US" sz="1200" dirty="0">
                <a:solidFill>
                  <a:srgbClr val="5A6B7B"/>
                </a:solidFill>
                <a:latin typeface="Calibri" pitchFamily="34" charset="0"/>
                <a:ea typeface="Calibri" pitchFamily="34" charset="-122"/>
                <a:cs typeface="Calibri" pitchFamily="34" charset="-120"/>
              </a:rPr>
              <a:t>Consumption and tariff data together inform discussions on electricity affordability.</a:t>
            </a:r>
            <a:endParaRPr lang="en-US" sz="1200" dirty="0"/>
          </a:p>
        </p:txBody>
      </p:sp>
      <p:sp>
        <p:nvSpPr>
          <p:cNvPr id="31" name="Shape 24"/>
          <p:cNvSpPr/>
          <p:nvPr/>
        </p:nvSpPr>
        <p:spPr>
          <a:xfrm>
            <a:off x="8101584" y="4270248"/>
            <a:ext cx="3520440" cy="1965960"/>
          </a:xfrm>
          <a:prstGeom prst="roundRect">
            <a:avLst>
              <a:gd name="adj" fmla="val 3721"/>
            </a:avLst>
          </a:prstGeom>
          <a:solidFill>
            <a:srgbClr val="F7F9FC"/>
          </a:solidFill>
          <a:ln w="12700">
            <a:solidFill>
              <a:srgbClr val="E2E8F0"/>
            </a:solidFill>
            <a:prstDash val="solid"/>
          </a:ln>
        </p:spPr>
        <p:txBody>
          <a:bodyPr/>
          <a:lstStyle/>
          <a:p>
            <a:endParaRPr lang="en-NG"/>
          </a:p>
        </p:txBody>
      </p:sp>
      <p:sp>
        <p:nvSpPr>
          <p:cNvPr id="32" name="Shape 25"/>
          <p:cNvSpPr/>
          <p:nvPr/>
        </p:nvSpPr>
        <p:spPr>
          <a:xfrm>
            <a:off x="8302752" y="4471416"/>
            <a:ext cx="502920" cy="502920"/>
          </a:xfrm>
          <a:prstGeom prst="ellipse">
            <a:avLst/>
          </a:prstGeom>
          <a:solidFill>
            <a:srgbClr val="0B2545"/>
          </a:solidFill>
          <a:ln/>
        </p:spPr>
        <p:txBody>
          <a:bodyPr/>
          <a:lstStyle/>
          <a:p>
            <a:endParaRPr lang="en-NG"/>
          </a:p>
        </p:txBody>
      </p:sp>
      <p:pic>
        <p:nvPicPr>
          <p:cNvPr id="33" name="Image 5" descr="icons/users_FFFFFF.png"/>
          <p:cNvPicPr>
            <a:picLocks noChangeAspect="1"/>
          </p:cNvPicPr>
          <p:nvPr/>
        </p:nvPicPr>
        <p:blipFill>
          <a:blip r:embed="rId13">
            <a:extLst>
              <a:ext uri="{BEBA8EAE-BF5A-486C-A8C5-ECC9F3942E4B}">
                <a14:imgProps xmlns:a14="http://schemas.microsoft.com/office/drawing/2010/main">
                  <a14:imgLayer r:embed="rId14">
                    <a14:imgEffect>
                      <a14:brightnessContrast bright="100000"/>
                    </a14:imgEffect>
                  </a14:imgLayer>
                </a14:imgProps>
              </a:ext>
            </a:extLst>
          </a:blip>
          <a:stretch>
            <a:fillRect/>
          </a:stretch>
        </p:blipFill>
        <p:spPr>
          <a:xfrm>
            <a:off x="8433511" y="4602175"/>
            <a:ext cx="241402" cy="241402"/>
          </a:xfrm>
          <a:prstGeom prst="rect">
            <a:avLst/>
          </a:prstGeom>
        </p:spPr>
      </p:pic>
      <p:sp>
        <p:nvSpPr>
          <p:cNvPr id="34" name="Text 26"/>
          <p:cNvSpPr txBox="1"/>
          <p:nvPr/>
        </p:nvSpPr>
        <p:spPr>
          <a:xfrm>
            <a:off x="8302752" y="5093208"/>
            <a:ext cx="3118104" cy="365760"/>
          </a:xfrm>
          <a:prstGeom prst="rect">
            <a:avLst/>
          </a:prstGeom>
          <a:noFill/>
          <a:ln/>
        </p:spPr>
        <p:txBody>
          <a:bodyPr wrap="square" rtlCol="0" anchor="ctr"/>
          <a:lstStyle/>
          <a:p>
            <a:pPr marL="0" indent="0">
              <a:buNone/>
            </a:pPr>
            <a:r>
              <a:rPr lang="en-US" sz="1400" b="1" dirty="0">
                <a:solidFill>
                  <a:srgbClr val="0B2545"/>
                </a:solidFill>
                <a:latin typeface="Cambria" pitchFamily="34" charset="0"/>
                <a:ea typeface="Cambria" pitchFamily="34" charset="-122"/>
                <a:cs typeface="Cambria" pitchFamily="34" charset="-120"/>
              </a:rPr>
              <a:t>Business Intelligence</a:t>
            </a:r>
            <a:endParaRPr lang="en-US" sz="1400" dirty="0"/>
          </a:p>
        </p:txBody>
      </p:sp>
      <p:sp>
        <p:nvSpPr>
          <p:cNvPr id="35" name="Text 27"/>
          <p:cNvSpPr txBox="1"/>
          <p:nvPr/>
        </p:nvSpPr>
        <p:spPr>
          <a:xfrm>
            <a:off x="8302752" y="5431536"/>
            <a:ext cx="3118104" cy="731520"/>
          </a:xfrm>
          <a:prstGeom prst="rect">
            <a:avLst/>
          </a:prstGeom>
          <a:noFill/>
          <a:ln/>
        </p:spPr>
        <p:txBody>
          <a:bodyPr wrap="square" rtlCol="0" anchor="ctr"/>
          <a:lstStyle/>
          <a:p>
            <a:pPr marL="0" indent="0">
              <a:lnSpc>
                <a:spcPct val="115000"/>
              </a:lnSpc>
              <a:buNone/>
            </a:pPr>
            <a:r>
              <a:rPr lang="en-US" sz="1200" dirty="0">
                <a:solidFill>
                  <a:srgbClr val="5A6B7B"/>
                </a:solidFill>
                <a:latin typeface="Calibri" pitchFamily="34" charset="0"/>
                <a:ea typeface="Calibri" pitchFamily="34" charset="-122"/>
                <a:cs typeface="Calibri" pitchFamily="34" charset="-120"/>
              </a:rPr>
              <a:t>Turns customer and consumption records into information for operational decisions.</a:t>
            </a:r>
            <a:endParaRPr lang="en-US" sz="1200" dirty="0"/>
          </a:p>
        </p:txBody>
      </p:sp>
      <p:sp>
        <p:nvSpPr>
          <p:cNvPr id="36" name="Text 28"/>
          <p:cNvSpPr txBox="1"/>
          <p:nvPr/>
        </p:nvSpPr>
        <p:spPr>
          <a:xfrm>
            <a:off x="457200" y="6473952"/>
            <a:ext cx="7315200" cy="274320"/>
          </a:xfrm>
          <a:prstGeom prst="rect">
            <a:avLst/>
          </a:prstGeom>
          <a:noFill/>
          <a:ln/>
        </p:spPr>
        <p:txBody>
          <a:bodyPr wrap="square" rtlCol="0" anchor="ctr"/>
          <a:lstStyle/>
          <a:p>
            <a:pPr marL="0" indent="0">
              <a:buNone/>
            </a:pPr>
            <a:r>
              <a:rPr lang="en-US" sz="900" dirty="0">
                <a:solidFill>
                  <a:srgbClr val="5A6B7B"/>
                </a:solidFill>
                <a:latin typeface="Calibri" pitchFamily="34" charset="0"/>
                <a:ea typeface="Calibri" pitchFamily="34" charset="-122"/>
                <a:cs typeface="Calibri" pitchFamily="34" charset="-120"/>
              </a:rPr>
              <a:t>ENERGY CONSUMPTION ANALYSIS SYSTEM  </a:t>
            </a:r>
            <a:endParaRPr lang="en-US" sz="900" dirty="0"/>
          </a:p>
        </p:txBody>
      </p:sp>
      <p:sp>
        <p:nvSpPr>
          <p:cNvPr id="37" name="Text 29"/>
          <p:cNvSpPr txBox="1"/>
          <p:nvPr/>
        </p:nvSpPr>
        <p:spPr>
          <a:xfrm>
            <a:off x="11274552" y="6473952"/>
            <a:ext cx="548640" cy="274320"/>
          </a:xfrm>
          <a:prstGeom prst="rect">
            <a:avLst/>
          </a:prstGeom>
          <a:noFill/>
          <a:ln/>
        </p:spPr>
        <p:txBody>
          <a:bodyPr wrap="square" rtlCol="0" anchor="ctr"/>
          <a:lstStyle/>
          <a:p>
            <a:pPr marL="0" indent="0" algn="r">
              <a:buNone/>
            </a:pPr>
            <a:r>
              <a:rPr lang="en-US" sz="900" dirty="0">
                <a:solidFill>
                  <a:srgbClr val="5A6B7B"/>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84048"/>
            <a:ext cx="457200" cy="457200"/>
          </a:xfrm>
          <a:prstGeom prst="ellipse">
            <a:avLst/>
          </a:prstGeom>
          <a:solidFill>
            <a:srgbClr val="0B2545"/>
          </a:solidFill>
          <a:ln/>
        </p:spPr>
        <p:txBody>
          <a:bodyPr/>
          <a:lstStyle/>
          <a:p>
            <a:endParaRPr lang="en-NG"/>
          </a:p>
        </p:txBody>
      </p:sp>
      <p:sp>
        <p:nvSpPr>
          <p:cNvPr id="3" name="Text 1"/>
          <p:cNvSpPr txBox="1"/>
          <p:nvPr/>
        </p:nvSpPr>
        <p:spPr>
          <a:xfrm>
            <a:off x="548640" y="384048"/>
            <a:ext cx="457200" cy="45720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4" name="Text 2"/>
          <p:cNvSpPr txBox="1"/>
          <p:nvPr/>
        </p:nvSpPr>
        <p:spPr>
          <a:xfrm>
            <a:off x="548640" y="658368"/>
            <a:ext cx="10607040" cy="731520"/>
          </a:xfrm>
          <a:prstGeom prst="rect">
            <a:avLst/>
          </a:prstGeom>
          <a:noFill/>
          <a:ln/>
        </p:spPr>
        <p:txBody>
          <a:bodyPr wrap="square"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Dataset Description</a:t>
            </a:r>
            <a:endParaRPr lang="en-US" sz="3000" dirty="0"/>
          </a:p>
        </p:txBody>
      </p:sp>
      <p:sp>
        <p:nvSpPr>
          <p:cNvPr id="5" name="Text 3"/>
          <p:cNvSpPr txBox="1"/>
          <p:nvPr/>
        </p:nvSpPr>
        <p:spPr>
          <a:xfrm>
            <a:off x="548640" y="1417320"/>
            <a:ext cx="6035040" cy="1280160"/>
          </a:xfrm>
          <a:prstGeom prst="rect">
            <a:avLst/>
          </a:prstGeom>
          <a:noFill/>
          <a:ln/>
        </p:spPr>
        <p:txBody>
          <a:bodyPr wrap="square" rtlCol="0" anchor="ctr"/>
          <a:lstStyle/>
          <a:p>
            <a:pPr marL="0" indent="0">
              <a:lnSpc>
                <a:spcPct val="122000"/>
              </a:lnSpc>
              <a:buNone/>
            </a:pPr>
            <a:r>
              <a:rPr lang="en-US" sz="1400" dirty="0">
                <a:solidFill>
                  <a:srgbClr val="0B2545"/>
                </a:solidFill>
                <a:latin typeface="Calibri" pitchFamily="34" charset="0"/>
                <a:ea typeface="Calibri" pitchFamily="34" charset="-122"/>
                <a:cs typeface="Calibri" pitchFamily="34" charset="-120"/>
              </a:rPr>
              <a:t>An energy consultancy firm collected electricity consumption information from different customers to support analysis of consumption, cost, categories, locations, months, outages, renewable usage and payment status</a:t>
            </a:r>
            <a:r>
              <a:rPr lang="en-US" sz="1200" dirty="0">
                <a:solidFill>
                  <a:srgbClr val="0B2545"/>
                </a:solidFill>
                <a:latin typeface="Calibri" pitchFamily="34" charset="0"/>
                <a:ea typeface="Calibri" pitchFamily="34" charset="-122"/>
                <a:cs typeface="Calibri" pitchFamily="34" charset="-120"/>
              </a:rPr>
              <a:t>.</a:t>
            </a:r>
            <a:endParaRPr lang="en-US" sz="1200" dirty="0"/>
          </a:p>
        </p:txBody>
      </p:sp>
      <p:sp>
        <p:nvSpPr>
          <p:cNvPr id="6" name="Shape 4"/>
          <p:cNvSpPr/>
          <p:nvPr/>
        </p:nvSpPr>
        <p:spPr>
          <a:xfrm>
            <a:off x="548640" y="2788920"/>
            <a:ext cx="2834640" cy="1234440"/>
          </a:xfrm>
          <a:prstGeom prst="roundRect">
            <a:avLst>
              <a:gd name="adj" fmla="val 5926"/>
            </a:avLst>
          </a:prstGeom>
          <a:solidFill>
            <a:srgbClr val="F7F9FC"/>
          </a:solidFill>
          <a:ln w="12700">
            <a:solidFill>
              <a:srgbClr val="E2E8F0"/>
            </a:solidFill>
            <a:prstDash val="solid"/>
          </a:ln>
        </p:spPr>
        <p:txBody>
          <a:bodyPr/>
          <a:lstStyle/>
          <a:p>
            <a:endParaRPr lang="en-NG"/>
          </a:p>
        </p:txBody>
      </p:sp>
      <p:sp>
        <p:nvSpPr>
          <p:cNvPr id="7" name="Text 5"/>
          <p:cNvSpPr txBox="1"/>
          <p:nvPr/>
        </p:nvSpPr>
        <p:spPr>
          <a:xfrm>
            <a:off x="685800" y="2953512"/>
            <a:ext cx="2560320" cy="548640"/>
          </a:xfrm>
          <a:prstGeom prst="rect">
            <a:avLst/>
          </a:prstGeom>
          <a:noFill/>
          <a:ln/>
        </p:spPr>
        <p:txBody>
          <a:bodyPr wrap="square" rtlCol="0" anchor="b"/>
          <a:lstStyle/>
          <a:p>
            <a:pPr marL="0" indent="0" algn="ctr">
              <a:buNone/>
            </a:pPr>
            <a:r>
              <a:rPr lang="en-US" sz="4000" b="1" dirty="0">
                <a:solidFill>
                  <a:srgbClr val="0B2545"/>
                </a:solidFill>
                <a:latin typeface="Cambria" pitchFamily="34" charset="0"/>
                <a:ea typeface="Cambria" pitchFamily="34" charset="-122"/>
                <a:cs typeface="Cambria" pitchFamily="34" charset="-120"/>
              </a:rPr>
              <a:t>20</a:t>
            </a:r>
            <a:endParaRPr lang="en-US" sz="4000" dirty="0"/>
          </a:p>
        </p:txBody>
      </p:sp>
      <p:sp>
        <p:nvSpPr>
          <p:cNvPr id="8" name="Text 6"/>
          <p:cNvSpPr txBox="1"/>
          <p:nvPr/>
        </p:nvSpPr>
        <p:spPr>
          <a:xfrm>
            <a:off x="685800" y="3520440"/>
            <a:ext cx="2560320" cy="411480"/>
          </a:xfrm>
          <a:prstGeom prst="rect">
            <a:avLst/>
          </a:prstGeom>
          <a:noFill/>
          <a:ln/>
        </p:spPr>
        <p:txBody>
          <a:bodyPr wrap="square" rtlCol="0" anchor="t"/>
          <a:lstStyle/>
          <a:p>
            <a:pPr marL="0" indent="0" algn="ctr">
              <a:buNone/>
            </a:pPr>
            <a:r>
              <a:rPr lang="en-US" sz="1200" dirty="0">
                <a:solidFill>
                  <a:srgbClr val="5A6B7B"/>
                </a:solidFill>
                <a:latin typeface="Calibri" pitchFamily="34" charset="0"/>
                <a:ea typeface="Calibri" pitchFamily="34" charset="-122"/>
                <a:cs typeface="Calibri" pitchFamily="34" charset="-120"/>
              </a:rPr>
              <a:t>Sample customer records</a:t>
            </a:r>
            <a:endParaRPr lang="en-US" sz="1200" dirty="0"/>
          </a:p>
        </p:txBody>
      </p:sp>
      <p:sp>
        <p:nvSpPr>
          <p:cNvPr id="9" name="Shape 7"/>
          <p:cNvSpPr/>
          <p:nvPr/>
        </p:nvSpPr>
        <p:spPr>
          <a:xfrm>
            <a:off x="3566160" y="2788920"/>
            <a:ext cx="2834640" cy="1234440"/>
          </a:xfrm>
          <a:prstGeom prst="roundRect">
            <a:avLst>
              <a:gd name="adj" fmla="val 5926"/>
            </a:avLst>
          </a:prstGeom>
          <a:solidFill>
            <a:srgbClr val="F7F9FC"/>
          </a:solidFill>
          <a:ln w="12700">
            <a:solidFill>
              <a:srgbClr val="E2E8F0"/>
            </a:solidFill>
            <a:prstDash val="solid"/>
          </a:ln>
        </p:spPr>
        <p:txBody>
          <a:bodyPr/>
          <a:lstStyle/>
          <a:p>
            <a:endParaRPr lang="en-NG"/>
          </a:p>
        </p:txBody>
      </p:sp>
      <p:sp>
        <p:nvSpPr>
          <p:cNvPr id="10" name="Text 8"/>
          <p:cNvSpPr txBox="1"/>
          <p:nvPr/>
        </p:nvSpPr>
        <p:spPr>
          <a:xfrm>
            <a:off x="3703320" y="2953512"/>
            <a:ext cx="2560320" cy="548640"/>
          </a:xfrm>
          <a:prstGeom prst="rect">
            <a:avLst/>
          </a:prstGeom>
          <a:noFill/>
          <a:ln/>
        </p:spPr>
        <p:txBody>
          <a:bodyPr wrap="square" rtlCol="0" anchor="b"/>
          <a:lstStyle/>
          <a:p>
            <a:pPr marL="0" indent="0" algn="ctr">
              <a:buNone/>
            </a:pPr>
            <a:r>
              <a:rPr lang="en-US" sz="4000" b="1" dirty="0">
                <a:solidFill>
                  <a:srgbClr val="0B2545"/>
                </a:solidFill>
                <a:latin typeface="Cambria" pitchFamily="34" charset="0"/>
                <a:ea typeface="Cambria" pitchFamily="34" charset="-122"/>
                <a:cs typeface="Cambria" pitchFamily="34" charset="-120"/>
              </a:rPr>
              <a:t>6</a:t>
            </a:r>
            <a:endParaRPr lang="en-US" sz="4000" dirty="0"/>
          </a:p>
        </p:txBody>
      </p:sp>
      <p:sp>
        <p:nvSpPr>
          <p:cNvPr id="11" name="Text 9"/>
          <p:cNvSpPr txBox="1"/>
          <p:nvPr/>
        </p:nvSpPr>
        <p:spPr>
          <a:xfrm>
            <a:off x="3703320" y="3520440"/>
            <a:ext cx="2560320" cy="411480"/>
          </a:xfrm>
          <a:prstGeom prst="rect">
            <a:avLst/>
          </a:prstGeom>
          <a:noFill/>
          <a:ln/>
        </p:spPr>
        <p:txBody>
          <a:bodyPr wrap="square" rtlCol="0" anchor="t"/>
          <a:lstStyle/>
          <a:p>
            <a:pPr marL="0" indent="0" algn="ctr">
              <a:buNone/>
            </a:pPr>
            <a:r>
              <a:rPr lang="en-US" sz="1200" dirty="0">
                <a:solidFill>
                  <a:srgbClr val="5A6B7B"/>
                </a:solidFill>
                <a:latin typeface="Calibri" pitchFamily="34" charset="0"/>
                <a:ea typeface="Calibri" pitchFamily="34" charset="-122"/>
                <a:cs typeface="Calibri" pitchFamily="34" charset="-120"/>
              </a:rPr>
              <a:t>Months covered (Jan–Jun</a:t>
            </a:r>
            <a:r>
              <a:rPr lang="en-US" sz="1100" dirty="0">
                <a:solidFill>
                  <a:srgbClr val="5A6B7B"/>
                </a:solidFill>
                <a:latin typeface="Calibri" pitchFamily="34" charset="0"/>
                <a:ea typeface="Calibri" pitchFamily="34" charset="-122"/>
                <a:cs typeface="Calibri" pitchFamily="34" charset="-120"/>
              </a:rPr>
              <a:t>)</a:t>
            </a:r>
            <a:endParaRPr lang="en-US" sz="1100" dirty="0"/>
          </a:p>
        </p:txBody>
      </p:sp>
      <p:sp>
        <p:nvSpPr>
          <p:cNvPr id="12" name="Shape 10"/>
          <p:cNvSpPr/>
          <p:nvPr/>
        </p:nvSpPr>
        <p:spPr>
          <a:xfrm>
            <a:off x="548640" y="4206240"/>
            <a:ext cx="5852160" cy="1783080"/>
          </a:xfrm>
          <a:prstGeom prst="roundRect">
            <a:avLst>
              <a:gd name="adj" fmla="val 4103"/>
            </a:avLst>
          </a:prstGeom>
          <a:solidFill>
            <a:srgbClr val="F7F9FC"/>
          </a:solidFill>
          <a:ln w="12700">
            <a:solidFill>
              <a:srgbClr val="E2E8F0"/>
            </a:solidFill>
            <a:prstDash val="solid"/>
          </a:ln>
        </p:spPr>
        <p:txBody>
          <a:bodyPr/>
          <a:lstStyle/>
          <a:p>
            <a:endParaRPr lang="en-NG"/>
          </a:p>
        </p:txBody>
      </p:sp>
      <p:sp>
        <p:nvSpPr>
          <p:cNvPr id="13" name="Text 11"/>
          <p:cNvSpPr txBox="1"/>
          <p:nvPr/>
        </p:nvSpPr>
        <p:spPr>
          <a:xfrm>
            <a:off x="731520" y="4315968"/>
            <a:ext cx="5486400" cy="685800"/>
          </a:xfrm>
          <a:prstGeom prst="rect">
            <a:avLst/>
          </a:prstGeom>
          <a:noFill/>
          <a:ln/>
        </p:spPr>
        <p:txBody>
          <a:bodyPr wrap="square" rtlCol="0" anchor="ctr"/>
          <a:lstStyle/>
          <a:p>
            <a:pPr marL="0" indent="0">
              <a:lnSpc>
                <a:spcPct val="115000"/>
              </a:lnSpc>
              <a:buNone/>
            </a:pPr>
            <a:r>
              <a:rPr lang="en-US" sz="1200" i="1" dirty="0">
                <a:solidFill>
                  <a:srgbClr val="0B2545"/>
                </a:solidFill>
                <a:latin typeface="Calibri" pitchFamily="34" charset="0"/>
                <a:ea typeface="Calibri" pitchFamily="34" charset="-122"/>
                <a:cs typeface="Calibri" pitchFamily="34" charset="-120"/>
              </a:rPr>
              <a:t>Structured as a Python list of dictionaries — one dictionary per customer record, each key a data field.</a:t>
            </a:r>
            <a:endParaRPr lang="en-US" sz="1200" dirty="0"/>
          </a:p>
        </p:txBody>
      </p:sp>
      <p:sp>
        <p:nvSpPr>
          <p:cNvPr id="14" name="Shape 12"/>
          <p:cNvSpPr/>
          <p:nvPr/>
        </p:nvSpPr>
        <p:spPr>
          <a:xfrm>
            <a:off x="731520" y="5029200"/>
            <a:ext cx="5303520" cy="0"/>
          </a:xfrm>
          <a:prstGeom prst="line">
            <a:avLst/>
          </a:prstGeom>
          <a:noFill/>
          <a:ln w="12700">
            <a:solidFill>
              <a:srgbClr val="E2E8F0"/>
            </a:solidFill>
            <a:prstDash val="solid"/>
          </a:ln>
        </p:spPr>
        <p:txBody>
          <a:bodyPr/>
          <a:lstStyle/>
          <a:p>
            <a:endParaRPr lang="en-NG"/>
          </a:p>
        </p:txBody>
      </p:sp>
      <p:sp>
        <p:nvSpPr>
          <p:cNvPr id="15" name="Shape 13"/>
          <p:cNvSpPr/>
          <p:nvPr/>
        </p:nvSpPr>
        <p:spPr>
          <a:xfrm>
            <a:off x="731520" y="5138928"/>
            <a:ext cx="365760" cy="365760"/>
          </a:xfrm>
          <a:prstGeom prst="ellipse">
            <a:avLst/>
          </a:prstGeom>
          <a:solidFill>
            <a:srgbClr val="F4A300"/>
          </a:solidFill>
          <a:ln/>
        </p:spPr>
        <p:txBody>
          <a:bodyPr/>
          <a:lstStyle/>
          <a:p>
            <a:endParaRPr lang="en-NG"/>
          </a:p>
        </p:txBody>
      </p:sp>
      <p:pic>
        <p:nvPicPr>
          <p:cNvPr id="16" name="Image 0" descr="icons/alert_0B2545.png"/>
          <p:cNvPicPr>
            <a:picLocks noChangeAspect="1"/>
          </p:cNvPicPr>
          <p:nvPr/>
        </p:nvPicPr>
        <p:blipFill>
          <a:blip r:embed="rId3"/>
          <a:stretch>
            <a:fillRect/>
          </a:stretch>
        </p:blipFill>
        <p:spPr>
          <a:xfrm>
            <a:off x="826618" y="5234026"/>
            <a:ext cx="175565" cy="175565"/>
          </a:xfrm>
          <a:prstGeom prst="rect">
            <a:avLst/>
          </a:prstGeom>
        </p:spPr>
      </p:pic>
      <p:sp>
        <p:nvSpPr>
          <p:cNvPr id="17" name="Text 14"/>
          <p:cNvSpPr txBox="1"/>
          <p:nvPr/>
        </p:nvSpPr>
        <p:spPr>
          <a:xfrm>
            <a:off x="1234440" y="5120640"/>
            <a:ext cx="4983480" cy="777240"/>
          </a:xfrm>
          <a:prstGeom prst="rect">
            <a:avLst/>
          </a:prstGeom>
          <a:noFill/>
          <a:ln/>
        </p:spPr>
        <p:txBody>
          <a:bodyPr wrap="square" rtlCol="0" anchor="ctr"/>
          <a:lstStyle/>
          <a:p>
            <a:pPr marL="0" indent="0">
              <a:lnSpc>
                <a:spcPct val="112000"/>
              </a:lnSpc>
              <a:buNone/>
            </a:pPr>
            <a:r>
              <a:rPr lang="en-US" sz="1200" i="1" dirty="0">
                <a:solidFill>
                  <a:srgbClr val="5A6B7B"/>
                </a:solidFill>
                <a:latin typeface="Calibri" pitchFamily="34" charset="0"/>
                <a:ea typeface="Calibri" pitchFamily="34" charset="-122"/>
                <a:cs typeface="Calibri" pitchFamily="34" charset="-120"/>
              </a:rPr>
              <a:t>Limitation: this is a simulated instructional dataset — not official Nigerian electricity statistics.</a:t>
            </a:r>
            <a:endParaRPr lang="en-US" sz="1200" dirty="0"/>
          </a:p>
        </p:txBody>
      </p:sp>
      <p:sp>
        <p:nvSpPr>
          <p:cNvPr id="18" name="Text 15"/>
          <p:cNvSpPr txBox="1"/>
          <p:nvPr/>
        </p:nvSpPr>
        <p:spPr>
          <a:xfrm>
            <a:off x="6720840" y="1417320"/>
            <a:ext cx="4937760" cy="274320"/>
          </a:xfrm>
          <a:prstGeom prst="rect">
            <a:avLst/>
          </a:prstGeom>
          <a:noFill/>
          <a:ln/>
        </p:spPr>
        <p:txBody>
          <a:bodyPr wrap="square" rtlCol="0" anchor="ctr"/>
          <a:lstStyle/>
          <a:p>
            <a:pPr marL="0" indent="0">
              <a:buNone/>
            </a:pPr>
            <a:r>
              <a:rPr lang="en-US" sz="1200" b="1" kern="0" spc="150" dirty="0">
                <a:solidFill>
                  <a:srgbClr val="F4A300"/>
                </a:solidFill>
                <a:latin typeface="Calibri" pitchFamily="34" charset="0"/>
                <a:ea typeface="Calibri" pitchFamily="34" charset="-122"/>
                <a:cs typeface="Calibri" pitchFamily="34" charset="-120"/>
              </a:rPr>
              <a:t>CUSTOMER TYPES COVERED</a:t>
            </a:r>
            <a:endParaRPr lang="en-US" sz="1200" dirty="0"/>
          </a:p>
        </p:txBody>
      </p:sp>
      <p:sp>
        <p:nvSpPr>
          <p:cNvPr id="19" name="Shape 16"/>
          <p:cNvSpPr/>
          <p:nvPr/>
        </p:nvSpPr>
        <p:spPr>
          <a:xfrm>
            <a:off x="6720840" y="1783080"/>
            <a:ext cx="1600200" cy="914400"/>
          </a:xfrm>
          <a:prstGeom prst="roundRect">
            <a:avLst>
              <a:gd name="adj" fmla="val 8000"/>
            </a:avLst>
          </a:prstGeom>
          <a:solidFill>
            <a:srgbClr val="0B2545"/>
          </a:solidFill>
          <a:ln/>
        </p:spPr>
        <p:txBody>
          <a:bodyPr/>
          <a:lstStyle/>
          <a:p>
            <a:endParaRPr lang="en-NG"/>
          </a:p>
        </p:txBody>
      </p:sp>
      <p:sp>
        <p:nvSpPr>
          <p:cNvPr id="20" name="Shape 17"/>
          <p:cNvSpPr/>
          <p:nvPr/>
        </p:nvSpPr>
        <p:spPr>
          <a:xfrm>
            <a:off x="7328916" y="1892808"/>
            <a:ext cx="384048" cy="384048"/>
          </a:xfrm>
          <a:prstGeom prst="ellipse">
            <a:avLst/>
          </a:prstGeom>
          <a:solidFill>
            <a:srgbClr val="F4A300"/>
          </a:solidFill>
          <a:ln/>
        </p:spPr>
        <p:txBody>
          <a:bodyPr/>
          <a:lstStyle/>
          <a:p>
            <a:endParaRPr lang="en-NG"/>
          </a:p>
        </p:txBody>
      </p:sp>
      <p:pic>
        <p:nvPicPr>
          <p:cNvPr id="21" name="Image 1" descr="icons/home_0B2545.png"/>
          <p:cNvPicPr>
            <a:picLocks noChangeAspect="1"/>
          </p:cNvPicPr>
          <p:nvPr/>
        </p:nvPicPr>
        <p:blipFill>
          <a:blip r:embed="rId4"/>
          <a:stretch>
            <a:fillRect/>
          </a:stretch>
        </p:blipFill>
        <p:spPr>
          <a:xfrm>
            <a:off x="7428768" y="1992660"/>
            <a:ext cx="184343" cy="184343"/>
          </a:xfrm>
          <a:prstGeom prst="rect">
            <a:avLst/>
          </a:prstGeom>
        </p:spPr>
      </p:pic>
      <p:sp>
        <p:nvSpPr>
          <p:cNvPr id="22" name="Text 18"/>
          <p:cNvSpPr txBox="1"/>
          <p:nvPr/>
        </p:nvSpPr>
        <p:spPr>
          <a:xfrm>
            <a:off x="6766560" y="2331720"/>
            <a:ext cx="1508760" cy="320040"/>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Residential</a:t>
            </a:r>
            <a:endParaRPr lang="en-US" sz="950" dirty="0"/>
          </a:p>
        </p:txBody>
      </p:sp>
      <p:sp>
        <p:nvSpPr>
          <p:cNvPr id="23" name="Shape 19"/>
          <p:cNvSpPr/>
          <p:nvPr/>
        </p:nvSpPr>
        <p:spPr>
          <a:xfrm>
            <a:off x="8375904" y="1783080"/>
            <a:ext cx="1600200" cy="914400"/>
          </a:xfrm>
          <a:prstGeom prst="roundRect">
            <a:avLst>
              <a:gd name="adj" fmla="val 8000"/>
            </a:avLst>
          </a:prstGeom>
          <a:solidFill>
            <a:srgbClr val="0B2545"/>
          </a:solidFill>
          <a:ln/>
        </p:spPr>
        <p:txBody>
          <a:bodyPr/>
          <a:lstStyle/>
          <a:p>
            <a:endParaRPr lang="en-NG"/>
          </a:p>
        </p:txBody>
      </p:sp>
      <p:sp>
        <p:nvSpPr>
          <p:cNvPr id="24" name="Shape 20"/>
          <p:cNvSpPr/>
          <p:nvPr/>
        </p:nvSpPr>
        <p:spPr>
          <a:xfrm>
            <a:off x="8983980" y="1892808"/>
            <a:ext cx="384048" cy="384048"/>
          </a:xfrm>
          <a:prstGeom prst="ellipse">
            <a:avLst/>
          </a:prstGeom>
          <a:solidFill>
            <a:srgbClr val="F4A300"/>
          </a:solidFill>
          <a:ln/>
        </p:spPr>
        <p:txBody>
          <a:bodyPr/>
          <a:lstStyle/>
          <a:p>
            <a:endParaRPr lang="en-NG"/>
          </a:p>
        </p:txBody>
      </p:sp>
      <p:pic>
        <p:nvPicPr>
          <p:cNvPr id="25" name="Image 2" descr="icons/store_0B2545.png"/>
          <p:cNvPicPr>
            <a:picLocks noChangeAspect="1"/>
          </p:cNvPicPr>
          <p:nvPr/>
        </p:nvPicPr>
        <p:blipFill>
          <a:blip r:embed="rId5"/>
          <a:stretch>
            <a:fillRect/>
          </a:stretch>
        </p:blipFill>
        <p:spPr>
          <a:xfrm>
            <a:off x="9083832" y="1992660"/>
            <a:ext cx="184343" cy="184343"/>
          </a:xfrm>
          <a:prstGeom prst="rect">
            <a:avLst/>
          </a:prstGeom>
        </p:spPr>
      </p:pic>
      <p:sp>
        <p:nvSpPr>
          <p:cNvPr id="26" name="Text 21"/>
          <p:cNvSpPr txBox="1"/>
          <p:nvPr/>
        </p:nvSpPr>
        <p:spPr>
          <a:xfrm>
            <a:off x="8421624" y="2331720"/>
            <a:ext cx="1508760" cy="320040"/>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SME</a:t>
            </a:r>
            <a:endParaRPr lang="en-US" sz="950" dirty="0"/>
          </a:p>
        </p:txBody>
      </p:sp>
      <p:sp>
        <p:nvSpPr>
          <p:cNvPr id="27" name="Shape 22"/>
          <p:cNvSpPr/>
          <p:nvPr/>
        </p:nvSpPr>
        <p:spPr>
          <a:xfrm>
            <a:off x="10030968" y="1783080"/>
            <a:ext cx="1600200" cy="914400"/>
          </a:xfrm>
          <a:prstGeom prst="roundRect">
            <a:avLst>
              <a:gd name="adj" fmla="val 8000"/>
            </a:avLst>
          </a:prstGeom>
          <a:solidFill>
            <a:srgbClr val="0B2545"/>
          </a:solidFill>
          <a:ln/>
        </p:spPr>
        <p:txBody>
          <a:bodyPr/>
          <a:lstStyle/>
          <a:p>
            <a:endParaRPr lang="en-NG"/>
          </a:p>
        </p:txBody>
      </p:sp>
      <p:sp>
        <p:nvSpPr>
          <p:cNvPr id="28" name="Shape 23"/>
          <p:cNvSpPr/>
          <p:nvPr/>
        </p:nvSpPr>
        <p:spPr>
          <a:xfrm>
            <a:off x="10639044" y="1892808"/>
            <a:ext cx="384048" cy="384048"/>
          </a:xfrm>
          <a:prstGeom prst="ellipse">
            <a:avLst/>
          </a:prstGeom>
          <a:solidFill>
            <a:srgbClr val="F4A300"/>
          </a:solidFill>
          <a:ln/>
        </p:spPr>
        <p:txBody>
          <a:bodyPr/>
          <a:lstStyle/>
          <a:p>
            <a:endParaRPr lang="en-NG"/>
          </a:p>
        </p:txBody>
      </p:sp>
      <p:pic>
        <p:nvPicPr>
          <p:cNvPr id="29" name="Image 3" descr="icons/industry_0B2545.png"/>
          <p:cNvPicPr>
            <a:picLocks noChangeAspect="1"/>
          </p:cNvPicPr>
          <p:nvPr/>
        </p:nvPicPr>
        <p:blipFill>
          <a:blip r:embed="rId6"/>
          <a:stretch>
            <a:fillRect/>
          </a:stretch>
        </p:blipFill>
        <p:spPr>
          <a:xfrm>
            <a:off x="10738896" y="1992660"/>
            <a:ext cx="184343" cy="184343"/>
          </a:xfrm>
          <a:prstGeom prst="rect">
            <a:avLst/>
          </a:prstGeom>
        </p:spPr>
      </p:pic>
      <p:sp>
        <p:nvSpPr>
          <p:cNvPr id="30" name="Text 24"/>
          <p:cNvSpPr txBox="1"/>
          <p:nvPr/>
        </p:nvSpPr>
        <p:spPr>
          <a:xfrm>
            <a:off x="10076688" y="2331720"/>
            <a:ext cx="1508760" cy="320040"/>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Industrial</a:t>
            </a:r>
            <a:endParaRPr lang="en-US" sz="950" dirty="0"/>
          </a:p>
        </p:txBody>
      </p:sp>
      <p:sp>
        <p:nvSpPr>
          <p:cNvPr id="31" name="Shape 25"/>
          <p:cNvSpPr/>
          <p:nvPr/>
        </p:nvSpPr>
        <p:spPr>
          <a:xfrm>
            <a:off x="6720840" y="2834640"/>
            <a:ext cx="1600200" cy="914400"/>
          </a:xfrm>
          <a:prstGeom prst="roundRect">
            <a:avLst>
              <a:gd name="adj" fmla="val 8000"/>
            </a:avLst>
          </a:prstGeom>
          <a:solidFill>
            <a:srgbClr val="0B2545"/>
          </a:solidFill>
          <a:ln/>
        </p:spPr>
        <p:txBody>
          <a:bodyPr/>
          <a:lstStyle/>
          <a:p>
            <a:endParaRPr lang="en-NG"/>
          </a:p>
        </p:txBody>
      </p:sp>
      <p:sp>
        <p:nvSpPr>
          <p:cNvPr id="32" name="Shape 26"/>
          <p:cNvSpPr/>
          <p:nvPr/>
        </p:nvSpPr>
        <p:spPr>
          <a:xfrm>
            <a:off x="7328916" y="2944368"/>
            <a:ext cx="384048" cy="384048"/>
          </a:xfrm>
          <a:prstGeom prst="ellipse">
            <a:avLst/>
          </a:prstGeom>
          <a:solidFill>
            <a:srgbClr val="F4A300"/>
          </a:solidFill>
          <a:ln/>
        </p:spPr>
        <p:txBody>
          <a:bodyPr/>
          <a:lstStyle/>
          <a:p>
            <a:endParaRPr lang="en-NG"/>
          </a:p>
        </p:txBody>
      </p:sp>
      <p:pic>
        <p:nvPicPr>
          <p:cNvPr id="33" name="Image 4" descr="icons/hospital_0B2545.png"/>
          <p:cNvPicPr>
            <a:picLocks noChangeAspect="1"/>
          </p:cNvPicPr>
          <p:nvPr/>
        </p:nvPicPr>
        <p:blipFill>
          <a:blip r:embed="rId7"/>
          <a:stretch>
            <a:fillRect/>
          </a:stretch>
        </p:blipFill>
        <p:spPr>
          <a:xfrm>
            <a:off x="7428768" y="3044220"/>
            <a:ext cx="184343" cy="184343"/>
          </a:xfrm>
          <a:prstGeom prst="rect">
            <a:avLst/>
          </a:prstGeom>
        </p:spPr>
      </p:pic>
      <p:sp>
        <p:nvSpPr>
          <p:cNvPr id="34" name="Text 27"/>
          <p:cNvSpPr txBox="1"/>
          <p:nvPr/>
        </p:nvSpPr>
        <p:spPr>
          <a:xfrm>
            <a:off x="6766560" y="3383280"/>
            <a:ext cx="1508760" cy="320040"/>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Hospital</a:t>
            </a:r>
            <a:endParaRPr lang="en-US" sz="950" dirty="0"/>
          </a:p>
        </p:txBody>
      </p:sp>
      <p:sp>
        <p:nvSpPr>
          <p:cNvPr id="35" name="Shape 28"/>
          <p:cNvSpPr/>
          <p:nvPr/>
        </p:nvSpPr>
        <p:spPr>
          <a:xfrm>
            <a:off x="8375904" y="2834640"/>
            <a:ext cx="1600200" cy="914400"/>
          </a:xfrm>
          <a:prstGeom prst="roundRect">
            <a:avLst>
              <a:gd name="adj" fmla="val 8000"/>
            </a:avLst>
          </a:prstGeom>
          <a:solidFill>
            <a:srgbClr val="0B2545"/>
          </a:solidFill>
          <a:ln/>
        </p:spPr>
        <p:txBody>
          <a:bodyPr/>
          <a:lstStyle/>
          <a:p>
            <a:endParaRPr lang="en-NG"/>
          </a:p>
        </p:txBody>
      </p:sp>
      <p:sp>
        <p:nvSpPr>
          <p:cNvPr id="36" name="Shape 29"/>
          <p:cNvSpPr/>
          <p:nvPr/>
        </p:nvSpPr>
        <p:spPr>
          <a:xfrm>
            <a:off x="8983980" y="2944368"/>
            <a:ext cx="384048" cy="384048"/>
          </a:xfrm>
          <a:prstGeom prst="ellipse">
            <a:avLst/>
          </a:prstGeom>
          <a:solidFill>
            <a:srgbClr val="F4A300"/>
          </a:solidFill>
          <a:ln/>
        </p:spPr>
        <p:txBody>
          <a:bodyPr/>
          <a:lstStyle/>
          <a:p>
            <a:endParaRPr lang="en-NG"/>
          </a:p>
        </p:txBody>
      </p:sp>
      <p:pic>
        <p:nvPicPr>
          <p:cNvPr id="37" name="Image 5" descr="icons/school_0B2545.png"/>
          <p:cNvPicPr>
            <a:picLocks noChangeAspect="1"/>
          </p:cNvPicPr>
          <p:nvPr/>
        </p:nvPicPr>
        <p:blipFill>
          <a:blip r:embed="rId8"/>
          <a:stretch>
            <a:fillRect/>
          </a:stretch>
        </p:blipFill>
        <p:spPr>
          <a:xfrm>
            <a:off x="9083832" y="3044220"/>
            <a:ext cx="184343" cy="184343"/>
          </a:xfrm>
          <a:prstGeom prst="rect">
            <a:avLst/>
          </a:prstGeom>
        </p:spPr>
      </p:pic>
      <p:sp>
        <p:nvSpPr>
          <p:cNvPr id="38" name="Text 30"/>
          <p:cNvSpPr txBox="1"/>
          <p:nvPr/>
        </p:nvSpPr>
        <p:spPr>
          <a:xfrm>
            <a:off x="8421624" y="3383280"/>
            <a:ext cx="1508760" cy="320040"/>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School</a:t>
            </a:r>
            <a:endParaRPr lang="en-US" sz="950" dirty="0"/>
          </a:p>
        </p:txBody>
      </p:sp>
      <p:sp>
        <p:nvSpPr>
          <p:cNvPr id="39" name="Shape 31"/>
          <p:cNvSpPr/>
          <p:nvPr/>
        </p:nvSpPr>
        <p:spPr>
          <a:xfrm>
            <a:off x="10030968" y="2834640"/>
            <a:ext cx="1600200" cy="914400"/>
          </a:xfrm>
          <a:prstGeom prst="roundRect">
            <a:avLst>
              <a:gd name="adj" fmla="val 8000"/>
            </a:avLst>
          </a:prstGeom>
          <a:solidFill>
            <a:srgbClr val="0B2545"/>
          </a:solidFill>
          <a:ln/>
        </p:spPr>
        <p:txBody>
          <a:bodyPr/>
          <a:lstStyle/>
          <a:p>
            <a:endParaRPr lang="en-NG"/>
          </a:p>
        </p:txBody>
      </p:sp>
      <p:sp>
        <p:nvSpPr>
          <p:cNvPr id="40" name="Shape 32"/>
          <p:cNvSpPr/>
          <p:nvPr/>
        </p:nvSpPr>
        <p:spPr>
          <a:xfrm>
            <a:off x="10639044" y="2944368"/>
            <a:ext cx="384048" cy="384048"/>
          </a:xfrm>
          <a:prstGeom prst="ellipse">
            <a:avLst/>
          </a:prstGeom>
          <a:solidFill>
            <a:srgbClr val="F4A300"/>
          </a:solidFill>
          <a:ln/>
        </p:spPr>
        <p:txBody>
          <a:bodyPr/>
          <a:lstStyle/>
          <a:p>
            <a:endParaRPr lang="en-NG"/>
          </a:p>
        </p:txBody>
      </p:sp>
      <p:pic>
        <p:nvPicPr>
          <p:cNvPr id="41" name="Image 6" descr="icons/tractor_0B2545.png"/>
          <p:cNvPicPr>
            <a:picLocks noChangeAspect="1"/>
          </p:cNvPicPr>
          <p:nvPr/>
        </p:nvPicPr>
        <p:blipFill>
          <a:blip r:embed="rId9"/>
          <a:stretch>
            <a:fillRect/>
          </a:stretch>
        </p:blipFill>
        <p:spPr>
          <a:xfrm>
            <a:off x="10738896" y="3044220"/>
            <a:ext cx="184343" cy="184343"/>
          </a:xfrm>
          <a:prstGeom prst="rect">
            <a:avLst/>
          </a:prstGeom>
        </p:spPr>
      </p:pic>
      <p:sp>
        <p:nvSpPr>
          <p:cNvPr id="42" name="Text 33"/>
          <p:cNvSpPr txBox="1"/>
          <p:nvPr/>
        </p:nvSpPr>
        <p:spPr>
          <a:xfrm>
            <a:off x="10076688" y="3383280"/>
            <a:ext cx="1508760" cy="320040"/>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Agricultural</a:t>
            </a:r>
            <a:endParaRPr lang="en-US" sz="950" dirty="0"/>
          </a:p>
        </p:txBody>
      </p:sp>
      <p:sp>
        <p:nvSpPr>
          <p:cNvPr id="43" name="Text 34"/>
          <p:cNvSpPr txBox="1"/>
          <p:nvPr/>
        </p:nvSpPr>
        <p:spPr>
          <a:xfrm>
            <a:off x="6720840" y="4069080"/>
            <a:ext cx="4937760" cy="274320"/>
          </a:xfrm>
          <a:prstGeom prst="rect">
            <a:avLst/>
          </a:prstGeom>
          <a:noFill/>
          <a:ln/>
        </p:spPr>
        <p:txBody>
          <a:bodyPr wrap="square" rtlCol="0" anchor="ctr"/>
          <a:lstStyle/>
          <a:p>
            <a:pPr marL="0" indent="0">
              <a:buNone/>
            </a:pPr>
            <a:r>
              <a:rPr lang="en-US" sz="1200" b="1" kern="0" spc="150" dirty="0">
                <a:solidFill>
                  <a:srgbClr val="F4A300"/>
                </a:solidFill>
                <a:latin typeface="Calibri" pitchFamily="34" charset="0"/>
                <a:ea typeface="Calibri" pitchFamily="34" charset="-122"/>
                <a:cs typeface="Calibri" pitchFamily="34" charset="-120"/>
              </a:rPr>
              <a:t>LOCATIONS COVERED</a:t>
            </a:r>
            <a:endParaRPr lang="en-US" sz="1200" dirty="0"/>
          </a:p>
        </p:txBody>
      </p:sp>
      <p:sp>
        <p:nvSpPr>
          <p:cNvPr id="44" name="Shape 35"/>
          <p:cNvSpPr/>
          <p:nvPr/>
        </p:nvSpPr>
        <p:spPr>
          <a:xfrm>
            <a:off x="6720840" y="4389120"/>
            <a:ext cx="1600200" cy="914400"/>
          </a:xfrm>
          <a:prstGeom prst="roundRect">
            <a:avLst>
              <a:gd name="adj" fmla="val 8000"/>
            </a:avLst>
          </a:prstGeom>
          <a:solidFill>
            <a:srgbClr val="F7F9FC"/>
          </a:solidFill>
          <a:ln w="12700">
            <a:solidFill>
              <a:srgbClr val="E2E8F0"/>
            </a:solidFill>
            <a:prstDash val="solid"/>
          </a:ln>
        </p:spPr>
        <p:txBody>
          <a:bodyPr/>
          <a:lstStyle/>
          <a:p>
            <a:endParaRPr lang="en-NG"/>
          </a:p>
        </p:txBody>
      </p:sp>
      <p:sp>
        <p:nvSpPr>
          <p:cNvPr id="45" name="Shape 36"/>
          <p:cNvSpPr/>
          <p:nvPr/>
        </p:nvSpPr>
        <p:spPr>
          <a:xfrm>
            <a:off x="7328916" y="4498848"/>
            <a:ext cx="384048" cy="384048"/>
          </a:xfrm>
          <a:prstGeom prst="ellipse">
            <a:avLst/>
          </a:prstGeom>
          <a:solidFill>
            <a:srgbClr val="0B2545"/>
          </a:solidFill>
          <a:ln/>
        </p:spPr>
        <p:txBody>
          <a:bodyPr/>
          <a:lstStyle/>
          <a:p>
            <a:endParaRPr lang="en-NG"/>
          </a:p>
        </p:txBody>
      </p:sp>
      <p:pic>
        <p:nvPicPr>
          <p:cNvPr id="46" name="Image 7" descr="icons/pin_FFFFFF.png"/>
          <p:cNvPicPr>
            <a:picLocks noChangeAspect="1"/>
          </p:cNvPicPr>
          <p:nvPr/>
        </p:nvPicPr>
        <p:blipFill>
          <a:blip r:embed="rId10">
            <a:extLst>
              <a:ext uri="{BEBA8EAE-BF5A-486C-A8C5-ECC9F3942E4B}">
                <a14:imgProps xmlns:a14="http://schemas.microsoft.com/office/drawing/2010/main">
                  <a14:imgLayer r:embed="rId11">
                    <a14:imgEffect>
                      <a14:brightnessContrast bright="100000"/>
                    </a14:imgEffect>
                  </a14:imgLayer>
                </a14:imgProps>
              </a:ext>
            </a:extLst>
          </a:blip>
          <a:stretch>
            <a:fillRect/>
          </a:stretch>
        </p:blipFill>
        <p:spPr>
          <a:xfrm>
            <a:off x="7428768" y="4598700"/>
            <a:ext cx="184343" cy="184343"/>
          </a:xfrm>
          <a:prstGeom prst="rect">
            <a:avLst/>
          </a:prstGeom>
        </p:spPr>
      </p:pic>
      <p:sp>
        <p:nvSpPr>
          <p:cNvPr id="47" name="Text 37"/>
          <p:cNvSpPr txBox="1"/>
          <p:nvPr/>
        </p:nvSpPr>
        <p:spPr>
          <a:xfrm>
            <a:off x="6766560" y="4937760"/>
            <a:ext cx="1508760" cy="320040"/>
          </a:xfrm>
          <a:prstGeom prst="rect">
            <a:avLst/>
          </a:prstGeom>
          <a:noFill/>
          <a:ln/>
        </p:spPr>
        <p:txBody>
          <a:bodyPr wrap="square" rtlCol="0" anchor="ctr"/>
          <a:lstStyle/>
          <a:p>
            <a:pPr marL="0" indent="0" algn="ctr">
              <a:buNone/>
            </a:pPr>
            <a:r>
              <a:rPr lang="en-US" sz="1050" b="1" dirty="0">
                <a:solidFill>
                  <a:srgbClr val="0B2545"/>
                </a:solidFill>
                <a:latin typeface="Calibri" pitchFamily="34" charset="0"/>
                <a:ea typeface="Calibri" pitchFamily="34" charset="-122"/>
                <a:cs typeface="Calibri" pitchFamily="34" charset="-120"/>
              </a:rPr>
              <a:t>Lagos</a:t>
            </a:r>
            <a:endParaRPr lang="en-US" sz="1050" dirty="0"/>
          </a:p>
        </p:txBody>
      </p:sp>
      <p:sp>
        <p:nvSpPr>
          <p:cNvPr id="48" name="Shape 38"/>
          <p:cNvSpPr/>
          <p:nvPr/>
        </p:nvSpPr>
        <p:spPr>
          <a:xfrm>
            <a:off x="8375904" y="4389120"/>
            <a:ext cx="1600200" cy="914400"/>
          </a:xfrm>
          <a:prstGeom prst="roundRect">
            <a:avLst>
              <a:gd name="adj" fmla="val 8000"/>
            </a:avLst>
          </a:prstGeom>
          <a:solidFill>
            <a:srgbClr val="F7F9FC"/>
          </a:solidFill>
          <a:ln w="12700">
            <a:solidFill>
              <a:srgbClr val="E2E8F0"/>
            </a:solidFill>
            <a:prstDash val="solid"/>
          </a:ln>
        </p:spPr>
        <p:txBody>
          <a:bodyPr/>
          <a:lstStyle/>
          <a:p>
            <a:endParaRPr lang="en-NG"/>
          </a:p>
        </p:txBody>
      </p:sp>
      <p:sp>
        <p:nvSpPr>
          <p:cNvPr id="49" name="Shape 39"/>
          <p:cNvSpPr/>
          <p:nvPr/>
        </p:nvSpPr>
        <p:spPr>
          <a:xfrm>
            <a:off x="8983980" y="4498848"/>
            <a:ext cx="384048" cy="384048"/>
          </a:xfrm>
          <a:prstGeom prst="ellipse">
            <a:avLst/>
          </a:prstGeom>
          <a:solidFill>
            <a:srgbClr val="0B2545"/>
          </a:solidFill>
          <a:ln/>
        </p:spPr>
        <p:txBody>
          <a:bodyPr/>
          <a:lstStyle/>
          <a:p>
            <a:endParaRPr lang="en-NG"/>
          </a:p>
        </p:txBody>
      </p:sp>
      <p:pic>
        <p:nvPicPr>
          <p:cNvPr id="50" name="Image 8" descr="icons/pin_FFFFFF.png"/>
          <p:cNvPicPr>
            <a:picLocks noChangeAspect="1"/>
          </p:cNvPicPr>
          <p:nvPr/>
        </p:nvPicPr>
        <p:blipFill>
          <a:blip r:embed="rId10">
            <a:extLst>
              <a:ext uri="{BEBA8EAE-BF5A-486C-A8C5-ECC9F3942E4B}">
                <a14:imgProps xmlns:a14="http://schemas.microsoft.com/office/drawing/2010/main">
                  <a14:imgLayer r:embed="rId11">
                    <a14:imgEffect>
                      <a14:brightnessContrast bright="100000"/>
                    </a14:imgEffect>
                  </a14:imgLayer>
                </a14:imgProps>
              </a:ext>
            </a:extLst>
          </a:blip>
          <a:stretch>
            <a:fillRect/>
          </a:stretch>
        </p:blipFill>
        <p:spPr>
          <a:xfrm>
            <a:off x="9083832" y="4598700"/>
            <a:ext cx="184343" cy="184343"/>
          </a:xfrm>
          <a:prstGeom prst="rect">
            <a:avLst/>
          </a:prstGeom>
        </p:spPr>
      </p:pic>
      <p:sp>
        <p:nvSpPr>
          <p:cNvPr id="51" name="Text 40"/>
          <p:cNvSpPr txBox="1"/>
          <p:nvPr/>
        </p:nvSpPr>
        <p:spPr>
          <a:xfrm>
            <a:off x="8421624" y="4937760"/>
            <a:ext cx="1508760" cy="320040"/>
          </a:xfrm>
          <a:prstGeom prst="rect">
            <a:avLst/>
          </a:prstGeom>
          <a:noFill/>
          <a:ln/>
        </p:spPr>
        <p:txBody>
          <a:bodyPr wrap="square" rtlCol="0" anchor="ctr"/>
          <a:lstStyle/>
          <a:p>
            <a:pPr marL="0" indent="0" algn="ctr">
              <a:buNone/>
            </a:pPr>
            <a:r>
              <a:rPr lang="en-US" sz="1050" b="1" dirty="0">
                <a:solidFill>
                  <a:srgbClr val="0B2545"/>
                </a:solidFill>
                <a:latin typeface="Calibri" pitchFamily="34" charset="0"/>
                <a:ea typeface="Calibri" pitchFamily="34" charset="-122"/>
                <a:cs typeface="Calibri" pitchFamily="34" charset="-120"/>
              </a:rPr>
              <a:t>Abuja</a:t>
            </a:r>
            <a:endParaRPr lang="en-US" sz="1050" dirty="0"/>
          </a:p>
        </p:txBody>
      </p:sp>
      <p:sp>
        <p:nvSpPr>
          <p:cNvPr id="52" name="Shape 41"/>
          <p:cNvSpPr/>
          <p:nvPr/>
        </p:nvSpPr>
        <p:spPr>
          <a:xfrm>
            <a:off x="10030968" y="4389120"/>
            <a:ext cx="1600200" cy="914400"/>
          </a:xfrm>
          <a:prstGeom prst="roundRect">
            <a:avLst>
              <a:gd name="adj" fmla="val 8000"/>
            </a:avLst>
          </a:prstGeom>
          <a:solidFill>
            <a:srgbClr val="F7F9FC"/>
          </a:solidFill>
          <a:ln w="12700">
            <a:solidFill>
              <a:srgbClr val="E2E8F0"/>
            </a:solidFill>
            <a:prstDash val="solid"/>
          </a:ln>
        </p:spPr>
        <p:txBody>
          <a:bodyPr/>
          <a:lstStyle/>
          <a:p>
            <a:endParaRPr lang="en-NG"/>
          </a:p>
        </p:txBody>
      </p:sp>
      <p:sp>
        <p:nvSpPr>
          <p:cNvPr id="53" name="Shape 42"/>
          <p:cNvSpPr/>
          <p:nvPr/>
        </p:nvSpPr>
        <p:spPr>
          <a:xfrm>
            <a:off x="10639044" y="4498848"/>
            <a:ext cx="384048" cy="384048"/>
          </a:xfrm>
          <a:prstGeom prst="ellipse">
            <a:avLst/>
          </a:prstGeom>
          <a:solidFill>
            <a:srgbClr val="0B2545"/>
          </a:solidFill>
          <a:ln/>
        </p:spPr>
        <p:txBody>
          <a:bodyPr/>
          <a:lstStyle/>
          <a:p>
            <a:endParaRPr lang="en-NG"/>
          </a:p>
        </p:txBody>
      </p:sp>
      <p:pic>
        <p:nvPicPr>
          <p:cNvPr id="54" name="Image 9" descr="icons/pin_FFFFFF.png"/>
          <p:cNvPicPr>
            <a:picLocks noChangeAspect="1"/>
          </p:cNvPicPr>
          <p:nvPr/>
        </p:nvPicPr>
        <p:blipFill>
          <a:blip r:embed="rId10">
            <a:extLst>
              <a:ext uri="{BEBA8EAE-BF5A-486C-A8C5-ECC9F3942E4B}">
                <a14:imgProps xmlns:a14="http://schemas.microsoft.com/office/drawing/2010/main">
                  <a14:imgLayer r:embed="rId11">
                    <a14:imgEffect>
                      <a14:brightnessContrast bright="100000"/>
                    </a14:imgEffect>
                  </a14:imgLayer>
                </a14:imgProps>
              </a:ext>
            </a:extLst>
          </a:blip>
          <a:stretch>
            <a:fillRect/>
          </a:stretch>
        </p:blipFill>
        <p:spPr>
          <a:xfrm>
            <a:off x="10738896" y="4598700"/>
            <a:ext cx="184343" cy="184343"/>
          </a:xfrm>
          <a:prstGeom prst="rect">
            <a:avLst/>
          </a:prstGeom>
        </p:spPr>
      </p:pic>
      <p:sp>
        <p:nvSpPr>
          <p:cNvPr id="55" name="Text 43"/>
          <p:cNvSpPr txBox="1"/>
          <p:nvPr/>
        </p:nvSpPr>
        <p:spPr>
          <a:xfrm>
            <a:off x="10076688" y="4937760"/>
            <a:ext cx="1508760" cy="320040"/>
          </a:xfrm>
          <a:prstGeom prst="rect">
            <a:avLst/>
          </a:prstGeom>
          <a:noFill/>
          <a:ln/>
        </p:spPr>
        <p:txBody>
          <a:bodyPr wrap="square" rtlCol="0" anchor="ctr"/>
          <a:lstStyle/>
          <a:p>
            <a:pPr marL="0" indent="0" algn="ctr">
              <a:buNone/>
            </a:pPr>
            <a:r>
              <a:rPr lang="en-US" sz="1050" b="1" dirty="0">
                <a:solidFill>
                  <a:srgbClr val="0B2545"/>
                </a:solidFill>
                <a:latin typeface="Calibri" pitchFamily="34" charset="0"/>
                <a:ea typeface="Calibri" pitchFamily="34" charset="-122"/>
                <a:cs typeface="Calibri" pitchFamily="34" charset="-120"/>
              </a:rPr>
              <a:t>Ibadan</a:t>
            </a:r>
            <a:endParaRPr lang="en-US" sz="1050" dirty="0"/>
          </a:p>
        </p:txBody>
      </p:sp>
      <p:sp>
        <p:nvSpPr>
          <p:cNvPr id="56" name="Text 44"/>
          <p:cNvSpPr txBox="1"/>
          <p:nvPr/>
        </p:nvSpPr>
        <p:spPr>
          <a:xfrm>
            <a:off x="457200" y="6473952"/>
            <a:ext cx="7315200" cy="274320"/>
          </a:xfrm>
          <a:prstGeom prst="rect">
            <a:avLst/>
          </a:prstGeom>
          <a:noFill/>
          <a:ln/>
        </p:spPr>
        <p:txBody>
          <a:bodyPr wrap="square" rtlCol="0" anchor="ctr"/>
          <a:lstStyle/>
          <a:p>
            <a:pPr marL="0" indent="0">
              <a:buNone/>
            </a:pPr>
            <a:r>
              <a:rPr lang="en-US" sz="900" dirty="0">
                <a:solidFill>
                  <a:srgbClr val="5A6B7B"/>
                </a:solidFill>
                <a:latin typeface="Calibri" pitchFamily="34" charset="0"/>
                <a:ea typeface="Calibri" pitchFamily="34" charset="-122"/>
                <a:cs typeface="Calibri" pitchFamily="34" charset="-120"/>
              </a:rPr>
              <a:t>ENERGY CONSUMPTION ANALYSIS SYSTEM </a:t>
            </a:r>
            <a:endParaRPr lang="en-US" sz="900" dirty="0"/>
          </a:p>
        </p:txBody>
      </p:sp>
      <p:sp>
        <p:nvSpPr>
          <p:cNvPr id="57" name="Text 45"/>
          <p:cNvSpPr txBox="1"/>
          <p:nvPr/>
        </p:nvSpPr>
        <p:spPr>
          <a:xfrm>
            <a:off x="11274552" y="6473952"/>
            <a:ext cx="548640" cy="274320"/>
          </a:xfrm>
          <a:prstGeom prst="rect">
            <a:avLst/>
          </a:prstGeom>
          <a:noFill/>
          <a:ln/>
        </p:spPr>
        <p:txBody>
          <a:bodyPr wrap="square" rtlCol="0" anchor="ctr"/>
          <a:lstStyle/>
          <a:p>
            <a:pPr marL="0" indent="0" algn="r">
              <a:buNone/>
            </a:pPr>
            <a:r>
              <a:rPr lang="en-US" sz="900" dirty="0">
                <a:solidFill>
                  <a:srgbClr val="5A6B7B"/>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292608"/>
          </a:xfrm>
          <a:prstGeom prst="rect">
            <a:avLst/>
          </a:prstGeom>
          <a:noFill/>
          <a:ln/>
        </p:spPr>
        <p:txBody>
          <a:bodyPr wrap="square" rtlCol="0" anchor="ctr"/>
          <a:lstStyle/>
          <a:p>
            <a:pPr marL="0" indent="0">
              <a:buNone/>
            </a:pPr>
            <a:r>
              <a:rPr lang="en-US" sz="1200" b="1" kern="0" spc="200" dirty="0">
                <a:solidFill>
                  <a:srgbClr val="F4A300"/>
                </a:solidFill>
                <a:latin typeface="Calibri" pitchFamily="34" charset="0"/>
                <a:ea typeface="Calibri" pitchFamily="34" charset="-122"/>
                <a:cs typeface="Calibri" pitchFamily="34" charset="-120"/>
              </a:rPr>
              <a:t>DATASET DESCRIPTION</a:t>
            </a:r>
            <a:endParaRPr lang="en-US" sz="1200" dirty="0"/>
          </a:p>
        </p:txBody>
      </p:sp>
      <p:sp>
        <p:nvSpPr>
          <p:cNvPr id="3" name="Text 1"/>
          <p:cNvSpPr txBox="1"/>
          <p:nvPr/>
        </p:nvSpPr>
        <p:spPr>
          <a:xfrm>
            <a:off x="548640" y="658368"/>
            <a:ext cx="10607040" cy="731520"/>
          </a:xfrm>
          <a:prstGeom prst="rect">
            <a:avLst/>
          </a:prstGeom>
          <a:noFill/>
          <a:ln/>
        </p:spPr>
        <p:txBody>
          <a:bodyPr wrap="square"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Data Dictionary</a:t>
            </a:r>
            <a:endParaRPr lang="en-US" sz="3000" dirty="0"/>
          </a:p>
        </p:txBody>
      </p:sp>
      <p:graphicFrame>
        <p:nvGraphicFramePr>
          <p:cNvPr id="8" name="Table 0"/>
          <p:cNvGraphicFramePr>
            <a:graphicFrameLocks noGrp="1"/>
          </p:cNvGraphicFramePr>
          <p:nvPr>
            <p:extLst>
              <p:ext uri="{D42A27DB-BD31-4B8C-83A1-F6EECF244321}">
                <p14:modId xmlns:p14="http://schemas.microsoft.com/office/powerpoint/2010/main" val="731950244"/>
              </p:ext>
            </p:extLst>
          </p:nvPr>
        </p:nvGraphicFramePr>
        <p:xfrm>
          <a:off x="548640" y="1554480"/>
          <a:ext cx="11064240" cy="4389120"/>
        </p:xfrm>
        <a:graphic>
          <a:graphicData uri="http://schemas.openxmlformats.org/drawingml/2006/table">
            <a:tbl>
              <a:tblPr/>
              <a:tblGrid>
                <a:gridCol w="3108960">
                  <a:extLst>
                    <a:ext uri="{9D8B030D-6E8A-4147-A177-3AD203B41FA5}">
                      <a16:colId xmlns:a16="http://schemas.microsoft.com/office/drawing/2014/main" val="20000"/>
                    </a:ext>
                  </a:extLst>
                </a:gridCol>
                <a:gridCol w="7955280">
                  <a:extLst>
                    <a:ext uri="{9D8B030D-6E8A-4147-A177-3AD203B41FA5}">
                      <a16:colId xmlns:a16="http://schemas.microsoft.com/office/drawing/2014/main" val="20001"/>
                    </a:ext>
                  </a:extLst>
                </a:gridCol>
              </a:tblGrid>
              <a:tr h="365760">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Field</a:t>
                      </a:r>
                      <a:endParaRPr lang="en-US" sz="1400" dirty="0">
                        <a:latin typeface="Calibri" charset="0"/>
                        <a:ea typeface="Calibri" charset="0"/>
                        <a:cs typeface="Calibri"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B2545"/>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Description</a:t>
                      </a:r>
                      <a:endParaRPr lang="en-US" sz="1400" dirty="0">
                        <a:latin typeface="Calibri" charset="0"/>
                        <a:ea typeface="Calibri" charset="0"/>
                        <a:cs typeface="Calibri"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B2545"/>
                    </a:solidFill>
                  </a:tcPr>
                </a:tc>
                <a:extLst>
                  <a:ext uri="{0D108BD9-81ED-4DB2-BD59-A6C34878D82A}">
                    <a16:rowId xmlns:a16="http://schemas.microsoft.com/office/drawing/2014/main" val="10000"/>
                  </a:ext>
                </a:extLst>
              </a:tr>
              <a:tr h="365760">
                <a:tc>
                  <a:txBody>
                    <a:bodyPr/>
                    <a:lstStyle/>
                    <a:p>
                      <a:pPr marL="0" indent="0" algn="l">
                        <a:buNone/>
                      </a:pPr>
                      <a:r>
                        <a:rPr lang="en-US" sz="1200" dirty="0">
                          <a:solidFill>
                            <a:srgbClr val="0B2545"/>
                          </a:solidFill>
                          <a:latin typeface="Calibri" pitchFamily="34" charset="0"/>
                          <a:ea typeface="Calibri" pitchFamily="34" charset="-122"/>
                          <a:cs typeface="Calibri" pitchFamily="34" charset="-120"/>
                        </a:rPr>
                        <a:t>Customer ID</a:t>
                      </a:r>
                      <a:endParaRPr lang="en-US" sz="1200" dirty="0">
                        <a:latin typeface="Calibri" charset="0"/>
                        <a:ea typeface="Calibri" charset="0"/>
                        <a:cs typeface="Calibri"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200" dirty="0">
                          <a:solidFill>
                            <a:srgbClr val="0B2545"/>
                          </a:solidFill>
                          <a:latin typeface="Calibri" pitchFamily="34" charset="0"/>
                          <a:ea typeface="Calibri" pitchFamily="34" charset="-122"/>
                          <a:cs typeface="Calibri" pitchFamily="34" charset="-120"/>
                        </a:rPr>
                        <a:t>Unique identifier assigned to each customer (e.g. C019)</a:t>
                      </a:r>
                      <a:endParaRPr lang="en-US" sz="1200" dirty="0">
                        <a:latin typeface="Calibri" charset="0"/>
                        <a:ea typeface="Calibri" charset="0"/>
                        <a:cs typeface="Calibri"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lgn="l">
                        <a:buNone/>
                      </a:pPr>
                      <a:r>
                        <a:rPr lang="en-US" sz="1200" dirty="0">
                          <a:solidFill>
                            <a:srgbClr val="0B2545"/>
                          </a:solidFill>
                          <a:latin typeface="Calibri" pitchFamily="34" charset="0"/>
                          <a:ea typeface="Calibri" pitchFamily="34" charset="-122"/>
                          <a:cs typeface="Calibri" pitchFamily="34" charset="-120"/>
                        </a:rPr>
                        <a:t>Customer Name</a:t>
                      </a:r>
                      <a:endParaRPr lang="en-US" sz="1200" dirty="0">
                        <a:latin typeface="Calibri" charset="0"/>
                        <a:ea typeface="Calibri" charset="0"/>
                        <a:cs typeface="Calibri"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7F9FC"/>
                    </a:solidFill>
                  </a:tcPr>
                </a:tc>
                <a:tc>
                  <a:txBody>
                    <a:bodyPr/>
                    <a:lstStyle/>
                    <a:p>
                      <a:pPr marL="0" indent="0" algn="l">
                        <a:buNone/>
                      </a:pPr>
                      <a:r>
                        <a:rPr lang="en-US" sz="1200" dirty="0">
                          <a:solidFill>
                            <a:srgbClr val="0B2545"/>
                          </a:solidFill>
                          <a:latin typeface="Calibri" pitchFamily="34" charset="0"/>
                          <a:ea typeface="Calibri" pitchFamily="34" charset="-122"/>
                          <a:cs typeface="Calibri" pitchFamily="34" charset="-120"/>
                        </a:rPr>
                        <a:t>Name of the customer</a:t>
                      </a:r>
                      <a:endParaRPr lang="en-US" sz="1200" dirty="0">
                        <a:latin typeface="Calibri" charset="0"/>
                        <a:ea typeface="Calibri" charset="0"/>
                        <a:cs typeface="Calibri"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7F9FC"/>
                    </a:solidFill>
                  </a:tcPr>
                </a:tc>
                <a:extLst>
                  <a:ext uri="{0D108BD9-81ED-4DB2-BD59-A6C34878D82A}">
                    <a16:rowId xmlns:a16="http://schemas.microsoft.com/office/drawing/2014/main" val="10002"/>
                  </a:ext>
                </a:extLst>
              </a:tr>
              <a:tr h="365760">
                <a:tc>
                  <a:txBody>
                    <a:bodyPr/>
                    <a:lstStyle/>
                    <a:p>
                      <a:pPr marL="0" indent="0" algn="l">
                        <a:buNone/>
                      </a:pPr>
                      <a:r>
                        <a:rPr lang="en-US" sz="1200" dirty="0">
                          <a:solidFill>
                            <a:srgbClr val="0B2545"/>
                          </a:solidFill>
                          <a:latin typeface="Calibri" pitchFamily="34" charset="0"/>
                          <a:ea typeface="Calibri" pitchFamily="34" charset="-122"/>
                          <a:cs typeface="Calibri" pitchFamily="34" charset="-120"/>
                        </a:rPr>
                        <a:t>Customer Type</a:t>
                      </a:r>
                      <a:endParaRPr lang="en-US" sz="1200" dirty="0">
                        <a:latin typeface="Calibri" charset="0"/>
                        <a:ea typeface="Calibri" charset="0"/>
                        <a:cs typeface="Calibri"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200" dirty="0">
                          <a:solidFill>
                            <a:srgbClr val="0B2545"/>
                          </a:solidFill>
                          <a:latin typeface="Calibri" pitchFamily="34" charset="0"/>
                          <a:ea typeface="Calibri" pitchFamily="34" charset="-122"/>
                          <a:cs typeface="Calibri" pitchFamily="34" charset="-120"/>
                        </a:rPr>
                        <a:t>Residential, SME, Industrial, Hospital, School, Agricultural</a:t>
                      </a:r>
                      <a:endParaRPr lang="en-US" sz="1200" dirty="0">
                        <a:latin typeface="Calibri" charset="0"/>
                        <a:ea typeface="Calibri" charset="0"/>
                        <a:cs typeface="Calibri"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lgn="l">
                        <a:buNone/>
                      </a:pPr>
                      <a:r>
                        <a:rPr lang="en-US" sz="1200" dirty="0">
                          <a:solidFill>
                            <a:srgbClr val="0B2545"/>
                          </a:solidFill>
                          <a:latin typeface="Calibri" pitchFamily="34" charset="0"/>
                          <a:ea typeface="Calibri" pitchFamily="34" charset="-122"/>
                          <a:cs typeface="Calibri" pitchFamily="34" charset="-120"/>
                        </a:rPr>
                        <a:t>Location</a:t>
                      </a:r>
                      <a:endParaRPr lang="en-US" sz="1200" dirty="0">
                        <a:latin typeface="Calibri" charset="0"/>
                        <a:ea typeface="Calibri" charset="0"/>
                        <a:cs typeface="Calibri"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7F9FC"/>
                    </a:solidFill>
                  </a:tcPr>
                </a:tc>
                <a:tc>
                  <a:txBody>
                    <a:bodyPr/>
                    <a:lstStyle/>
                    <a:p>
                      <a:pPr marL="0" indent="0" algn="l">
                        <a:buNone/>
                      </a:pPr>
                      <a:r>
                        <a:rPr lang="en-US" sz="1200" dirty="0">
                          <a:solidFill>
                            <a:srgbClr val="0B2545"/>
                          </a:solidFill>
                          <a:latin typeface="Calibri" pitchFamily="34" charset="0"/>
                          <a:ea typeface="Calibri" pitchFamily="34" charset="-122"/>
                          <a:cs typeface="Calibri" pitchFamily="34" charset="-120"/>
                        </a:rPr>
                        <a:t>Lagos, Abuja, or Ibadan</a:t>
                      </a:r>
                      <a:endParaRPr lang="en-US" sz="1200" dirty="0">
                        <a:latin typeface="Calibri" charset="0"/>
                        <a:ea typeface="Calibri" charset="0"/>
                        <a:cs typeface="Calibri"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7F9FC"/>
                    </a:solidFill>
                  </a:tcPr>
                </a:tc>
                <a:extLst>
                  <a:ext uri="{0D108BD9-81ED-4DB2-BD59-A6C34878D82A}">
                    <a16:rowId xmlns:a16="http://schemas.microsoft.com/office/drawing/2014/main" val="10004"/>
                  </a:ext>
                </a:extLst>
              </a:tr>
              <a:tr h="365760">
                <a:tc>
                  <a:txBody>
                    <a:bodyPr/>
                    <a:lstStyle/>
                    <a:p>
                      <a:pPr marL="0" indent="0" algn="l">
                        <a:buNone/>
                      </a:pPr>
                      <a:r>
                        <a:rPr lang="en-US" sz="1200" dirty="0">
                          <a:solidFill>
                            <a:srgbClr val="0B2545"/>
                          </a:solidFill>
                          <a:latin typeface="Calibri" pitchFamily="34" charset="0"/>
                          <a:ea typeface="Calibri" pitchFamily="34" charset="-122"/>
                          <a:cs typeface="Calibri" pitchFamily="34" charset="-120"/>
                        </a:rPr>
                        <a:t>Month</a:t>
                      </a:r>
                      <a:endParaRPr lang="en-US" sz="1200" dirty="0">
                        <a:latin typeface="Calibri" charset="0"/>
                        <a:ea typeface="Calibri" charset="0"/>
                        <a:cs typeface="Calibri"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200" dirty="0">
                          <a:solidFill>
                            <a:srgbClr val="0B2545"/>
                          </a:solidFill>
                          <a:latin typeface="Calibri" pitchFamily="34" charset="0"/>
                          <a:ea typeface="Calibri" pitchFamily="34" charset="-122"/>
                          <a:cs typeface="Calibri" pitchFamily="34" charset="-120"/>
                        </a:rPr>
                        <a:t>January through June</a:t>
                      </a:r>
                      <a:endParaRPr lang="en-US" sz="1200" dirty="0">
                        <a:latin typeface="Calibri" charset="0"/>
                        <a:ea typeface="Calibri" charset="0"/>
                        <a:cs typeface="Calibri"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65760">
                <a:tc>
                  <a:txBody>
                    <a:bodyPr/>
                    <a:lstStyle/>
                    <a:p>
                      <a:pPr marL="0" indent="0" algn="l">
                        <a:buNone/>
                      </a:pPr>
                      <a:r>
                        <a:rPr lang="en-US" sz="1200" dirty="0">
                          <a:solidFill>
                            <a:srgbClr val="0B2545"/>
                          </a:solidFill>
                          <a:latin typeface="Calibri" pitchFamily="34" charset="0"/>
                          <a:ea typeface="Calibri" pitchFamily="34" charset="-122"/>
                          <a:cs typeface="Calibri" pitchFamily="34" charset="-120"/>
                        </a:rPr>
                        <a:t>Consumption (kWh)</a:t>
                      </a:r>
                      <a:endParaRPr lang="en-US" sz="1200" dirty="0">
                        <a:latin typeface="Calibri" charset="0"/>
                        <a:ea typeface="Calibri" charset="0"/>
                        <a:cs typeface="Calibri"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7F9FC"/>
                    </a:solidFill>
                  </a:tcPr>
                </a:tc>
                <a:tc>
                  <a:txBody>
                    <a:bodyPr/>
                    <a:lstStyle/>
                    <a:p>
                      <a:pPr marL="0" indent="0" algn="l">
                        <a:buNone/>
                      </a:pPr>
                      <a:r>
                        <a:rPr lang="en-US" sz="1200" dirty="0">
                          <a:solidFill>
                            <a:srgbClr val="0B2545"/>
                          </a:solidFill>
                          <a:latin typeface="Calibri" pitchFamily="34" charset="0"/>
                          <a:ea typeface="Calibri" pitchFamily="34" charset="-122"/>
                          <a:cs typeface="Calibri" pitchFamily="34" charset="-120"/>
                        </a:rPr>
                        <a:t>Electricity consumed in a given period</a:t>
                      </a:r>
                      <a:endParaRPr lang="en-US" sz="1200" dirty="0">
                        <a:latin typeface="Calibri" charset="0"/>
                        <a:ea typeface="Calibri" charset="0"/>
                        <a:cs typeface="Calibri"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7F9FC"/>
                    </a:solidFill>
                  </a:tcPr>
                </a:tc>
                <a:extLst>
                  <a:ext uri="{0D108BD9-81ED-4DB2-BD59-A6C34878D82A}">
                    <a16:rowId xmlns:a16="http://schemas.microsoft.com/office/drawing/2014/main" val="10006"/>
                  </a:ext>
                </a:extLst>
              </a:tr>
              <a:tr h="365760">
                <a:tc>
                  <a:txBody>
                    <a:bodyPr/>
                    <a:lstStyle/>
                    <a:p>
                      <a:pPr marL="0" indent="0" algn="l">
                        <a:buNone/>
                      </a:pPr>
                      <a:r>
                        <a:rPr lang="en-US" sz="1200" dirty="0">
                          <a:solidFill>
                            <a:srgbClr val="0B2545"/>
                          </a:solidFill>
                          <a:latin typeface="Calibri" pitchFamily="34" charset="0"/>
                          <a:ea typeface="Calibri" pitchFamily="34" charset="-122"/>
                          <a:cs typeface="Calibri" pitchFamily="34" charset="-120"/>
                        </a:rPr>
                        <a:t>Tariff (per kWh)</a:t>
                      </a:r>
                      <a:endParaRPr lang="en-US" sz="1200" dirty="0">
                        <a:latin typeface="Calibri" charset="0"/>
                        <a:ea typeface="Calibri" charset="0"/>
                        <a:cs typeface="Calibri"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200" dirty="0">
                          <a:solidFill>
                            <a:srgbClr val="0B2545"/>
                          </a:solidFill>
                          <a:latin typeface="Calibri" pitchFamily="34" charset="0"/>
                          <a:ea typeface="Calibri" pitchFamily="34" charset="-122"/>
                          <a:cs typeface="Calibri" pitchFamily="34" charset="-120"/>
                        </a:rPr>
                        <a:t>Electricity cost applied per kilowatt-hour</a:t>
                      </a:r>
                      <a:endParaRPr lang="en-US" sz="1200" dirty="0">
                        <a:latin typeface="Calibri" charset="0"/>
                        <a:ea typeface="Calibri" charset="0"/>
                        <a:cs typeface="Calibri"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65760">
                <a:tc>
                  <a:txBody>
                    <a:bodyPr/>
                    <a:lstStyle/>
                    <a:p>
                      <a:pPr marL="0" indent="0" algn="l">
                        <a:buNone/>
                      </a:pPr>
                      <a:r>
                        <a:rPr lang="en-US" sz="1200" dirty="0">
                          <a:solidFill>
                            <a:srgbClr val="0B2545"/>
                          </a:solidFill>
                          <a:latin typeface="Calibri" pitchFamily="34" charset="0"/>
                          <a:ea typeface="Calibri" pitchFamily="34" charset="-122"/>
                          <a:cs typeface="Calibri" pitchFamily="34" charset="-120"/>
                        </a:rPr>
                        <a:t>Peak Consumption</a:t>
                      </a:r>
                      <a:endParaRPr lang="en-US" sz="1200" dirty="0">
                        <a:latin typeface="Calibri" charset="0"/>
                        <a:ea typeface="Calibri" charset="0"/>
                        <a:cs typeface="Calibri"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7F9FC"/>
                    </a:solidFill>
                  </a:tcPr>
                </a:tc>
                <a:tc>
                  <a:txBody>
                    <a:bodyPr/>
                    <a:lstStyle/>
                    <a:p>
                      <a:pPr marL="0" indent="0" algn="l">
                        <a:buNone/>
                      </a:pPr>
                      <a:r>
                        <a:rPr lang="en-US" sz="1200" dirty="0">
                          <a:solidFill>
                            <a:srgbClr val="0B2545"/>
                          </a:solidFill>
                          <a:latin typeface="Calibri" pitchFamily="34" charset="0"/>
                          <a:ea typeface="Calibri" pitchFamily="34" charset="-122"/>
                          <a:cs typeface="Calibri" pitchFamily="34" charset="-120"/>
                        </a:rPr>
                        <a:t>Electricity consumed during peak periods</a:t>
                      </a:r>
                      <a:endParaRPr lang="en-US" sz="1200" dirty="0">
                        <a:latin typeface="Calibri" charset="0"/>
                        <a:ea typeface="Calibri" charset="0"/>
                        <a:cs typeface="Calibri"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7F9FC"/>
                    </a:solidFill>
                  </a:tcPr>
                </a:tc>
                <a:extLst>
                  <a:ext uri="{0D108BD9-81ED-4DB2-BD59-A6C34878D82A}">
                    <a16:rowId xmlns:a16="http://schemas.microsoft.com/office/drawing/2014/main" val="10008"/>
                  </a:ext>
                </a:extLst>
              </a:tr>
              <a:tr h="365760">
                <a:tc>
                  <a:txBody>
                    <a:bodyPr/>
                    <a:lstStyle/>
                    <a:p>
                      <a:pPr marL="0" indent="0" algn="l">
                        <a:buNone/>
                      </a:pPr>
                      <a:r>
                        <a:rPr lang="en-US" sz="1200" dirty="0">
                          <a:solidFill>
                            <a:srgbClr val="0B2545"/>
                          </a:solidFill>
                          <a:latin typeface="Calibri" pitchFamily="34" charset="0"/>
                          <a:ea typeface="Calibri" pitchFamily="34" charset="-122"/>
                          <a:cs typeface="Calibri" pitchFamily="34" charset="-120"/>
                        </a:rPr>
                        <a:t>Renewable Share</a:t>
                      </a:r>
                      <a:endParaRPr lang="en-US" sz="1200" dirty="0">
                        <a:latin typeface="Calibri" charset="0"/>
                        <a:ea typeface="Calibri" charset="0"/>
                        <a:cs typeface="Calibri"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200" dirty="0">
                          <a:solidFill>
                            <a:srgbClr val="0B2545"/>
                          </a:solidFill>
                          <a:latin typeface="Calibri" pitchFamily="34" charset="0"/>
                          <a:ea typeface="Calibri" pitchFamily="34" charset="-122"/>
                          <a:cs typeface="Calibri" pitchFamily="34" charset="-120"/>
                        </a:rPr>
                        <a:t>Percentage of consumption from renewable energy</a:t>
                      </a:r>
                      <a:endParaRPr lang="en-US" sz="1200" dirty="0">
                        <a:latin typeface="Calibri" charset="0"/>
                        <a:ea typeface="Calibri" charset="0"/>
                        <a:cs typeface="Calibri"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65760">
                <a:tc>
                  <a:txBody>
                    <a:bodyPr/>
                    <a:lstStyle/>
                    <a:p>
                      <a:pPr marL="0" indent="0" algn="l">
                        <a:buNone/>
                      </a:pPr>
                      <a:r>
                        <a:rPr lang="en-US" sz="1200" dirty="0">
                          <a:solidFill>
                            <a:srgbClr val="0B2545"/>
                          </a:solidFill>
                          <a:latin typeface="Calibri" pitchFamily="34" charset="0"/>
                          <a:ea typeface="Calibri" pitchFamily="34" charset="-122"/>
                          <a:cs typeface="Calibri" pitchFamily="34" charset="-120"/>
                        </a:rPr>
                        <a:t>Outage Hours</a:t>
                      </a:r>
                      <a:endParaRPr lang="en-US" sz="1200" dirty="0">
                        <a:latin typeface="Calibri" charset="0"/>
                        <a:ea typeface="Calibri" charset="0"/>
                        <a:cs typeface="Calibri"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7F9FC"/>
                    </a:solidFill>
                  </a:tcPr>
                </a:tc>
                <a:tc>
                  <a:txBody>
                    <a:bodyPr/>
                    <a:lstStyle/>
                    <a:p>
                      <a:pPr marL="0" indent="0" algn="l">
                        <a:buNone/>
                      </a:pPr>
                      <a:r>
                        <a:rPr lang="en-US" sz="1200" dirty="0">
                          <a:solidFill>
                            <a:srgbClr val="0B2545"/>
                          </a:solidFill>
                          <a:latin typeface="Calibri" pitchFamily="34" charset="0"/>
                          <a:ea typeface="Calibri" pitchFamily="34" charset="-122"/>
                          <a:cs typeface="Calibri" pitchFamily="34" charset="-120"/>
                        </a:rPr>
                        <a:t>Number of hours with no electricity supply</a:t>
                      </a:r>
                      <a:endParaRPr lang="en-US" sz="1200" dirty="0">
                        <a:latin typeface="Calibri" charset="0"/>
                        <a:ea typeface="Calibri" charset="0"/>
                        <a:cs typeface="Calibri"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7F9FC"/>
                    </a:solidFill>
                  </a:tcPr>
                </a:tc>
                <a:extLst>
                  <a:ext uri="{0D108BD9-81ED-4DB2-BD59-A6C34878D82A}">
                    <a16:rowId xmlns:a16="http://schemas.microsoft.com/office/drawing/2014/main" val="10010"/>
                  </a:ext>
                </a:extLst>
              </a:tr>
              <a:tr h="365760">
                <a:tc>
                  <a:txBody>
                    <a:bodyPr/>
                    <a:lstStyle/>
                    <a:p>
                      <a:pPr marL="0" indent="0" algn="l">
                        <a:buNone/>
                      </a:pPr>
                      <a:r>
                        <a:rPr lang="en-US" sz="1200" dirty="0">
                          <a:solidFill>
                            <a:srgbClr val="0B2545"/>
                          </a:solidFill>
                          <a:latin typeface="Calibri" pitchFamily="34" charset="0"/>
                          <a:ea typeface="Calibri" pitchFamily="34" charset="-122"/>
                          <a:cs typeface="Calibri" pitchFamily="34" charset="-120"/>
                        </a:rPr>
                        <a:t>Payment Status</a:t>
                      </a:r>
                      <a:endParaRPr lang="en-US" sz="1200" dirty="0">
                        <a:latin typeface="Calibri" charset="0"/>
                        <a:ea typeface="Calibri" charset="0"/>
                        <a:cs typeface="Calibri"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200" dirty="0">
                          <a:solidFill>
                            <a:srgbClr val="0B2545"/>
                          </a:solidFill>
                          <a:latin typeface="Calibri" pitchFamily="34" charset="0"/>
                          <a:ea typeface="Calibri" pitchFamily="34" charset="-122"/>
                          <a:cs typeface="Calibri" pitchFamily="34" charset="-120"/>
                        </a:rPr>
                        <a:t>Paid or Pending</a:t>
                      </a:r>
                      <a:endParaRPr lang="en-US" sz="1200" dirty="0">
                        <a:latin typeface="Calibri" charset="0"/>
                        <a:ea typeface="Calibri" charset="0"/>
                        <a:cs typeface="Calibri"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bl>
          </a:graphicData>
        </a:graphic>
      </p:graphicFrame>
      <p:sp>
        <p:nvSpPr>
          <p:cNvPr id="5" name="Text 2"/>
          <p:cNvSpPr txBox="1"/>
          <p:nvPr/>
        </p:nvSpPr>
        <p:spPr>
          <a:xfrm>
            <a:off x="457200" y="6473952"/>
            <a:ext cx="7315200" cy="274320"/>
          </a:xfrm>
          <a:prstGeom prst="rect">
            <a:avLst/>
          </a:prstGeom>
          <a:noFill/>
          <a:ln/>
        </p:spPr>
        <p:txBody>
          <a:bodyPr wrap="square" rtlCol="0" anchor="ctr"/>
          <a:lstStyle/>
          <a:p>
            <a:pPr marL="0" indent="0">
              <a:buNone/>
            </a:pPr>
            <a:r>
              <a:rPr lang="en-US" sz="900" dirty="0">
                <a:solidFill>
                  <a:srgbClr val="5A6B7B"/>
                </a:solidFill>
                <a:latin typeface="Calibri" pitchFamily="34" charset="0"/>
                <a:ea typeface="Calibri" pitchFamily="34" charset="-122"/>
                <a:cs typeface="Calibri" pitchFamily="34" charset="-120"/>
              </a:rPr>
              <a:t>ENERGY CONSUMPTION ANALYSIS SYSTEM </a:t>
            </a:r>
            <a:endParaRPr lang="en-US" sz="900" dirty="0"/>
          </a:p>
        </p:txBody>
      </p:sp>
      <p:sp>
        <p:nvSpPr>
          <p:cNvPr id="6" name="Text 3"/>
          <p:cNvSpPr txBox="1"/>
          <p:nvPr/>
        </p:nvSpPr>
        <p:spPr>
          <a:xfrm>
            <a:off x="11274552" y="6473952"/>
            <a:ext cx="548640" cy="274320"/>
          </a:xfrm>
          <a:prstGeom prst="rect">
            <a:avLst/>
          </a:prstGeom>
          <a:noFill/>
          <a:ln/>
        </p:spPr>
        <p:txBody>
          <a:bodyPr wrap="square" rtlCol="0" anchor="ctr"/>
          <a:lstStyle/>
          <a:p>
            <a:pPr marL="0" indent="0" algn="r">
              <a:buNone/>
            </a:pPr>
            <a:r>
              <a:rPr lang="en-US" sz="900" dirty="0">
                <a:solidFill>
                  <a:srgbClr val="5A6B7B"/>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84048"/>
            <a:ext cx="457200" cy="457200"/>
          </a:xfrm>
          <a:prstGeom prst="ellipse">
            <a:avLst/>
          </a:prstGeom>
          <a:solidFill>
            <a:srgbClr val="0B2545"/>
          </a:solidFill>
          <a:ln/>
        </p:spPr>
        <p:txBody>
          <a:bodyPr/>
          <a:lstStyle/>
          <a:p>
            <a:endParaRPr lang="en-NG"/>
          </a:p>
        </p:txBody>
      </p:sp>
      <p:sp>
        <p:nvSpPr>
          <p:cNvPr id="3" name="Text 1"/>
          <p:cNvSpPr txBox="1"/>
          <p:nvPr/>
        </p:nvSpPr>
        <p:spPr>
          <a:xfrm>
            <a:off x="548640" y="384048"/>
            <a:ext cx="457200" cy="45720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4" name="Text 2"/>
          <p:cNvSpPr txBox="1"/>
          <p:nvPr/>
        </p:nvSpPr>
        <p:spPr>
          <a:xfrm>
            <a:off x="548640" y="658368"/>
            <a:ext cx="10607040" cy="731520"/>
          </a:xfrm>
          <a:prstGeom prst="rect">
            <a:avLst/>
          </a:prstGeom>
          <a:noFill/>
          <a:ln/>
        </p:spPr>
        <p:txBody>
          <a:bodyPr wrap="square"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Methodology</a:t>
            </a:r>
            <a:endParaRPr lang="en-US" sz="3000" dirty="0"/>
          </a:p>
        </p:txBody>
      </p:sp>
      <p:sp>
        <p:nvSpPr>
          <p:cNvPr id="5" name="Text 3"/>
          <p:cNvSpPr txBox="1"/>
          <p:nvPr/>
        </p:nvSpPr>
        <p:spPr>
          <a:xfrm>
            <a:off x="548640" y="1463040"/>
            <a:ext cx="10881360" cy="502920"/>
          </a:xfrm>
          <a:prstGeom prst="rect">
            <a:avLst/>
          </a:prstGeom>
          <a:noFill/>
          <a:ln/>
        </p:spPr>
        <p:txBody>
          <a:bodyPr wrap="square" rtlCol="0" anchor="ctr"/>
          <a:lstStyle/>
          <a:p>
            <a:pPr marL="0" indent="0">
              <a:lnSpc>
                <a:spcPct val="120000"/>
              </a:lnSpc>
              <a:buNone/>
            </a:pPr>
            <a:r>
              <a:rPr lang="en-US" sz="1200" dirty="0">
                <a:solidFill>
                  <a:srgbClr val="0B2545"/>
                </a:solidFill>
                <a:latin typeface="Calibri" pitchFamily="34" charset="0"/>
                <a:ea typeface="Calibri" pitchFamily="34" charset="-122"/>
                <a:cs typeface="Calibri" pitchFamily="34" charset="-120"/>
              </a:rPr>
              <a:t>A practical Python-based approach, built around fundamentals: variables, lists, dictionaries, indexing, conditionals, loops, nested loops, functions, parameters and return statements.</a:t>
            </a:r>
            <a:endParaRPr lang="en-US" sz="1200" dirty="0"/>
          </a:p>
        </p:txBody>
      </p:sp>
      <p:sp>
        <p:nvSpPr>
          <p:cNvPr id="6" name="Shape 4"/>
          <p:cNvSpPr/>
          <p:nvPr/>
        </p:nvSpPr>
        <p:spPr>
          <a:xfrm>
            <a:off x="548640" y="2103120"/>
            <a:ext cx="3520440" cy="1874520"/>
          </a:xfrm>
          <a:prstGeom prst="roundRect">
            <a:avLst>
              <a:gd name="adj" fmla="val 3902"/>
            </a:avLst>
          </a:prstGeom>
          <a:solidFill>
            <a:srgbClr val="F7F9FC"/>
          </a:solidFill>
          <a:ln w="12700">
            <a:solidFill>
              <a:srgbClr val="E2E8F0"/>
            </a:solidFill>
            <a:prstDash val="solid"/>
          </a:ln>
        </p:spPr>
        <p:txBody>
          <a:bodyPr/>
          <a:lstStyle/>
          <a:p>
            <a:endParaRPr lang="en-NG"/>
          </a:p>
        </p:txBody>
      </p:sp>
      <p:sp>
        <p:nvSpPr>
          <p:cNvPr id="7" name="Shape 5"/>
          <p:cNvSpPr/>
          <p:nvPr/>
        </p:nvSpPr>
        <p:spPr>
          <a:xfrm>
            <a:off x="731520" y="2286000"/>
            <a:ext cx="457200" cy="457200"/>
          </a:xfrm>
          <a:prstGeom prst="ellipse">
            <a:avLst/>
          </a:prstGeom>
          <a:solidFill>
            <a:srgbClr val="0B2545"/>
          </a:solidFill>
          <a:ln/>
        </p:spPr>
        <p:txBody>
          <a:bodyPr/>
          <a:lstStyle/>
          <a:p>
            <a:endParaRPr lang="en-NG"/>
          </a:p>
        </p:txBody>
      </p:sp>
      <p:pic>
        <p:nvPicPr>
          <p:cNvPr id="8" name="Image 0" descr="icons/database_FFFFFF.png"/>
          <p:cNvPicPr>
            <a:picLocks noChangeAspect="1"/>
          </p:cNvPicPr>
          <p:nvPr/>
        </p:nvPicPr>
        <p:blipFill>
          <a:blip r:embed="rId3"/>
          <a:stretch>
            <a:fillRect/>
          </a:stretch>
        </p:blipFill>
        <p:spPr>
          <a:xfrm>
            <a:off x="850392" y="2404872"/>
            <a:ext cx="219456" cy="219456"/>
          </a:xfrm>
          <a:prstGeom prst="rect">
            <a:avLst/>
          </a:prstGeom>
        </p:spPr>
      </p:pic>
      <p:sp>
        <p:nvSpPr>
          <p:cNvPr id="9" name="Text 6"/>
          <p:cNvSpPr txBox="1"/>
          <p:nvPr/>
        </p:nvSpPr>
        <p:spPr>
          <a:xfrm>
            <a:off x="731520" y="2852928"/>
            <a:ext cx="3154680" cy="347472"/>
          </a:xfrm>
          <a:prstGeom prst="rect">
            <a:avLst/>
          </a:prstGeom>
          <a:noFill/>
          <a:ln/>
        </p:spPr>
        <p:txBody>
          <a:bodyPr wrap="square" rtlCol="0" anchor="ctr"/>
          <a:lstStyle/>
          <a:p>
            <a:pPr marL="0" indent="0">
              <a:buNone/>
            </a:pPr>
            <a:r>
              <a:rPr lang="en-US" sz="1250" b="1" dirty="0">
                <a:solidFill>
                  <a:srgbClr val="0B2545"/>
                </a:solidFill>
                <a:latin typeface="Cambria" pitchFamily="34" charset="0"/>
                <a:ea typeface="Cambria" pitchFamily="34" charset="-122"/>
                <a:cs typeface="Cambria" pitchFamily="34" charset="-120"/>
              </a:rPr>
              <a:t>Data Source &amp; Structure</a:t>
            </a:r>
            <a:endParaRPr lang="en-US" sz="1250" dirty="0"/>
          </a:p>
        </p:txBody>
      </p:sp>
      <p:sp>
        <p:nvSpPr>
          <p:cNvPr id="10" name="Text 7"/>
          <p:cNvSpPr txBox="1"/>
          <p:nvPr/>
        </p:nvSpPr>
        <p:spPr>
          <a:xfrm>
            <a:off x="731520" y="3172968"/>
            <a:ext cx="3154680" cy="749808"/>
          </a:xfrm>
          <a:prstGeom prst="rect">
            <a:avLst/>
          </a:prstGeom>
          <a:noFill/>
          <a:ln/>
        </p:spPr>
        <p:txBody>
          <a:bodyPr wrap="square" rtlCol="0" anchor="ctr"/>
          <a:lstStyle/>
          <a:p>
            <a:pPr marL="0" indent="0">
              <a:lnSpc>
                <a:spcPct val="114000"/>
              </a:lnSpc>
              <a:buNone/>
            </a:pPr>
            <a:r>
              <a:rPr lang="en-US" sz="960" dirty="0">
                <a:solidFill>
                  <a:srgbClr val="5A6B7B"/>
                </a:solidFill>
                <a:latin typeface="Calibri" pitchFamily="34" charset="0"/>
                <a:ea typeface="Calibri" pitchFamily="34" charset="-122"/>
                <a:cs typeface="Calibri" pitchFamily="34" charset="-120"/>
              </a:rPr>
              <a:t>20-record simulated dataset embedded directly, as a Python list of dictionaries — no external CSV or libraries.</a:t>
            </a:r>
            <a:endParaRPr lang="en-US" sz="960" dirty="0"/>
          </a:p>
        </p:txBody>
      </p:sp>
      <p:sp>
        <p:nvSpPr>
          <p:cNvPr id="11" name="Shape 8"/>
          <p:cNvSpPr/>
          <p:nvPr/>
        </p:nvSpPr>
        <p:spPr>
          <a:xfrm>
            <a:off x="4325112" y="2103120"/>
            <a:ext cx="3520440" cy="1874520"/>
          </a:xfrm>
          <a:prstGeom prst="roundRect">
            <a:avLst>
              <a:gd name="adj" fmla="val 3902"/>
            </a:avLst>
          </a:prstGeom>
          <a:solidFill>
            <a:srgbClr val="F7F9FC"/>
          </a:solidFill>
          <a:ln w="12700">
            <a:solidFill>
              <a:srgbClr val="E2E8F0"/>
            </a:solidFill>
            <a:prstDash val="solid"/>
          </a:ln>
        </p:spPr>
        <p:txBody>
          <a:bodyPr/>
          <a:lstStyle/>
          <a:p>
            <a:endParaRPr lang="en-NG"/>
          </a:p>
        </p:txBody>
      </p:sp>
      <p:sp>
        <p:nvSpPr>
          <p:cNvPr id="12" name="Shape 9"/>
          <p:cNvSpPr/>
          <p:nvPr/>
        </p:nvSpPr>
        <p:spPr>
          <a:xfrm>
            <a:off x="4507992" y="2286000"/>
            <a:ext cx="457200" cy="457200"/>
          </a:xfrm>
          <a:prstGeom prst="ellipse">
            <a:avLst/>
          </a:prstGeom>
          <a:solidFill>
            <a:srgbClr val="0B2545"/>
          </a:solidFill>
          <a:ln/>
        </p:spPr>
        <p:txBody>
          <a:bodyPr/>
          <a:lstStyle/>
          <a:p>
            <a:endParaRPr lang="en-NG"/>
          </a:p>
        </p:txBody>
      </p:sp>
      <p:pic>
        <p:nvPicPr>
          <p:cNvPr id="13" name="Image 1" descr="icons/check_FFFFFF.png"/>
          <p:cNvPicPr>
            <a:picLocks noChangeAspect="1"/>
          </p:cNvPicPr>
          <p:nvPr/>
        </p:nvPicPr>
        <p:blipFill>
          <a:blip r:embed="rId4"/>
          <a:stretch>
            <a:fillRect/>
          </a:stretch>
        </p:blipFill>
        <p:spPr>
          <a:xfrm>
            <a:off x="4626864" y="2404872"/>
            <a:ext cx="219456" cy="219456"/>
          </a:xfrm>
          <a:prstGeom prst="rect">
            <a:avLst/>
          </a:prstGeom>
        </p:spPr>
      </p:pic>
      <p:sp>
        <p:nvSpPr>
          <p:cNvPr id="14" name="Text 10"/>
          <p:cNvSpPr txBox="1"/>
          <p:nvPr/>
        </p:nvSpPr>
        <p:spPr>
          <a:xfrm>
            <a:off x="4507992" y="2852928"/>
            <a:ext cx="3154680" cy="347472"/>
          </a:xfrm>
          <a:prstGeom prst="rect">
            <a:avLst/>
          </a:prstGeom>
          <a:noFill/>
          <a:ln/>
        </p:spPr>
        <p:txBody>
          <a:bodyPr wrap="square" rtlCol="0" anchor="ctr"/>
          <a:lstStyle/>
          <a:p>
            <a:pPr marL="0" indent="0">
              <a:buNone/>
            </a:pPr>
            <a:r>
              <a:rPr lang="en-US" sz="1250" b="1" dirty="0">
                <a:solidFill>
                  <a:srgbClr val="0B2545"/>
                </a:solidFill>
                <a:latin typeface="Cambria" pitchFamily="34" charset="0"/>
                <a:ea typeface="Cambria" pitchFamily="34" charset="-122"/>
                <a:cs typeface="Cambria" pitchFamily="34" charset="-120"/>
              </a:rPr>
              <a:t>Preparation &amp; Validation</a:t>
            </a:r>
            <a:endParaRPr lang="en-US" sz="1250" dirty="0"/>
          </a:p>
        </p:txBody>
      </p:sp>
      <p:sp>
        <p:nvSpPr>
          <p:cNvPr id="15" name="Text 11"/>
          <p:cNvSpPr txBox="1"/>
          <p:nvPr/>
        </p:nvSpPr>
        <p:spPr>
          <a:xfrm>
            <a:off x="4507992" y="3172968"/>
            <a:ext cx="3154680" cy="749808"/>
          </a:xfrm>
          <a:prstGeom prst="rect">
            <a:avLst/>
          </a:prstGeom>
          <a:noFill/>
          <a:ln/>
        </p:spPr>
        <p:txBody>
          <a:bodyPr wrap="square" rtlCol="0" anchor="ctr"/>
          <a:lstStyle/>
          <a:p>
            <a:pPr marL="0" indent="0">
              <a:lnSpc>
                <a:spcPct val="114000"/>
              </a:lnSpc>
              <a:buNone/>
            </a:pPr>
            <a:r>
              <a:rPr lang="en-US" sz="960" dirty="0">
                <a:solidFill>
                  <a:srgbClr val="5A6B7B"/>
                </a:solidFill>
                <a:latin typeface="Calibri" pitchFamily="34" charset="0"/>
                <a:ea typeface="Calibri" pitchFamily="34" charset="-122"/>
                <a:cs typeface="Calibri" pitchFamily="34" charset="-120"/>
              </a:rPr>
              <a:t>Checks for unique customer IDs, positive consumption, valid renewable %, reasonable outage hours, consistent labels.</a:t>
            </a:r>
            <a:endParaRPr lang="en-US" sz="960" dirty="0"/>
          </a:p>
        </p:txBody>
      </p:sp>
      <p:sp>
        <p:nvSpPr>
          <p:cNvPr id="16" name="Shape 12"/>
          <p:cNvSpPr/>
          <p:nvPr/>
        </p:nvSpPr>
        <p:spPr>
          <a:xfrm>
            <a:off x="8101584" y="2103120"/>
            <a:ext cx="3520440" cy="1874520"/>
          </a:xfrm>
          <a:prstGeom prst="roundRect">
            <a:avLst>
              <a:gd name="adj" fmla="val 3902"/>
            </a:avLst>
          </a:prstGeom>
          <a:solidFill>
            <a:srgbClr val="F7F9FC"/>
          </a:solidFill>
          <a:ln w="12700">
            <a:solidFill>
              <a:srgbClr val="E2E8F0"/>
            </a:solidFill>
            <a:prstDash val="solid"/>
          </a:ln>
        </p:spPr>
        <p:txBody>
          <a:bodyPr/>
          <a:lstStyle/>
          <a:p>
            <a:endParaRPr lang="en-NG"/>
          </a:p>
        </p:txBody>
      </p:sp>
      <p:sp>
        <p:nvSpPr>
          <p:cNvPr id="17" name="Shape 13"/>
          <p:cNvSpPr/>
          <p:nvPr/>
        </p:nvSpPr>
        <p:spPr>
          <a:xfrm>
            <a:off x="8284464" y="2286000"/>
            <a:ext cx="457200" cy="457200"/>
          </a:xfrm>
          <a:prstGeom prst="ellipse">
            <a:avLst/>
          </a:prstGeom>
          <a:solidFill>
            <a:srgbClr val="0B2545"/>
          </a:solidFill>
          <a:ln/>
        </p:spPr>
        <p:txBody>
          <a:bodyPr/>
          <a:lstStyle/>
          <a:p>
            <a:endParaRPr lang="en-NG"/>
          </a:p>
        </p:txBody>
      </p:sp>
      <p:pic>
        <p:nvPicPr>
          <p:cNvPr id="18" name="Image 2" descr="icons/chartbar_FFFFFF.png"/>
          <p:cNvPicPr>
            <a:picLocks noChangeAspect="1"/>
          </p:cNvPicPr>
          <p:nvPr/>
        </p:nvPicPr>
        <p:blipFill>
          <a:blip r:embed="rId5"/>
          <a:stretch>
            <a:fillRect/>
          </a:stretch>
        </p:blipFill>
        <p:spPr>
          <a:xfrm>
            <a:off x="8403336" y="2404872"/>
            <a:ext cx="219456" cy="219456"/>
          </a:xfrm>
          <a:prstGeom prst="rect">
            <a:avLst/>
          </a:prstGeom>
        </p:spPr>
      </p:pic>
      <p:sp>
        <p:nvSpPr>
          <p:cNvPr id="19" name="Text 14"/>
          <p:cNvSpPr txBox="1"/>
          <p:nvPr/>
        </p:nvSpPr>
        <p:spPr>
          <a:xfrm>
            <a:off x="8284464" y="2852928"/>
            <a:ext cx="3154680" cy="347472"/>
          </a:xfrm>
          <a:prstGeom prst="rect">
            <a:avLst/>
          </a:prstGeom>
          <a:noFill/>
          <a:ln/>
        </p:spPr>
        <p:txBody>
          <a:bodyPr wrap="square" rtlCol="0" anchor="ctr"/>
          <a:lstStyle/>
          <a:p>
            <a:pPr marL="0" indent="0">
              <a:buNone/>
            </a:pPr>
            <a:r>
              <a:rPr lang="en-US" sz="1250" b="1" dirty="0">
                <a:solidFill>
                  <a:srgbClr val="0B2545"/>
                </a:solidFill>
                <a:latin typeface="Cambria" pitchFamily="34" charset="0"/>
                <a:ea typeface="Cambria" pitchFamily="34" charset="-122"/>
                <a:cs typeface="Cambria" pitchFamily="34" charset="-120"/>
              </a:rPr>
              <a:t>Calculation Approach</a:t>
            </a:r>
            <a:endParaRPr lang="en-US" sz="1250" dirty="0"/>
          </a:p>
        </p:txBody>
      </p:sp>
      <p:sp>
        <p:nvSpPr>
          <p:cNvPr id="20" name="Text 15"/>
          <p:cNvSpPr txBox="1"/>
          <p:nvPr/>
        </p:nvSpPr>
        <p:spPr>
          <a:xfrm>
            <a:off x="8284464" y="3172968"/>
            <a:ext cx="3154680" cy="749808"/>
          </a:xfrm>
          <a:prstGeom prst="rect">
            <a:avLst/>
          </a:prstGeom>
          <a:noFill/>
          <a:ln/>
        </p:spPr>
        <p:txBody>
          <a:bodyPr wrap="square" rtlCol="0" anchor="ctr"/>
          <a:lstStyle/>
          <a:p>
            <a:pPr marL="0" indent="0">
              <a:lnSpc>
                <a:spcPct val="114000"/>
              </a:lnSpc>
              <a:buNone/>
            </a:pPr>
            <a:r>
              <a:rPr lang="en-US" sz="960" dirty="0">
                <a:solidFill>
                  <a:srgbClr val="5A6B7B"/>
                </a:solidFill>
                <a:latin typeface="Calibri" pitchFamily="34" charset="0"/>
                <a:ea typeface="Calibri" pitchFamily="34" charset="-122"/>
                <a:cs typeface="Calibri" pitchFamily="34" charset="-120"/>
              </a:rPr>
              <a:t>Totals/averages via running-variable accumulation; extremes via reference-record comparison with if statements.</a:t>
            </a:r>
            <a:endParaRPr lang="en-US" sz="960" dirty="0"/>
          </a:p>
        </p:txBody>
      </p:sp>
      <p:sp>
        <p:nvSpPr>
          <p:cNvPr id="21" name="Shape 16"/>
          <p:cNvSpPr/>
          <p:nvPr/>
        </p:nvSpPr>
        <p:spPr>
          <a:xfrm>
            <a:off x="548640" y="4160520"/>
            <a:ext cx="3520440" cy="1874520"/>
          </a:xfrm>
          <a:prstGeom prst="roundRect">
            <a:avLst>
              <a:gd name="adj" fmla="val 3902"/>
            </a:avLst>
          </a:prstGeom>
          <a:solidFill>
            <a:srgbClr val="F7F9FC"/>
          </a:solidFill>
          <a:ln w="12700">
            <a:solidFill>
              <a:srgbClr val="E2E8F0"/>
            </a:solidFill>
            <a:prstDash val="solid"/>
          </a:ln>
        </p:spPr>
        <p:txBody>
          <a:bodyPr/>
          <a:lstStyle/>
          <a:p>
            <a:endParaRPr lang="en-NG"/>
          </a:p>
        </p:txBody>
      </p:sp>
      <p:sp>
        <p:nvSpPr>
          <p:cNvPr id="22" name="Shape 17"/>
          <p:cNvSpPr/>
          <p:nvPr/>
        </p:nvSpPr>
        <p:spPr>
          <a:xfrm>
            <a:off x="731520" y="4343400"/>
            <a:ext cx="457200" cy="457200"/>
          </a:xfrm>
          <a:prstGeom prst="ellipse">
            <a:avLst/>
          </a:prstGeom>
          <a:solidFill>
            <a:srgbClr val="0B2545"/>
          </a:solidFill>
          <a:ln/>
        </p:spPr>
        <p:txBody>
          <a:bodyPr/>
          <a:lstStyle/>
          <a:p>
            <a:endParaRPr lang="en-NG"/>
          </a:p>
        </p:txBody>
      </p:sp>
      <p:pic>
        <p:nvPicPr>
          <p:cNvPr id="23" name="Image 3" descr="icons/network_FFFFFF.png"/>
          <p:cNvPicPr>
            <a:picLocks noChangeAspect="1"/>
          </p:cNvPicPr>
          <p:nvPr/>
        </p:nvPicPr>
        <p:blipFill>
          <a:blip r:embed="rId6"/>
          <a:stretch>
            <a:fillRect/>
          </a:stretch>
        </p:blipFill>
        <p:spPr>
          <a:xfrm>
            <a:off x="850392" y="4462272"/>
            <a:ext cx="219456" cy="219456"/>
          </a:xfrm>
          <a:prstGeom prst="rect">
            <a:avLst/>
          </a:prstGeom>
        </p:spPr>
      </p:pic>
      <p:sp>
        <p:nvSpPr>
          <p:cNvPr id="24" name="Text 18"/>
          <p:cNvSpPr txBox="1"/>
          <p:nvPr/>
        </p:nvSpPr>
        <p:spPr>
          <a:xfrm>
            <a:off x="731520" y="4910328"/>
            <a:ext cx="3154680" cy="347472"/>
          </a:xfrm>
          <a:prstGeom prst="rect">
            <a:avLst/>
          </a:prstGeom>
          <a:noFill/>
          <a:ln/>
        </p:spPr>
        <p:txBody>
          <a:bodyPr wrap="square" rtlCol="0" anchor="ctr"/>
          <a:lstStyle/>
          <a:p>
            <a:pPr marL="0" indent="0">
              <a:buNone/>
            </a:pPr>
            <a:r>
              <a:rPr lang="en-US" sz="1250" b="1" dirty="0">
                <a:solidFill>
                  <a:srgbClr val="0B2545"/>
                </a:solidFill>
                <a:latin typeface="Cambria" pitchFamily="34" charset="0"/>
                <a:ea typeface="Cambria" pitchFamily="34" charset="-122"/>
                <a:cs typeface="Cambria" pitchFamily="34" charset="-120"/>
              </a:rPr>
              <a:t>Grouping Approach</a:t>
            </a:r>
            <a:endParaRPr lang="en-US" sz="1250" dirty="0"/>
          </a:p>
        </p:txBody>
      </p:sp>
      <p:sp>
        <p:nvSpPr>
          <p:cNvPr id="25" name="Text 19"/>
          <p:cNvSpPr txBox="1"/>
          <p:nvPr/>
        </p:nvSpPr>
        <p:spPr>
          <a:xfrm>
            <a:off x="731520" y="5230368"/>
            <a:ext cx="3154680" cy="749808"/>
          </a:xfrm>
          <a:prstGeom prst="rect">
            <a:avLst/>
          </a:prstGeom>
          <a:noFill/>
          <a:ln/>
        </p:spPr>
        <p:txBody>
          <a:bodyPr wrap="square" rtlCol="0" anchor="ctr"/>
          <a:lstStyle/>
          <a:p>
            <a:pPr marL="0" indent="0">
              <a:lnSpc>
                <a:spcPct val="114000"/>
              </a:lnSpc>
              <a:buNone/>
            </a:pPr>
            <a:r>
              <a:rPr lang="en-US" sz="960" dirty="0">
                <a:solidFill>
                  <a:srgbClr val="5A6B7B"/>
                </a:solidFill>
                <a:latin typeface="Calibri" pitchFamily="34" charset="0"/>
                <a:ea typeface="Calibri" pitchFamily="34" charset="-122"/>
                <a:cs typeface="Calibri" pitchFamily="34" charset="-120"/>
              </a:rPr>
              <a:t>Dictionaries pre-populated per category (e.g. "Lagos": 0), with consumption added inside a loop — group, accumulate, compare.</a:t>
            </a:r>
            <a:endParaRPr lang="en-US" sz="960" dirty="0"/>
          </a:p>
        </p:txBody>
      </p:sp>
      <p:sp>
        <p:nvSpPr>
          <p:cNvPr id="26" name="Shape 20"/>
          <p:cNvSpPr/>
          <p:nvPr/>
        </p:nvSpPr>
        <p:spPr>
          <a:xfrm>
            <a:off x="4325112" y="4160520"/>
            <a:ext cx="3520440" cy="1874520"/>
          </a:xfrm>
          <a:prstGeom prst="roundRect">
            <a:avLst>
              <a:gd name="adj" fmla="val 3902"/>
            </a:avLst>
          </a:prstGeom>
          <a:solidFill>
            <a:srgbClr val="F7F9FC"/>
          </a:solidFill>
          <a:ln w="12700">
            <a:solidFill>
              <a:srgbClr val="E2E8F0"/>
            </a:solidFill>
            <a:prstDash val="solid"/>
          </a:ln>
        </p:spPr>
        <p:txBody>
          <a:bodyPr/>
          <a:lstStyle/>
          <a:p>
            <a:endParaRPr lang="en-NG"/>
          </a:p>
        </p:txBody>
      </p:sp>
      <p:sp>
        <p:nvSpPr>
          <p:cNvPr id="27" name="Shape 21"/>
          <p:cNvSpPr/>
          <p:nvPr/>
        </p:nvSpPr>
        <p:spPr>
          <a:xfrm>
            <a:off x="4507992" y="4343400"/>
            <a:ext cx="457200" cy="457200"/>
          </a:xfrm>
          <a:prstGeom prst="ellipse">
            <a:avLst/>
          </a:prstGeom>
          <a:solidFill>
            <a:srgbClr val="0B2545"/>
          </a:solidFill>
          <a:ln/>
        </p:spPr>
        <p:txBody>
          <a:bodyPr/>
          <a:lstStyle/>
          <a:p>
            <a:endParaRPr lang="en-NG"/>
          </a:p>
        </p:txBody>
      </p:sp>
      <p:pic>
        <p:nvPicPr>
          <p:cNvPr id="28" name="Image 4" descr="icons/target_FFFFFF.png"/>
          <p:cNvPicPr>
            <a:picLocks noChangeAspect="1"/>
          </p:cNvPicPr>
          <p:nvPr/>
        </p:nvPicPr>
        <p:blipFill>
          <a:blip r:embed="rId7"/>
          <a:stretch>
            <a:fillRect/>
          </a:stretch>
        </p:blipFill>
        <p:spPr>
          <a:xfrm>
            <a:off x="4626864" y="4462272"/>
            <a:ext cx="219456" cy="219456"/>
          </a:xfrm>
          <a:prstGeom prst="rect">
            <a:avLst/>
          </a:prstGeom>
        </p:spPr>
      </p:pic>
      <p:sp>
        <p:nvSpPr>
          <p:cNvPr id="29" name="Text 22"/>
          <p:cNvSpPr txBox="1"/>
          <p:nvPr/>
        </p:nvSpPr>
        <p:spPr>
          <a:xfrm>
            <a:off x="4507992" y="4910328"/>
            <a:ext cx="3154680" cy="347472"/>
          </a:xfrm>
          <a:prstGeom prst="rect">
            <a:avLst/>
          </a:prstGeom>
          <a:noFill/>
          <a:ln/>
        </p:spPr>
        <p:txBody>
          <a:bodyPr wrap="square" rtlCol="0" anchor="ctr"/>
          <a:lstStyle/>
          <a:p>
            <a:pPr marL="0" indent="0">
              <a:buNone/>
            </a:pPr>
            <a:r>
              <a:rPr lang="en-US" sz="1250" b="1" dirty="0">
                <a:solidFill>
                  <a:srgbClr val="0B2545"/>
                </a:solidFill>
                <a:latin typeface="Cambria" pitchFamily="34" charset="0"/>
                <a:ea typeface="Cambria" pitchFamily="34" charset="-122"/>
                <a:cs typeface="Cambria" pitchFamily="34" charset="-120"/>
              </a:rPr>
              <a:t>Classification &amp; Flagging</a:t>
            </a:r>
            <a:endParaRPr lang="en-US" sz="1250" dirty="0"/>
          </a:p>
        </p:txBody>
      </p:sp>
      <p:sp>
        <p:nvSpPr>
          <p:cNvPr id="30" name="Text 23"/>
          <p:cNvSpPr txBox="1"/>
          <p:nvPr/>
        </p:nvSpPr>
        <p:spPr>
          <a:xfrm>
            <a:off x="4507992" y="5230368"/>
            <a:ext cx="3154680" cy="749808"/>
          </a:xfrm>
          <a:prstGeom prst="rect">
            <a:avLst/>
          </a:prstGeom>
          <a:noFill/>
          <a:ln/>
        </p:spPr>
        <p:txBody>
          <a:bodyPr wrap="square" rtlCol="0" anchor="ctr"/>
          <a:lstStyle/>
          <a:p>
            <a:pPr marL="0" indent="0">
              <a:lnSpc>
                <a:spcPct val="114000"/>
              </a:lnSpc>
              <a:buNone/>
            </a:pPr>
            <a:r>
              <a:rPr lang="en-US" sz="960" dirty="0">
                <a:solidFill>
                  <a:srgbClr val="5A6B7B"/>
                </a:solidFill>
                <a:latin typeface="Calibri" pitchFamily="34" charset="0"/>
                <a:ea typeface="Calibri" pitchFamily="34" charset="-122"/>
                <a:cs typeface="Calibri" pitchFamily="34" charset="-120"/>
              </a:rPr>
              <a:t>Low / Medium / High via if-elif-else; High-Attention flag combines consumption and renewable share with and.</a:t>
            </a:r>
            <a:endParaRPr lang="en-US" sz="960" dirty="0"/>
          </a:p>
        </p:txBody>
      </p:sp>
      <p:sp>
        <p:nvSpPr>
          <p:cNvPr id="31" name="Shape 24"/>
          <p:cNvSpPr/>
          <p:nvPr/>
        </p:nvSpPr>
        <p:spPr>
          <a:xfrm>
            <a:off x="8101584" y="4160520"/>
            <a:ext cx="3520440" cy="1874520"/>
          </a:xfrm>
          <a:prstGeom prst="roundRect">
            <a:avLst>
              <a:gd name="adj" fmla="val 3902"/>
            </a:avLst>
          </a:prstGeom>
          <a:solidFill>
            <a:srgbClr val="F7F9FC"/>
          </a:solidFill>
          <a:ln w="12700">
            <a:solidFill>
              <a:srgbClr val="E2E8F0"/>
            </a:solidFill>
            <a:prstDash val="solid"/>
          </a:ln>
        </p:spPr>
        <p:txBody>
          <a:bodyPr/>
          <a:lstStyle/>
          <a:p>
            <a:endParaRPr lang="en-NG"/>
          </a:p>
        </p:txBody>
      </p:sp>
      <p:sp>
        <p:nvSpPr>
          <p:cNvPr id="32" name="Shape 25"/>
          <p:cNvSpPr/>
          <p:nvPr/>
        </p:nvSpPr>
        <p:spPr>
          <a:xfrm>
            <a:off x="8284464" y="4343400"/>
            <a:ext cx="457200" cy="457200"/>
          </a:xfrm>
          <a:prstGeom prst="ellipse">
            <a:avLst/>
          </a:prstGeom>
          <a:solidFill>
            <a:srgbClr val="0B2545"/>
          </a:solidFill>
          <a:ln/>
        </p:spPr>
        <p:txBody>
          <a:bodyPr/>
          <a:lstStyle/>
          <a:p>
            <a:endParaRPr lang="en-NG"/>
          </a:p>
        </p:txBody>
      </p:sp>
      <p:pic>
        <p:nvPicPr>
          <p:cNvPr id="33" name="Image 5" descr="icons/cogs_FFFFFF.png"/>
          <p:cNvPicPr>
            <a:picLocks noChangeAspect="1"/>
          </p:cNvPicPr>
          <p:nvPr/>
        </p:nvPicPr>
        <p:blipFill>
          <a:blip r:embed="rId8"/>
          <a:stretch>
            <a:fillRect/>
          </a:stretch>
        </p:blipFill>
        <p:spPr>
          <a:xfrm>
            <a:off x="8403336" y="4462272"/>
            <a:ext cx="219456" cy="219456"/>
          </a:xfrm>
          <a:prstGeom prst="rect">
            <a:avLst/>
          </a:prstGeom>
        </p:spPr>
      </p:pic>
      <p:sp>
        <p:nvSpPr>
          <p:cNvPr id="34" name="Text 26"/>
          <p:cNvSpPr txBox="1"/>
          <p:nvPr/>
        </p:nvSpPr>
        <p:spPr>
          <a:xfrm>
            <a:off x="8284464" y="4910328"/>
            <a:ext cx="3154680" cy="347472"/>
          </a:xfrm>
          <a:prstGeom prst="rect">
            <a:avLst/>
          </a:prstGeom>
          <a:noFill/>
          <a:ln/>
        </p:spPr>
        <p:txBody>
          <a:bodyPr wrap="square" rtlCol="0" anchor="ctr"/>
          <a:lstStyle/>
          <a:p>
            <a:pPr marL="0" indent="0">
              <a:buNone/>
            </a:pPr>
            <a:r>
              <a:rPr lang="en-US" sz="1250" b="1" dirty="0">
                <a:solidFill>
                  <a:srgbClr val="0B2545"/>
                </a:solidFill>
                <a:latin typeface="Cambria" pitchFamily="34" charset="0"/>
                <a:ea typeface="Cambria" pitchFamily="34" charset="-122"/>
                <a:cs typeface="Cambria" pitchFamily="34" charset="-120"/>
              </a:rPr>
              <a:t>Functions &amp; Menu System</a:t>
            </a:r>
            <a:endParaRPr lang="en-US" sz="1250" dirty="0"/>
          </a:p>
        </p:txBody>
      </p:sp>
      <p:sp>
        <p:nvSpPr>
          <p:cNvPr id="35" name="Text 27"/>
          <p:cNvSpPr txBox="1"/>
          <p:nvPr/>
        </p:nvSpPr>
        <p:spPr>
          <a:xfrm>
            <a:off x="8284464" y="5230368"/>
            <a:ext cx="3154680" cy="749808"/>
          </a:xfrm>
          <a:prstGeom prst="rect">
            <a:avLst/>
          </a:prstGeom>
          <a:noFill/>
          <a:ln/>
        </p:spPr>
        <p:txBody>
          <a:bodyPr wrap="square" rtlCol="0" anchor="ctr"/>
          <a:lstStyle/>
          <a:p>
            <a:pPr marL="0" indent="0">
              <a:lnSpc>
                <a:spcPct val="114000"/>
              </a:lnSpc>
              <a:buNone/>
            </a:pPr>
            <a:r>
              <a:rPr lang="en-US" sz="960" dirty="0">
                <a:solidFill>
                  <a:srgbClr val="5A6B7B"/>
                </a:solidFill>
                <a:latin typeface="Calibri" pitchFamily="34" charset="0"/>
                <a:ea typeface="Calibri" pitchFamily="34" charset="-122"/>
                <a:cs typeface="Calibri" pitchFamily="34" charset="-120"/>
              </a:rPr>
              <a:t>Operations converted into reusable functions; a while loop runs the menu, a nested while loop handles sub-selections.</a:t>
            </a:r>
            <a:endParaRPr lang="en-US" sz="960" dirty="0"/>
          </a:p>
        </p:txBody>
      </p:sp>
      <p:sp>
        <p:nvSpPr>
          <p:cNvPr id="36" name="Text 28"/>
          <p:cNvSpPr txBox="1"/>
          <p:nvPr/>
        </p:nvSpPr>
        <p:spPr>
          <a:xfrm>
            <a:off x="457200" y="6473952"/>
            <a:ext cx="7315200" cy="274320"/>
          </a:xfrm>
          <a:prstGeom prst="rect">
            <a:avLst/>
          </a:prstGeom>
          <a:noFill/>
          <a:ln/>
        </p:spPr>
        <p:txBody>
          <a:bodyPr wrap="square" rtlCol="0" anchor="ctr"/>
          <a:lstStyle/>
          <a:p>
            <a:pPr marL="0" indent="0">
              <a:buNone/>
            </a:pPr>
            <a:r>
              <a:rPr lang="en-US" sz="900" dirty="0">
                <a:solidFill>
                  <a:srgbClr val="5A6B7B"/>
                </a:solidFill>
                <a:latin typeface="Calibri" pitchFamily="34" charset="0"/>
                <a:ea typeface="Calibri" pitchFamily="34" charset="-122"/>
                <a:cs typeface="Calibri" pitchFamily="34" charset="-120"/>
              </a:rPr>
              <a:t>ENERGY CONSUMPTION ANALYSIS SYSTEM  •  TEAM A</a:t>
            </a:r>
            <a:endParaRPr lang="en-US" sz="900" dirty="0"/>
          </a:p>
        </p:txBody>
      </p:sp>
      <p:sp>
        <p:nvSpPr>
          <p:cNvPr id="37" name="Text 29"/>
          <p:cNvSpPr txBox="1"/>
          <p:nvPr/>
        </p:nvSpPr>
        <p:spPr>
          <a:xfrm>
            <a:off x="11274552" y="6473952"/>
            <a:ext cx="548640" cy="274320"/>
          </a:xfrm>
          <a:prstGeom prst="rect">
            <a:avLst/>
          </a:prstGeom>
          <a:noFill/>
          <a:ln/>
        </p:spPr>
        <p:txBody>
          <a:bodyPr wrap="square" rtlCol="0" anchor="ctr"/>
          <a:lstStyle/>
          <a:p>
            <a:pPr marL="0" indent="0" algn="r">
              <a:buNone/>
            </a:pPr>
            <a:r>
              <a:rPr lang="en-US" sz="900" dirty="0">
                <a:solidFill>
                  <a:srgbClr val="5A6B7B"/>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84048"/>
            <a:ext cx="457200" cy="457200"/>
          </a:xfrm>
          <a:prstGeom prst="ellipse">
            <a:avLst/>
          </a:prstGeom>
          <a:solidFill>
            <a:srgbClr val="0B2545"/>
          </a:solidFill>
          <a:ln/>
        </p:spPr>
        <p:txBody>
          <a:bodyPr/>
          <a:lstStyle/>
          <a:p>
            <a:endParaRPr lang="en-NG"/>
          </a:p>
        </p:txBody>
      </p:sp>
      <p:sp>
        <p:nvSpPr>
          <p:cNvPr id="3" name="Text 1"/>
          <p:cNvSpPr txBox="1"/>
          <p:nvPr/>
        </p:nvSpPr>
        <p:spPr>
          <a:xfrm>
            <a:off x="548640" y="384048"/>
            <a:ext cx="457200" cy="45720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6</a:t>
            </a:r>
            <a:endParaRPr lang="en-US" sz="1800" dirty="0"/>
          </a:p>
        </p:txBody>
      </p:sp>
      <p:sp>
        <p:nvSpPr>
          <p:cNvPr id="4" name="Text 2"/>
          <p:cNvSpPr txBox="1"/>
          <p:nvPr/>
        </p:nvSpPr>
        <p:spPr>
          <a:xfrm>
            <a:off x="548640" y="658368"/>
            <a:ext cx="10607040" cy="731520"/>
          </a:xfrm>
          <a:prstGeom prst="rect">
            <a:avLst/>
          </a:prstGeom>
          <a:noFill/>
          <a:ln/>
        </p:spPr>
        <p:txBody>
          <a:bodyPr wrap="square"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Analysis Overview</a:t>
            </a:r>
            <a:endParaRPr lang="en-US" sz="3000" dirty="0"/>
          </a:p>
        </p:txBody>
      </p:sp>
      <p:sp>
        <p:nvSpPr>
          <p:cNvPr id="5" name="Text 3"/>
          <p:cNvSpPr txBox="1"/>
          <p:nvPr/>
        </p:nvSpPr>
        <p:spPr>
          <a:xfrm>
            <a:off x="548640" y="1371600"/>
            <a:ext cx="10607040" cy="365760"/>
          </a:xfrm>
          <a:prstGeom prst="rect">
            <a:avLst/>
          </a:prstGeom>
          <a:noFill/>
          <a:ln/>
        </p:spPr>
        <p:txBody>
          <a:bodyPr wrap="square" rtlCol="0" anchor="ctr"/>
          <a:lstStyle/>
          <a:p>
            <a:pPr marL="0" indent="0">
              <a:buNone/>
            </a:pPr>
            <a:r>
              <a:rPr lang="en-US" sz="1400" b="1" dirty="0">
                <a:solidFill>
                  <a:srgbClr val="5A6B7B"/>
                </a:solidFill>
                <a:latin typeface="Calibri" pitchFamily="34" charset="0"/>
                <a:ea typeface="Calibri" pitchFamily="34" charset="-122"/>
                <a:cs typeface="Calibri" pitchFamily="34" charset="-120"/>
              </a:rPr>
              <a:t>Total and Average Consumption  •  Highest and Lowest Consumers  •  Electricity Cost</a:t>
            </a:r>
            <a:endParaRPr lang="en-US" sz="1400" dirty="0"/>
          </a:p>
        </p:txBody>
      </p:sp>
      <p:sp>
        <p:nvSpPr>
          <p:cNvPr id="6" name="Shape 4"/>
          <p:cNvSpPr/>
          <p:nvPr/>
        </p:nvSpPr>
        <p:spPr>
          <a:xfrm>
            <a:off x="548640" y="1874520"/>
            <a:ext cx="2606040" cy="1417320"/>
          </a:xfrm>
          <a:prstGeom prst="roundRect">
            <a:avLst>
              <a:gd name="adj" fmla="val 5161"/>
            </a:avLst>
          </a:prstGeom>
          <a:solidFill>
            <a:srgbClr val="F7F9FC"/>
          </a:solidFill>
          <a:ln w="12700">
            <a:solidFill>
              <a:srgbClr val="E2E8F0"/>
            </a:solidFill>
            <a:prstDash val="solid"/>
          </a:ln>
        </p:spPr>
        <p:txBody>
          <a:bodyPr/>
          <a:lstStyle/>
          <a:p>
            <a:endParaRPr lang="en-NG"/>
          </a:p>
        </p:txBody>
      </p:sp>
      <p:sp>
        <p:nvSpPr>
          <p:cNvPr id="7" name="Text 5"/>
          <p:cNvSpPr txBox="1"/>
          <p:nvPr/>
        </p:nvSpPr>
        <p:spPr>
          <a:xfrm>
            <a:off x="685800" y="2039112"/>
            <a:ext cx="2331720" cy="731520"/>
          </a:xfrm>
          <a:prstGeom prst="rect">
            <a:avLst/>
          </a:prstGeom>
          <a:noFill/>
          <a:ln/>
        </p:spPr>
        <p:txBody>
          <a:bodyPr wrap="square" rtlCol="0" anchor="b"/>
          <a:lstStyle/>
          <a:p>
            <a:pPr marL="0" indent="0" algn="ctr">
              <a:buNone/>
            </a:pPr>
            <a:r>
              <a:rPr lang="en-US" sz="2600" b="1" dirty="0">
                <a:solidFill>
                  <a:srgbClr val="0B2545"/>
                </a:solidFill>
                <a:latin typeface="Cambria" pitchFamily="34" charset="0"/>
                <a:ea typeface="Cambria" pitchFamily="34" charset="-122"/>
                <a:cs typeface="Cambria" pitchFamily="34" charset="-120"/>
              </a:rPr>
              <a:t>24,240</a:t>
            </a:r>
            <a:endParaRPr lang="en-US" sz="2600" dirty="0"/>
          </a:p>
        </p:txBody>
      </p:sp>
      <p:sp>
        <p:nvSpPr>
          <p:cNvPr id="8" name="Text 6"/>
          <p:cNvSpPr txBox="1"/>
          <p:nvPr/>
        </p:nvSpPr>
        <p:spPr>
          <a:xfrm>
            <a:off x="685800" y="2788920"/>
            <a:ext cx="2331720" cy="411480"/>
          </a:xfrm>
          <a:prstGeom prst="rect">
            <a:avLst/>
          </a:prstGeom>
          <a:noFill/>
          <a:ln/>
        </p:spPr>
        <p:txBody>
          <a:bodyPr wrap="square" rtlCol="0" anchor="t"/>
          <a:lstStyle/>
          <a:p>
            <a:pPr marL="0" indent="0" algn="ctr">
              <a:buNone/>
            </a:pPr>
            <a:r>
              <a:rPr lang="en-US" sz="1200" dirty="0">
                <a:solidFill>
                  <a:srgbClr val="5A6B7B"/>
                </a:solidFill>
                <a:latin typeface="Calibri" pitchFamily="34" charset="0"/>
                <a:ea typeface="Calibri" pitchFamily="34" charset="-122"/>
                <a:cs typeface="Calibri" pitchFamily="34" charset="-120"/>
              </a:rPr>
              <a:t>Total consumption (kWh</a:t>
            </a:r>
            <a:r>
              <a:rPr lang="en-US" sz="1100" dirty="0">
                <a:solidFill>
                  <a:srgbClr val="5A6B7B"/>
                </a:solidFill>
                <a:latin typeface="Calibri" pitchFamily="34" charset="0"/>
                <a:ea typeface="Calibri" pitchFamily="34" charset="-122"/>
                <a:cs typeface="Calibri" pitchFamily="34" charset="-120"/>
              </a:rPr>
              <a:t>)</a:t>
            </a:r>
            <a:endParaRPr lang="en-US" sz="1100" dirty="0"/>
          </a:p>
        </p:txBody>
      </p:sp>
      <p:sp>
        <p:nvSpPr>
          <p:cNvPr id="9" name="Shape 7"/>
          <p:cNvSpPr/>
          <p:nvPr/>
        </p:nvSpPr>
        <p:spPr>
          <a:xfrm>
            <a:off x="3291840" y="1874520"/>
            <a:ext cx="2606040" cy="1417320"/>
          </a:xfrm>
          <a:prstGeom prst="roundRect">
            <a:avLst>
              <a:gd name="adj" fmla="val 5161"/>
            </a:avLst>
          </a:prstGeom>
          <a:solidFill>
            <a:srgbClr val="F7F9FC"/>
          </a:solidFill>
          <a:ln w="12700">
            <a:solidFill>
              <a:srgbClr val="E2E8F0"/>
            </a:solidFill>
            <a:prstDash val="solid"/>
          </a:ln>
        </p:spPr>
        <p:txBody>
          <a:bodyPr/>
          <a:lstStyle/>
          <a:p>
            <a:endParaRPr lang="en-NG"/>
          </a:p>
        </p:txBody>
      </p:sp>
      <p:sp>
        <p:nvSpPr>
          <p:cNvPr id="10" name="Text 8"/>
          <p:cNvSpPr txBox="1"/>
          <p:nvPr/>
        </p:nvSpPr>
        <p:spPr>
          <a:xfrm>
            <a:off x="3429000" y="2039112"/>
            <a:ext cx="2331720" cy="731520"/>
          </a:xfrm>
          <a:prstGeom prst="rect">
            <a:avLst/>
          </a:prstGeom>
          <a:noFill/>
          <a:ln/>
        </p:spPr>
        <p:txBody>
          <a:bodyPr wrap="square" rtlCol="0" anchor="b"/>
          <a:lstStyle/>
          <a:p>
            <a:pPr marL="0" indent="0" algn="ctr">
              <a:buNone/>
            </a:pPr>
            <a:r>
              <a:rPr lang="en-US" sz="2600" b="1" dirty="0">
                <a:solidFill>
                  <a:srgbClr val="0B2545"/>
                </a:solidFill>
                <a:latin typeface="Cambria" pitchFamily="34" charset="0"/>
                <a:ea typeface="Cambria" pitchFamily="34" charset="-122"/>
                <a:cs typeface="Cambria" pitchFamily="34" charset="-120"/>
              </a:rPr>
              <a:t>1,212</a:t>
            </a:r>
            <a:endParaRPr lang="en-US" sz="2600" dirty="0"/>
          </a:p>
        </p:txBody>
      </p:sp>
      <p:sp>
        <p:nvSpPr>
          <p:cNvPr id="11" name="Text 9"/>
          <p:cNvSpPr txBox="1"/>
          <p:nvPr/>
        </p:nvSpPr>
        <p:spPr>
          <a:xfrm>
            <a:off x="3429000" y="2788920"/>
            <a:ext cx="2331720" cy="411480"/>
          </a:xfrm>
          <a:prstGeom prst="rect">
            <a:avLst/>
          </a:prstGeom>
          <a:noFill/>
          <a:ln/>
        </p:spPr>
        <p:txBody>
          <a:bodyPr wrap="square" rtlCol="0" anchor="t"/>
          <a:lstStyle/>
          <a:p>
            <a:pPr marL="0" indent="0" algn="ctr">
              <a:buNone/>
            </a:pPr>
            <a:r>
              <a:rPr lang="en-US" sz="1200" dirty="0">
                <a:solidFill>
                  <a:srgbClr val="5A6B7B"/>
                </a:solidFill>
                <a:latin typeface="Calibri" pitchFamily="34" charset="0"/>
                <a:ea typeface="Calibri" pitchFamily="34" charset="-122"/>
                <a:cs typeface="Calibri" pitchFamily="34" charset="-120"/>
              </a:rPr>
              <a:t>Average consumption per customer (kWh)</a:t>
            </a:r>
            <a:endParaRPr lang="en-US" sz="1200" dirty="0"/>
          </a:p>
        </p:txBody>
      </p:sp>
      <p:sp>
        <p:nvSpPr>
          <p:cNvPr id="12" name="Shape 10"/>
          <p:cNvSpPr/>
          <p:nvPr/>
        </p:nvSpPr>
        <p:spPr>
          <a:xfrm>
            <a:off x="6035040" y="1874520"/>
            <a:ext cx="2606040" cy="1417320"/>
          </a:xfrm>
          <a:prstGeom prst="roundRect">
            <a:avLst>
              <a:gd name="adj" fmla="val 5161"/>
            </a:avLst>
          </a:prstGeom>
          <a:solidFill>
            <a:srgbClr val="F7F9FC"/>
          </a:solidFill>
          <a:ln w="12700">
            <a:solidFill>
              <a:srgbClr val="E2E8F0"/>
            </a:solidFill>
            <a:prstDash val="solid"/>
          </a:ln>
        </p:spPr>
        <p:txBody>
          <a:bodyPr/>
          <a:lstStyle/>
          <a:p>
            <a:endParaRPr lang="en-NG"/>
          </a:p>
        </p:txBody>
      </p:sp>
      <p:sp>
        <p:nvSpPr>
          <p:cNvPr id="13" name="Text 11"/>
          <p:cNvSpPr txBox="1"/>
          <p:nvPr/>
        </p:nvSpPr>
        <p:spPr>
          <a:xfrm>
            <a:off x="6172200" y="2039112"/>
            <a:ext cx="2331720" cy="731520"/>
          </a:xfrm>
          <a:prstGeom prst="rect">
            <a:avLst/>
          </a:prstGeom>
          <a:noFill/>
          <a:ln/>
        </p:spPr>
        <p:txBody>
          <a:bodyPr wrap="square" rtlCol="0" anchor="b"/>
          <a:lstStyle/>
          <a:p>
            <a:pPr marL="0" indent="0" algn="ctr">
              <a:buNone/>
            </a:pPr>
            <a:r>
              <a:rPr lang="en-US" sz="2600" b="1" dirty="0">
                <a:solidFill>
                  <a:srgbClr val="F4A300"/>
                </a:solidFill>
                <a:latin typeface="Cambria" pitchFamily="34" charset="0"/>
                <a:ea typeface="Cambria" pitchFamily="34" charset="-122"/>
                <a:cs typeface="Cambria" pitchFamily="34" charset="-120"/>
              </a:rPr>
              <a:t>3,600</a:t>
            </a:r>
            <a:endParaRPr lang="en-US" sz="2600" dirty="0"/>
          </a:p>
        </p:txBody>
      </p:sp>
      <p:sp>
        <p:nvSpPr>
          <p:cNvPr id="14" name="Text 12"/>
          <p:cNvSpPr txBox="1"/>
          <p:nvPr/>
        </p:nvSpPr>
        <p:spPr>
          <a:xfrm>
            <a:off x="6172200" y="2788920"/>
            <a:ext cx="2331720" cy="411480"/>
          </a:xfrm>
          <a:prstGeom prst="rect">
            <a:avLst/>
          </a:prstGeom>
          <a:noFill/>
          <a:ln/>
        </p:spPr>
        <p:txBody>
          <a:bodyPr wrap="square" rtlCol="0" anchor="t"/>
          <a:lstStyle/>
          <a:p>
            <a:pPr marL="0" indent="0" algn="ctr">
              <a:buNone/>
            </a:pPr>
            <a:r>
              <a:rPr lang="en-US" sz="1200" dirty="0">
                <a:solidFill>
                  <a:srgbClr val="5A6B7B"/>
                </a:solidFill>
                <a:latin typeface="Calibri" pitchFamily="34" charset="0"/>
                <a:ea typeface="Calibri" pitchFamily="34" charset="-122"/>
                <a:cs typeface="Calibri" pitchFamily="34" charset="-120"/>
              </a:rPr>
              <a:t>Highest — Industrial Works Ltd (kWh</a:t>
            </a:r>
            <a:r>
              <a:rPr lang="en-US" sz="1100" dirty="0">
                <a:solidFill>
                  <a:srgbClr val="5A6B7B"/>
                </a:solidFill>
                <a:latin typeface="Calibri" pitchFamily="34" charset="0"/>
                <a:ea typeface="Calibri" pitchFamily="34" charset="-122"/>
                <a:cs typeface="Calibri" pitchFamily="34" charset="-120"/>
              </a:rPr>
              <a:t>)</a:t>
            </a:r>
            <a:endParaRPr lang="en-US" sz="1100" dirty="0"/>
          </a:p>
        </p:txBody>
      </p:sp>
      <p:sp>
        <p:nvSpPr>
          <p:cNvPr id="15" name="Shape 13"/>
          <p:cNvSpPr/>
          <p:nvPr/>
        </p:nvSpPr>
        <p:spPr>
          <a:xfrm>
            <a:off x="8778240" y="1874520"/>
            <a:ext cx="2606040" cy="1417320"/>
          </a:xfrm>
          <a:prstGeom prst="roundRect">
            <a:avLst>
              <a:gd name="adj" fmla="val 5161"/>
            </a:avLst>
          </a:prstGeom>
          <a:solidFill>
            <a:srgbClr val="F7F9FC"/>
          </a:solidFill>
          <a:ln w="12700">
            <a:solidFill>
              <a:srgbClr val="E2E8F0"/>
            </a:solidFill>
            <a:prstDash val="solid"/>
          </a:ln>
        </p:spPr>
        <p:txBody>
          <a:bodyPr/>
          <a:lstStyle/>
          <a:p>
            <a:endParaRPr lang="en-NG"/>
          </a:p>
        </p:txBody>
      </p:sp>
      <p:sp>
        <p:nvSpPr>
          <p:cNvPr id="16" name="Text 14"/>
          <p:cNvSpPr txBox="1"/>
          <p:nvPr/>
        </p:nvSpPr>
        <p:spPr>
          <a:xfrm>
            <a:off x="8915400" y="2039112"/>
            <a:ext cx="2331720" cy="731520"/>
          </a:xfrm>
          <a:prstGeom prst="rect">
            <a:avLst/>
          </a:prstGeom>
          <a:noFill/>
          <a:ln/>
        </p:spPr>
        <p:txBody>
          <a:bodyPr wrap="square" rtlCol="0" anchor="b"/>
          <a:lstStyle/>
          <a:p>
            <a:pPr marL="0" indent="0" algn="ctr">
              <a:buNone/>
            </a:pPr>
            <a:r>
              <a:rPr lang="en-US" sz="2600" b="1" dirty="0">
                <a:solidFill>
                  <a:srgbClr val="2E8B57"/>
                </a:solidFill>
                <a:latin typeface="Cambria" pitchFamily="34" charset="0"/>
                <a:ea typeface="Cambria" pitchFamily="34" charset="-122"/>
                <a:cs typeface="Cambria" pitchFamily="34" charset="-120"/>
              </a:rPr>
              <a:t>190</a:t>
            </a:r>
            <a:endParaRPr lang="en-US" sz="2600" dirty="0"/>
          </a:p>
        </p:txBody>
      </p:sp>
      <p:sp>
        <p:nvSpPr>
          <p:cNvPr id="17" name="Text 15"/>
          <p:cNvSpPr txBox="1"/>
          <p:nvPr/>
        </p:nvSpPr>
        <p:spPr>
          <a:xfrm>
            <a:off x="8915400" y="2788920"/>
            <a:ext cx="2331720" cy="411480"/>
          </a:xfrm>
          <a:prstGeom prst="rect">
            <a:avLst/>
          </a:prstGeom>
          <a:noFill/>
          <a:ln/>
        </p:spPr>
        <p:txBody>
          <a:bodyPr wrap="square" rtlCol="0" anchor="t"/>
          <a:lstStyle/>
          <a:p>
            <a:pPr marL="0" indent="0" algn="ctr">
              <a:buNone/>
            </a:pPr>
            <a:r>
              <a:rPr lang="en-US" sz="1200" dirty="0">
                <a:solidFill>
                  <a:srgbClr val="5A6B7B"/>
                </a:solidFill>
                <a:latin typeface="Calibri" pitchFamily="34" charset="0"/>
                <a:ea typeface="Calibri" pitchFamily="34" charset="-122"/>
                <a:cs typeface="Calibri" pitchFamily="34" charset="-120"/>
              </a:rPr>
              <a:t>Lowest — Hope Residence (kWh</a:t>
            </a:r>
            <a:r>
              <a:rPr lang="en-US" sz="1100" dirty="0">
                <a:solidFill>
                  <a:srgbClr val="5A6B7B"/>
                </a:solidFill>
                <a:latin typeface="Calibri" pitchFamily="34" charset="0"/>
                <a:ea typeface="Calibri" pitchFamily="34" charset="-122"/>
                <a:cs typeface="Calibri" pitchFamily="34" charset="-120"/>
              </a:rPr>
              <a:t>)</a:t>
            </a:r>
            <a:endParaRPr lang="en-US" sz="1100" dirty="0"/>
          </a:p>
        </p:txBody>
      </p:sp>
      <p:sp>
        <p:nvSpPr>
          <p:cNvPr id="18" name="Shape 16"/>
          <p:cNvSpPr/>
          <p:nvPr/>
        </p:nvSpPr>
        <p:spPr>
          <a:xfrm>
            <a:off x="548640" y="3474720"/>
            <a:ext cx="11064240" cy="1463040"/>
          </a:xfrm>
          <a:prstGeom prst="roundRect">
            <a:avLst>
              <a:gd name="adj" fmla="val 5000"/>
            </a:avLst>
          </a:prstGeom>
          <a:solidFill>
            <a:srgbClr val="0B2545"/>
          </a:solidFill>
          <a:ln/>
        </p:spPr>
        <p:txBody>
          <a:bodyPr/>
          <a:lstStyle/>
          <a:p>
            <a:endParaRPr lang="en-NG"/>
          </a:p>
        </p:txBody>
      </p:sp>
      <p:sp>
        <p:nvSpPr>
          <p:cNvPr id="19" name="Shape 17"/>
          <p:cNvSpPr/>
          <p:nvPr/>
        </p:nvSpPr>
        <p:spPr>
          <a:xfrm>
            <a:off x="777240" y="3703320"/>
            <a:ext cx="960120" cy="960120"/>
          </a:xfrm>
          <a:prstGeom prst="ellipse">
            <a:avLst/>
          </a:prstGeom>
          <a:solidFill>
            <a:srgbClr val="F4A300"/>
          </a:solidFill>
          <a:ln/>
        </p:spPr>
        <p:txBody>
          <a:bodyPr/>
          <a:lstStyle/>
          <a:p>
            <a:endParaRPr lang="en-NG"/>
          </a:p>
        </p:txBody>
      </p:sp>
      <p:pic>
        <p:nvPicPr>
          <p:cNvPr id="20" name="Image 0" descr="icons/money_0B2545.png"/>
          <p:cNvPicPr>
            <a:picLocks noChangeAspect="1"/>
          </p:cNvPicPr>
          <p:nvPr/>
        </p:nvPicPr>
        <p:blipFill>
          <a:blip r:embed="rId3"/>
          <a:stretch>
            <a:fillRect/>
          </a:stretch>
        </p:blipFill>
        <p:spPr>
          <a:xfrm>
            <a:off x="1026871" y="3952951"/>
            <a:ext cx="460858" cy="460858"/>
          </a:xfrm>
          <a:prstGeom prst="rect">
            <a:avLst/>
          </a:prstGeom>
        </p:spPr>
      </p:pic>
      <p:sp>
        <p:nvSpPr>
          <p:cNvPr id="21" name="Text 18"/>
          <p:cNvSpPr txBox="1"/>
          <p:nvPr/>
        </p:nvSpPr>
        <p:spPr>
          <a:xfrm>
            <a:off x="1965960" y="3611880"/>
            <a:ext cx="5029200" cy="64008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NGN 2,920,000</a:t>
            </a:r>
            <a:endParaRPr lang="en-US" sz="3000" dirty="0"/>
          </a:p>
        </p:txBody>
      </p:sp>
      <p:sp>
        <p:nvSpPr>
          <p:cNvPr id="22" name="Text 19"/>
          <p:cNvSpPr txBox="1"/>
          <p:nvPr/>
        </p:nvSpPr>
        <p:spPr>
          <a:xfrm>
            <a:off x="1965960" y="4251960"/>
            <a:ext cx="5029200" cy="320040"/>
          </a:xfrm>
          <a:prstGeom prst="rect">
            <a:avLst/>
          </a:prstGeom>
          <a:noFill/>
          <a:ln/>
        </p:spPr>
        <p:txBody>
          <a:bodyPr wrap="square" rtlCol="0" anchor="ctr"/>
          <a:lstStyle/>
          <a:p>
            <a:pPr marL="0" indent="0">
              <a:buNone/>
            </a:pPr>
            <a:r>
              <a:rPr lang="en-US" sz="1200" dirty="0">
                <a:solidFill>
                  <a:srgbClr val="CADCFC"/>
                </a:solidFill>
                <a:latin typeface="Calibri" pitchFamily="34" charset="0"/>
                <a:ea typeface="Calibri" pitchFamily="34" charset="-122"/>
                <a:cs typeface="Calibri" pitchFamily="34" charset="-120"/>
              </a:rPr>
              <a:t>Total Electricity Cost across all 20 customers</a:t>
            </a:r>
            <a:endParaRPr lang="en-US" sz="1200" dirty="0"/>
          </a:p>
        </p:txBody>
      </p:sp>
      <p:sp>
        <p:nvSpPr>
          <p:cNvPr id="23" name="Shape 20"/>
          <p:cNvSpPr/>
          <p:nvPr/>
        </p:nvSpPr>
        <p:spPr>
          <a:xfrm>
            <a:off x="7223760" y="3657600"/>
            <a:ext cx="0" cy="1097280"/>
          </a:xfrm>
          <a:prstGeom prst="line">
            <a:avLst/>
          </a:prstGeom>
          <a:noFill/>
          <a:ln w="12700">
            <a:solidFill>
              <a:srgbClr val="13315C"/>
            </a:solidFill>
            <a:prstDash val="solid"/>
          </a:ln>
        </p:spPr>
        <p:txBody>
          <a:bodyPr/>
          <a:lstStyle/>
          <a:p>
            <a:endParaRPr lang="en-NG"/>
          </a:p>
        </p:txBody>
      </p:sp>
      <p:sp>
        <p:nvSpPr>
          <p:cNvPr id="24" name="Text 21"/>
          <p:cNvSpPr txBox="1"/>
          <p:nvPr/>
        </p:nvSpPr>
        <p:spPr>
          <a:xfrm>
            <a:off x="7452360" y="3611880"/>
            <a:ext cx="3931920" cy="1234440"/>
          </a:xfrm>
          <a:prstGeom prst="rect">
            <a:avLst/>
          </a:prstGeom>
          <a:noFill/>
          <a:ln/>
        </p:spPr>
        <p:txBody>
          <a:bodyPr wrap="square" rtlCol="0" anchor="ctr"/>
          <a:lstStyle/>
          <a:p>
            <a:pPr marL="0" indent="0">
              <a:lnSpc>
                <a:spcPct val="120000"/>
              </a:lnSpc>
              <a:buNone/>
            </a:pPr>
            <a:r>
              <a:rPr lang="en-US" sz="1200" dirty="0">
                <a:solidFill>
                  <a:srgbClr val="CADCFC"/>
                </a:solidFill>
                <a:latin typeface="Calibri" pitchFamily="34" charset="0"/>
                <a:ea typeface="Calibri" pitchFamily="34" charset="-122"/>
                <a:cs typeface="Calibri" pitchFamily="34" charset="-120"/>
              </a:rPr>
              <a:t>Cost is calculated from each customer's consumption and applicable tariff per kWh — giving a direct financial view of energy use alongside the consumption view.</a:t>
            </a:r>
            <a:endParaRPr lang="en-US" sz="1200" dirty="0"/>
          </a:p>
        </p:txBody>
      </p:sp>
      <p:sp>
        <p:nvSpPr>
          <p:cNvPr id="25" name="Shape 22"/>
          <p:cNvSpPr/>
          <p:nvPr/>
        </p:nvSpPr>
        <p:spPr>
          <a:xfrm>
            <a:off x="548640" y="5120640"/>
            <a:ext cx="11064240" cy="1005840"/>
          </a:xfrm>
          <a:prstGeom prst="roundRect">
            <a:avLst>
              <a:gd name="adj" fmla="val 7273"/>
            </a:avLst>
          </a:prstGeom>
          <a:solidFill>
            <a:srgbClr val="F7F9FC"/>
          </a:solidFill>
          <a:ln w="12700">
            <a:solidFill>
              <a:srgbClr val="E2E8F0"/>
            </a:solidFill>
            <a:prstDash val="solid"/>
          </a:ln>
        </p:spPr>
        <p:txBody>
          <a:bodyPr/>
          <a:lstStyle/>
          <a:p>
            <a:endParaRPr lang="en-NG"/>
          </a:p>
        </p:txBody>
      </p:sp>
      <p:sp>
        <p:nvSpPr>
          <p:cNvPr id="26" name="Text 23"/>
          <p:cNvSpPr txBox="1"/>
          <p:nvPr/>
        </p:nvSpPr>
        <p:spPr>
          <a:xfrm>
            <a:off x="777240" y="5193792"/>
            <a:ext cx="10607040" cy="868680"/>
          </a:xfrm>
          <a:prstGeom prst="rect">
            <a:avLst/>
          </a:prstGeom>
          <a:noFill/>
          <a:ln/>
        </p:spPr>
        <p:txBody>
          <a:bodyPr wrap="square" rtlCol="0" anchor="ctr"/>
          <a:lstStyle/>
          <a:p>
            <a:pPr marL="0" indent="0">
              <a:lnSpc>
                <a:spcPct val="120000"/>
              </a:lnSpc>
              <a:buNone/>
            </a:pPr>
            <a:r>
              <a:rPr lang="en-US" sz="1200" dirty="0">
                <a:solidFill>
                  <a:srgbClr val="0B2545"/>
                </a:solidFill>
                <a:latin typeface="Calibri" pitchFamily="34" charset="0"/>
                <a:ea typeface="Calibri" pitchFamily="34" charset="-122"/>
                <a:cs typeface="Calibri" pitchFamily="34" charset="-120"/>
              </a:rPr>
              <a:t>Comparing every record identifies the highest and lowest consumers, showing the variation in demand — a basis for further analysis, since high consumers may need efficiency attention while low consumers may face different needs.</a:t>
            </a:r>
            <a:endParaRPr lang="en-US" sz="1200" dirty="0"/>
          </a:p>
        </p:txBody>
      </p:sp>
      <p:sp>
        <p:nvSpPr>
          <p:cNvPr id="27" name="Text 24"/>
          <p:cNvSpPr txBox="1"/>
          <p:nvPr/>
        </p:nvSpPr>
        <p:spPr>
          <a:xfrm>
            <a:off x="457200" y="6473952"/>
            <a:ext cx="7315200" cy="274320"/>
          </a:xfrm>
          <a:prstGeom prst="rect">
            <a:avLst/>
          </a:prstGeom>
          <a:noFill/>
          <a:ln/>
        </p:spPr>
        <p:txBody>
          <a:bodyPr wrap="square" rtlCol="0" anchor="ctr"/>
          <a:lstStyle/>
          <a:p>
            <a:pPr marL="0" indent="0">
              <a:buNone/>
            </a:pPr>
            <a:r>
              <a:rPr lang="en-US" sz="900" dirty="0">
                <a:solidFill>
                  <a:srgbClr val="5A6B7B"/>
                </a:solidFill>
                <a:latin typeface="Calibri" pitchFamily="34" charset="0"/>
                <a:ea typeface="Calibri" pitchFamily="34" charset="-122"/>
                <a:cs typeface="Calibri" pitchFamily="34" charset="-120"/>
              </a:rPr>
              <a:t>ENERGY CONSUMPTION ANALYSIS SYSTEM  </a:t>
            </a:r>
            <a:endParaRPr lang="en-US" sz="900" dirty="0"/>
          </a:p>
        </p:txBody>
      </p:sp>
      <p:sp>
        <p:nvSpPr>
          <p:cNvPr id="28" name="Text 25"/>
          <p:cNvSpPr txBox="1"/>
          <p:nvPr/>
        </p:nvSpPr>
        <p:spPr>
          <a:xfrm>
            <a:off x="11274552" y="6473952"/>
            <a:ext cx="548640" cy="274320"/>
          </a:xfrm>
          <a:prstGeom prst="rect">
            <a:avLst/>
          </a:prstGeom>
          <a:noFill/>
          <a:ln/>
        </p:spPr>
        <p:txBody>
          <a:bodyPr wrap="square" rtlCol="0" anchor="ctr"/>
          <a:lstStyle/>
          <a:p>
            <a:pPr marL="0" indent="0" algn="r">
              <a:buNone/>
            </a:pPr>
            <a:r>
              <a:rPr lang="en-US" sz="900" dirty="0">
                <a:solidFill>
                  <a:srgbClr val="5A6B7B"/>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292608"/>
          </a:xfrm>
          <a:prstGeom prst="rect">
            <a:avLst/>
          </a:prstGeom>
          <a:noFill/>
          <a:ln/>
        </p:spPr>
        <p:txBody>
          <a:bodyPr wrap="square" rtlCol="0" anchor="ctr"/>
          <a:lstStyle/>
          <a:p>
            <a:pPr marL="0" indent="0">
              <a:buNone/>
            </a:pPr>
            <a:r>
              <a:rPr lang="en-US" sz="1400" b="1" kern="0" spc="200" dirty="0">
                <a:solidFill>
                  <a:srgbClr val="F4A300"/>
                </a:solidFill>
                <a:latin typeface="Calibri" pitchFamily="34" charset="0"/>
                <a:ea typeface="Calibri" pitchFamily="34" charset="-122"/>
                <a:cs typeface="Calibri" pitchFamily="34" charset="-120"/>
              </a:rPr>
              <a:t>ANALYSIS AND DISCUSSION</a:t>
            </a:r>
            <a:endParaRPr lang="en-US" sz="1400" dirty="0"/>
          </a:p>
        </p:txBody>
      </p:sp>
      <p:sp>
        <p:nvSpPr>
          <p:cNvPr id="3" name="Text 1"/>
          <p:cNvSpPr txBox="1"/>
          <p:nvPr/>
        </p:nvSpPr>
        <p:spPr>
          <a:xfrm>
            <a:off x="548640" y="658368"/>
            <a:ext cx="10607040" cy="731520"/>
          </a:xfrm>
          <a:prstGeom prst="rect">
            <a:avLst/>
          </a:prstGeom>
          <a:noFill/>
          <a:ln/>
        </p:spPr>
        <p:txBody>
          <a:bodyPr wrap="square" rtlCol="0" anchor="ctr"/>
          <a:lstStyle/>
          <a:p>
            <a:pPr marL="0" indent="0">
              <a:buNone/>
            </a:pPr>
            <a:r>
              <a:rPr lang="en-US" sz="2200" b="1" dirty="0">
                <a:solidFill>
                  <a:srgbClr val="0B2545"/>
                </a:solidFill>
                <a:latin typeface="Cambria" pitchFamily="34" charset="0"/>
                <a:ea typeface="Cambria" pitchFamily="34" charset="-122"/>
                <a:cs typeface="Cambria" pitchFamily="34" charset="-120"/>
              </a:rPr>
              <a:t>Consumption Classification and High-Attention Customers</a:t>
            </a:r>
            <a:endParaRPr lang="en-US" sz="2200" dirty="0"/>
          </a:p>
        </p:txBody>
      </p:sp>
      <p:sp>
        <p:nvSpPr>
          <p:cNvPr id="4" name="Text 2"/>
          <p:cNvSpPr txBox="1"/>
          <p:nvPr/>
        </p:nvSpPr>
        <p:spPr>
          <a:xfrm>
            <a:off x="548640" y="1417320"/>
            <a:ext cx="5212080" cy="320040"/>
          </a:xfrm>
          <a:prstGeom prst="rect">
            <a:avLst/>
          </a:prstGeom>
          <a:noFill/>
          <a:ln/>
        </p:spPr>
        <p:txBody>
          <a:bodyPr wrap="square"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Customer Consumption Classification</a:t>
            </a:r>
            <a:endParaRPr lang="en-US" sz="1400" dirty="0"/>
          </a:p>
        </p:txBody>
      </p:sp>
      <p:graphicFrame>
        <p:nvGraphicFramePr>
          <p:cNvPr id="5" name="Chart 0"/>
          <p:cNvGraphicFramePr/>
          <p:nvPr>
            <p:extLst>
              <p:ext uri="{D42A27DB-BD31-4B8C-83A1-F6EECF244321}">
                <p14:modId xmlns:p14="http://schemas.microsoft.com/office/powerpoint/2010/main" val="2773098703"/>
              </p:ext>
            </p:extLst>
          </p:nvPr>
        </p:nvGraphicFramePr>
        <p:xfrm>
          <a:off x="548640" y="1783080"/>
          <a:ext cx="5257800" cy="429768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txBox="1"/>
          <p:nvPr/>
        </p:nvSpPr>
        <p:spPr>
          <a:xfrm>
            <a:off x="6263640" y="1417320"/>
            <a:ext cx="5394960" cy="320040"/>
          </a:xfrm>
          <a:prstGeom prst="rect">
            <a:avLst/>
          </a:prstGeom>
          <a:noFill/>
          <a:ln/>
        </p:spPr>
        <p:txBody>
          <a:bodyPr wrap="square"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High-Attention Customers (kWh, ≥1,000 &amp; &lt;15% renewable)</a:t>
            </a:r>
            <a:endParaRPr lang="en-US" sz="1400" dirty="0"/>
          </a:p>
        </p:txBody>
      </p:sp>
      <p:graphicFrame>
        <p:nvGraphicFramePr>
          <p:cNvPr id="7" name="Chart 1"/>
          <p:cNvGraphicFramePr/>
          <p:nvPr>
            <p:extLst>
              <p:ext uri="{D42A27DB-BD31-4B8C-83A1-F6EECF244321}">
                <p14:modId xmlns:p14="http://schemas.microsoft.com/office/powerpoint/2010/main" val="3573590211"/>
              </p:ext>
            </p:extLst>
          </p:nvPr>
        </p:nvGraphicFramePr>
        <p:xfrm>
          <a:off x="6263640" y="1783080"/>
          <a:ext cx="5394960" cy="4297680"/>
        </p:xfrm>
        <a:graphic>
          <a:graphicData uri="http://schemas.openxmlformats.org/drawingml/2006/chart">
            <c:chart xmlns:c="http://schemas.openxmlformats.org/drawingml/2006/chart" xmlns:r="http://schemas.openxmlformats.org/officeDocument/2006/relationships" r:id="rId4"/>
          </a:graphicData>
        </a:graphic>
      </p:graphicFrame>
      <p:sp>
        <p:nvSpPr>
          <p:cNvPr id="8" name="Text 4"/>
          <p:cNvSpPr txBox="1"/>
          <p:nvPr/>
        </p:nvSpPr>
        <p:spPr>
          <a:xfrm>
            <a:off x="457200" y="6473952"/>
            <a:ext cx="7315200" cy="274320"/>
          </a:xfrm>
          <a:prstGeom prst="rect">
            <a:avLst/>
          </a:prstGeom>
          <a:noFill/>
          <a:ln/>
        </p:spPr>
        <p:txBody>
          <a:bodyPr wrap="square" rtlCol="0" anchor="ctr"/>
          <a:lstStyle/>
          <a:p>
            <a:pPr marL="0" indent="0">
              <a:buNone/>
            </a:pPr>
            <a:r>
              <a:rPr lang="en-US" sz="900" dirty="0">
                <a:solidFill>
                  <a:srgbClr val="5A6B7B"/>
                </a:solidFill>
                <a:latin typeface="Calibri" pitchFamily="34" charset="0"/>
                <a:ea typeface="Calibri" pitchFamily="34" charset="-122"/>
                <a:cs typeface="Calibri" pitchFamily="34" charset="-120"/>
              </a:rPr>
              <a:t>ENERGY CONSUMPTION ANALYSIS SYSTEM</a:t>
            </a:r>
            <a:endParaRPr lang="en-US" sz="900" dirty="0"/>
          </a:p>
        </p:txBody>
      </p:sp>
      <p:sp>
        <p:nvSpPr>
          <p:cNvPr id="9" name="Text 5"/>
          <p:cNvSpPr txBox="1"/>
          <p:nvPr/>
        </p:nvSpPr>
        <p:spPr>
          <a:xfrm>
            <a:off x="11274552" y="6473952"/>
            <a:ext cx="548640" cy="274320"/>
          </a:xfrm>
          <a:prstGeom prst="rect">
            <a:avLst/>
          </a:prstGeom>
          <a:noFill/>
          <a:ln/>
        </p:spPr>
        <p:txBody>
          <a:bodyPr wrap="square" rtlCol="0" anchor="ctr"/>
          <a:lstStyle/>
          <a:p>
            <a:pPr marL="0" indent="0" algn="r">
              <a:buNone/>
            </a:pPr>
            <a:r>
              <a:rPr lang="en-US" sz="900" dirty="0">
                <a:solidFill>
                  <a:srgbClr val="5A6B7B"/>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292608"/>
          </a:xfrm>
          <a:prstGeom prst="rect">
            <a:avLst/>
          </a:prstGeom>
          <a:noFill/>
          <a:ln/>
        </p:spPr>
        <p:txBody>
          <a:bodyPr wrap="square" rtlCol="0" anchor="ctr"/>
          <a:lstStyle/>
          <a:p>
            <a:pPr marL="0" indent="0">
              <a:buNone/>
            </a:pPr>
            <a:r>
              <a:rPr lang="en-US" sz="1400" b="1" kern="0" spc="200" dirty="0">
                <a:solidFill>
                  <a:srgbClr val="F4A300"/>
                </a:solidFill>
                <a:latin typeface="Calibri" pitchFamily="34" charset="0"/>
                <a:ea typeface="Calibri" pitchFamily="34" charset="-122"/>
                <a:cs typeface="Calibri" pitchFamily="34" charset="-120"/>
              </a:rPr>
              <a:t>ANALYSIS AND DISCUSSION</a:t>
            </a:r>
            <a:endParaRPr lang="en-US" sz="1400" dirty="0"/>
          </a:p>
        </p:txBody>
      </p:sp>
      <p:sp>
        <p:nvSpPr>
          <p:cNvPr id="3" name="Text 1"/>
          <p:cNvSpPr txBox="1"/>
          <p:nvPr/>
        </p:nvSpPr>
        <p:spPr>
          <a:xfrm>
            <a:off x="548640" y="658368"/>
            <a:ext cx="10607040" cy="731520"/>
          </a:xfrm>
          <a:prstGeom prst="rect">
            <a:avLst/>
          </a:prstGeom>
          <a:noFill/>
          <a:ln/>
        </p:spPr>
        <p:txBody>
          <a:bodyPr wrap="square" rtlCol="0" anchor="ctr"/>
          <a:lstStyle/>
          <a:p>
            <a:pPr marL="0" indent="0">
              <a:buNone/>
            </a:pPr>
            <a:r>
              <a:rPr lang="en-US" sz="2400" b="1" dirty="0">
                <a:solidFill>
                  <a:srgbClr val="0B2545"/>
                </a:solidFill>
                <a:latin typeface="Cambria" pitchFamily="34" charset="0"/>
                <a:ea typeface="Cambria" pitchFamily="34" charset="-122"/>
                <a:cs typeface="Cambria" pitchFamily="34" charset="-120"/>
              </a:rPr>
              <a:t>Location and Customer Type Analysis</a:t>
            </a:r>
            <a:endParaRPr lang="en-US" sz="2400" dirty="0"/>
          </a:p>
        </p:txBody>
      </p:sp>
      <p:sp>
        <p:nvSpPr>
          <p:cNvPr id="4" name="Text 2"/>
          <p:cNvSpPr txBox="1"/>
          <p:nvPr/>
        </p:nvSpPr>
        <p:spPr>
          <a:xfrm>
            <a:off x="548640" y="1417320"/>
            <a:ext cx="5212080" cy="320040"/>
          </a:xfrm>
          <a:prstGeom prst="rect">
            <a:avLst/>
          </a:prstGeom>
          <a:noFill/>
          <a:ln/>
        </p:spPr>
        <p:txBody>
          <a:bodyPr wrap="square"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Location Analysis</a:t>
            </a:r>
            <a:endParaRPr lang="en-US" sz="1400" dirty="0"/>
          </a:p>
        </p:txBody>
      </p:sp>
      <p:graphicFrame>
        <p:nvGraphicFramePr>
          <p:cNvPr id="5" name="Chart 0"/>
          <p:cNvGraphicFramePr/>
          <p:nvPr>
            <p:extLst>
              <p:ext uri="{D42A27DB-BD31-4B8C-83A1-F6EECF244321}">
                <p14:modId xmlns:p14="http://schemas.microsoft.com/office/powerpoint/2010/main" val="3894722942"/>
              </p:ext>
            </p:extLst>
          </p:nvPr>
        </p:nvGraphicFramePr>
        <p:xfrm>
          <a:off x="548640" y="1783080"/>
          <a:ext cx="5257800" cy="429768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txBox="1"/>
          <p:nvPr/>
        </p:nvSpPr>
        <p:spPr>
          <a:xfrm>
            <a:off x="6263640" y="1417320"/>
            <a:ext cx="5394960" cy="320040"/>
          </a:xfrm>
          <a:prstGeom prst="rect">
            <a:avLst/>
          </a:prstGeom>
          <a:noFill/>
          <a:ln/>
        </p:spPr>
        <p:txBody>
          <a:bodyPr wrap="square"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Customer Type Analysis</a:t>
            </a:r>
            <a:endParaRPr lang="en-US" sz="1400" dirty="0"/>
          </a:p>
        </p:txBody>
      </p:sp>
      <p:graphicFrame>
        <p:nvGraphicFramePr>
          <p:cNvPr id="7" name="Chart 1"/>
          <p:cNvGraphicFramePr/>
          <p:nvPr>
            <p:extLst>
              <p:ext uri="{D42A27DB-BD31-4B8C-83A1-F6EECF244321}">
                <p14:modId xmlns:p14="http://schemas.microsoft.com/office/powerpoint/2010/main" val="3293301817"/>
              </p:ext>
            </p:extLst>
          </p:nvPr>
        </p:nvGraphicFramePr>
        <p:xfrm>
          <a:off x="6263640" y="1783080"/>
          <a:ext cx="5559552" cy="4297680"/>
        </p:xfrm>
        <a:graphic>
          <a:graphicData uri="http://schemas.openxmlformats.org/drawingml/2006/chart">
            <c:chart xmlns:c="http://schemas.openxmlformats.org/drawingml/2006/chart" xmlns:r="http://schemas.openxmlformats.org/officeDocument/2006/relationships" r:id="rId4"/>
          </a:graphicData>
        </a:graphic>
      </p:graphicFrame>
      <p:sp>
        <p:nvSpPr>
          <p:cNvPr id="8" name="Text 4"/>
          <p:cNvSpPr txBox="1"/>
          <p:nvPr/>
        </p:nvSpPr>
        <p:spPr>
          <a:xfrm>
            <a:off x="457200" y="6473952"/>
            <a:ext cx="7315200" cy="274320"/>
          </a:xfrm>
          <a:prstGeom prst="rect">
            <a:avLst/>
          </a:prstGeom>
          <a:noFill/>
          <a:ln/>
        </p:spPr>
        <p:txBody>
          <a:bodyPr wrap="square" rtlCol="0" anchor="ctr"/>
          <a:lstStyle/>
          <a:p>
            <a:pPr marL="0" indent="0">
              <a:buNone/>
            </a:pPr>
            <a:r>
              <a:rPr lang="en-US" sz="900" dirty="0">
                <a:solidFill>
                  <a:srgbClr val="5A6B7B"/>
                </a:solidFill>
                <a:latin typeface="Calibri" pitchFamily="34" charset="0"/>
                <a:ea typeface="Calibri" pitchFamily="34" charset="-122"/>
                <a:cs typeface="Calibri" pitchFamily="34" charset="-120"/>
              </a:rPr>
              <a:t>ENERGY CONSUMPTION ANALYSIS SYSTEM</a:t>
            </a:r>
            <a:endParaRPr lang="en-US" sz="900" dirty="0"/>
          </a:p>
        </p:txBody>
      </p:sp>
      <p:sp>
        <p:nvSpPr>
          <p:cNvPr id="9" name="Text 5"/>
          <p:cNvSpPr txBox="1"/>
          <p:nvPr/>
        </p:nvSpPr>
        <p:spPr>
          <a:xfrm>
            <a:off x="11274552" y="6473952"/>
            <a:ext cx="548640" cy="274320"/>
          </a:xfrm>
          <a:prstGeom prst="rect">
            <a:avLst/>
          </a:prstGeom>
          <a:noFill/>
          <a:ln/>
        </p:spPr>
        <p:txBody>
          <a:bodyPr wrap="square" rtlCol="0" anchor="ctr"/>
          <a:lstStyle/>
          <a:p>
            <a:pPr marL="0" indent="0" algn="r">
              <a:buNone/>
            </a:pPr>
            <a:r>
              <a:rPr lang="en-US" sz="900" dirty="0">
                <a:solidFill>
                  <a:srgbClr val="5A6B7B"/>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292608"/>
          </a:xfrm>
          <a:prstGeom prst="rect">
            <a:avLst/>
          </a:prstGeom>
          <a:noFill/>
          <a:ln/>
        </p:spPr>
        <p:txBody>
          <a:bodyPr wrap="square" rtlCol="0" anchor="ctr"/>
          <a:lstStyle/>
          <a:p>
            <a:pPr marL="0" indent="0">
              <a:buNone/>
            </a:pPr>
            <a:r>
              <a:rPr lang="en-US" sz="1400" b="1" kern="0" spc="200" dirty="0">
                <a:solidFill>
                  <a:srgbClr val="F4A300"/>
                </a:solidFill>
                <a:latin typeface="Calibri" pitchFamily="34" charset="0"/>
                <a:ea typeface="Calibri" pitchFamily="34" charset="-122"/>
                <a:cs typeface="Calibri" pitchFamily="34" charset="-120"/>
              </a:rPr>
              <a:t>ANALYSIS AND DISCUSSION</a:t>
            </a:r>
            <a:endParaRPr lang="en-US" sz="1400" dirty="0"/>
          </a:p>
        </p:txBody>
      </p:sp>
      <p:sp>
        <p:nvSpPr>
          <p:cNvPr id="3" name="Text 1"/>
          <p:cNvSpPr txBox="1"/>
          <p:nvPr/>
        </p:nvSpPr>
        <p:spPr>
          <a:xfrm>
            <a:off x="548640" y="658368"/>
            <a:ext cx="10607040" cy="731520"/>
          </a:xfrm>
          <a:prstGeom prst="rect">
            <a:avLst/>
          </a:prstGeom>
          <a:noFill/>
          <a:ln/>
        </p:spPr>
        <p:txBody>
          <a:bodyPr wrap="square" rtlCol="0" anchor="ctr"/>
          <a:lstStyle/>
          <a:p>
            <a:pPr marL="0" indent="0">
              <a:buNone/>
            </a:pPr>
            <a:r>
              <a:rPr lang="en-US" sz="2200" b="1" dirty="0">
                <a:solidFill>
                  <a:srgbClr val="0B2545"/>
                </a:solidFill>
                <a:latin typeface="Cambria" pitchFamily="34" charset="0"/>
                <a:ea typeface="Cambria" pitchFamily="34" charset="-122"/>
                <a:cs typeface="Cambria" pitchFamily="34" charset="-120"/>
              </a:rPr>
              <a:t>Monthly Consumption and Outage Comparison</a:t>
            </a:r>
            <a:endParaRPr lang="en-US" sz="2200" dirty="0"/>
          </a:p>
        </p:txBody>
      </p:sp>
      <p:sp>
        <p:nvSpPr>
          <p:cNvPr id="4" name="Text 2"/>
          <p:cNvSpPr txBox="1"/>
          <p:nvPr/>
        </p:nvSpPr>
        <p:spPr>
          <a:xfrm>
            <a:off x="548640" y="1417320"/>
            <a:ext cx="5212080" cy="320040"/>
          </a:xfrm>
          <a:prstGeom prst="rect">
            <a:avLst/>
          </a:prstGeom>
          <a:noFill/>
          <a:ln/>
        </p:spPr>
        <p:txBody>
          <a:bodyPr wrap="square"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Monthly Consumption (Jan–Jun)</a:t>
            </a:r>
            <a:endParaRPr lang="en-US" sz="1400" dirty="0"/>
          </a:p>
        </p:txBody>
      </p:sp>
      <p:graphicFrame>
        <p:nvGraphicFramePr>
          <p:cNvPr id="5" name="Chart 0"/>
          <p:cNvGraphicFramePr/>
          <p:nvPr>
            <p:extLst>
              <p:ext uri="{D42A27DB-BD31-4B8C-83A1-F6EECF244321}">
                <p14:modId xmlns:p14="http://schemas.microsoft.com/office/powerpoint/2010/main" val="4178102399"/>
              </p:ext>
            </p:extLst>
          </p:nvPr>
        </p:nvGraphicFramePr>
        <p:xfrm>
          <a:off x="548640" y="1828800"/>
          <a:ext cx="5547360" cy="384048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txBox="1"/>
          <p:nvPr/>
        </p:nvSpPr>
        <p:spPr>
          <a:xfrm>
            <a:off x="6263640" y="1417320"/>
            <a:ext cx="5394960" cy="320040"/>
          </a:xfrm>
          <a:prstGeom prst="rect">
            <a:avLst/>
          </a:prstGeom>
          <a:noFill/>
          <a:ln/>
        </p:spPr>
        <p:txBody>
          <a:bodyPr wrap="square"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          Consumption versus Outage Exposure</a:t>
            </a:r>
            <a:endParaRPr lang="en-US" sz="1400" dirty="0"/>
          </a:p>
        </p:txBody>
      </p:sp>
      <p:graphicFrame>
        <p:nvGraphicFramePr>
          <p:cNvPr id="7" name="Chart 1"/>
          <p:cNvGraphicFramePr/>
          <p:nvPr>
            <p:extLst>
              <p:ext uri="{D42A27DB-BD31-4B8C-83A1-F6EECF244321}">
                <p14:modId xmlns:p14="http://schemas.microsoft.com/office/powerpoint/2010/main" val="4146473986"/>
              </p:ext>
            </p:extLst>
          </p:nvPr>
        </p:nvGraphicFramePr>
        <p:xfrm>
          <a:off x="6720840" y="1828800"/>
          <a:ext cx="4922520" cy="3840480"/>
        </p:xfrm>
        <a:graphic>
          <a:graphicData uri="http://schemas.openxmlformats.org/drawingml/2006/chart">
            <c:chart xmlns:c="http://schemas.openxmlformats.org/drawingml/2006/chart" xmlns:r="http://schemas.openxmlformats.org/officeDocument/2006/relationships" r:id="rId4"/>
          </a:graphicData>
        </a:graphic>
      </p:graphicFrame>
      <p:sp>
        <p:nvSpPr>
          <p:cNvPr id="8" name="Text 4"/>
          <p:cNvSpPr txBox="1"/>
          <p:nvPr/>
        </p:nvSpPr>
        <p:spPr>
          <a:xfrm>
            <a:off x="6720840" y="5715000"/>
            <a:ext cx="4937760" cy="594360"/>
          </a:xfrm>
          <a:prstGeom prst="rect">
            <a:avLst/>
          </a:prstGeom>
          <a:noFill/>
          <a:ln/>
        </p:spPr>
        <p:txBody>
          <a:bodyPr wrap="square" rtlCol="0" anchor="ctr"/>
          <a:lstStyle/>
          <a:p>
            <a:pPr marL="0" indent="0">
              <a:lnSpc>
                <a:spcPct val="115000"/>
              </a:lnSpc>
              <a:buNone/>
            </a:pPr>
            <a:r>
              <a:rPr lang="en-US" sz="1200" b="1" dirty="0">
                <a:solidFill>
                  <a:srgbClr val="5A6B7B"/>
                </a:solidFill>
                <a:latin typeface="Calibri" pitchFamily="34" charset="0"/>
                <a:ea typeface="Calibri" pitchFamily="34" charset="-122"/>
                <a:cs typeface="Calibri" pitchFamily="34" charset="-120"/>
              </a:rPr>
              <a:t>Low-outage customers average 2,152 kWh vs. 898.67 kWh for high-outage customers  higher outage exposure corresponds with lower recorded consumption</a:t>
            </a:r>
            <a:r>
              <a:rPr lang="en-US" sz="900" b="1" i="1" dirty="0">
                <a:solidFill>
                  <a:srgbClr val="5A6B7B"/>
                </a:solidFill>
                <a:latin typeface="Calibri" pitchFamily="34" charset="0"/>
                <a:ea typeface="Calibri" pitchFamily="34" charset="-122"/>
                <a:cs typeface="Calibri" pitchFamily="34" charset="-120"/>
              </a:rPr>
              <a:t>.</a:t>
            </a:r>
            <a:endParaRPr lang="en-US" sz="900" b="1" dirty="0"/>
          </a:p>
        </p:txBody>
      </p:sp>
      <p:sp>
        <p:nvSpPr>
          <p:cNvPr id="9" name="Text 5"/>
          <p:cNvSpPr txBox="1"/>
          <p:nvPr/>
        </p:nvSpPr>
        <p:spPr>
          <a:xfrm>
            <a:off x="457200" y="6473952"/>
            <a:ext cx="7315200" cy="274320"/>
          </a:xfrm>
          <a:prstGeom prst="rect">
            <a:avLst/>
          </a:prstGeom>
          <a:noFill/>
          <a:ln/>
        </p:spPr>
        <p:txBody>
          <a:bodyPr wrap="square" rtlCol="0" anchor="ctr"/>
          <a:lstStyle/>
          <a:p>
            <a:pPr marL="0" indent="0">
              <a:buNone/>
            </a:pPr>
            <a:r>
              <a:rPr lang="en-US" sz="900" dirty="0">
                <a:solidFill>
                  <a:srgbClr val="5A6B7B"/>
                </a:solidFill>
                <a:latin typeface="Calibri" pitchFamily="34" charset="0"/>
                <a:ea typeface="Calibri" pitchFamily="34" charset="-122"/>
                <a:cs typeface="Calibri" pitchFamily="34" charset="-120"/>
              </a:rPr>
              <a:t>ENERGY CONSUMPTION ANALYSIS SYSTEM  •  TEAM A</a:t>
            </a:r>
            <a:endParaRPr lang="en-US" sz="900" dirty="0"/>
          </a:p>
        </p:txBody>
      </p:sp>
      <p:sp>
        <p:nvSpPr>
          <p:cNvPr id="10" name="Text 6"/>
          <p:cNvSpPr txBox="1"/>
          <p:nvPr/>
        </p:nvSpPr>
        <p:spPr>
          <a:xfrm>
            <a:off x="11274552" y="6473952"/>
            <a:ext cx="548640" cy="274320"/>
          </a:xfrm>
          <a:prstGeom prst="rect">
            <a:avLst/>
          </a:prstGeom>
          <a:noFill/>
          <a:ln/>
        </p:spPr>
        <p:txBody>
          <a:bodyPr wrap="square" rtlCol="0" anchor="ctr"/>
          <a:lstStyle/>
          <a:p>
            <a:pPr marL="0" indent="0" algn="r">
              <a:buNone/>
            </a:pPr>
            <a:r>
              <a:rPr lang="en-US" sz="900" dirty="0">
                <a:solidFill>
                  <a:srgbClr val="5A6B7B"/>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2545"/>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292608"/>
          </a:xfrm>
          <a:prstGeom prst="rect">
            <a:avLst/>
          </a:prstGeom>
          <a:noFill/>
          <a:ln/>
        </p:spPr>
        <p:txBody>
          <a:bodyPr wrap="square" rtlCol="0" anchor="ctr"/>
          <a:lstStyle/>
          <a:p>
            <a:pPr marL="0" indent="0">
              <a:buNone/>
            </a:pPr>
            <a:r>
              <a:rPr lang="en-US" sz="1200" b="1" kern="0" spc="200" dirty="0">
                <a:solidFill>
                  <a:srgbClr val="F4A300"/>
                </a:solidFill>
                <a:latin typeface="Calibri" pitchFamily="34" charset="0"/>
                <a:ea typeface="Calibri" pitchFamily="34" charset="-122"/>
                <a:cs typeface="Calibri" pitchFamily="34" charset="-120"/>
              </a:rPr>
              <a:t>SECTION 7</a:t>
            </a:r>
            <a:endParaRPr lang="en-US" sz="1200" dirty="0"/>
          </a:p>
        </p:txBody>
      </p:sp>
      <p:sp>
        <p:nvSpPr>
          <p:cNvPr id="3" name="Text 1"/>
          <p:cNvSpPr txBox="1"/>
          <p:nvPr/>
        </p:nvSpPr>
        <p:spPr>
          <a:xfrm>
            <a:off x="548640" y="658368"/>
            <a:ext cx="10607040" cy="73152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Research Findings</a:t>
            </a:r>
            <a:endParaRPr lang="en-US" sz="3000" dirty="0"/>
          </a:p>
        </p:txBody>
      </p:sp>
      <p:sp>
        <p:nvSpPr>
          <p:cNvPr id="4" name="Text 2"/>
          <p:cNvSpPr txBox="1"/>
          <p:nvPr/>
        </p:nvSpPr>
        <p:spPr>
          <a:xfrm>
            <a:off x="548640" y="1371600"/>
            <a:ext cx="10881360" cy="365760"/>
          </a:xfrm>
          <a:prstGeom prst="rect">
            <a:avLst/>
          </a:prstGeom>
          <a:noFill/>
          <a:ln/>
        </p:spPr>
        <p:txBody>
          <a:bodyPr wrap="square" rtlCol="0" anchor="ctr"/>
          <a:lstStyle/>
          <a:p>
            <a:pPr marL="0" indent="0">
              <a:buNone/>
            </a:pPr>
            <a:r>
              <a:rPr lang="en-US" sz="1400" i="1" dirty="0">
                <a:solidFill>
                  <a:srgbClr val="CADCFC"/>
                </a:solidFill>
                <a:latin typeface="Calibri" pitchFamily="34" charset="0"/>
                <a:ea typeface="Calibri" pitchFamily="34" charset="-122"/>
                <a:cs typeface="Calibri" pitchFamily="34" charset="-120"/>
              </a:rPr>
              <a:t>The dataset shows noticeable differences across locations, individual customers, customer types and months:</a:t>
            </a:r>
            <a:endParaRPr lang="en-US" sz="1400" dirty="0"/>
          </a:p>
        </p:txBody>
      </p:sp>
      <p:sp>
        <p:nvSpPr>
          <p:cNvPr id="5" name="Shape 3"/>
          <p:cNvSpPr/>
          <p:nvPr/>
        </p:nvSpPr>
        <p:spPr>
          <a:xfrm>
            <a:off x="548640" y="1965960"/>
            <a:ext cx="457200" cy="457200"/>
          </a:xfrm>
          <a:prstGeom prst="ellipse">
            <a:avLst/>
          </a:prstGeom>
          <a:solidFill>
            <a:srgbClr val="F4A300"/>
          </a:solidFill>
          <a:ln/>
        </p:spPr>
        <p:txBody>
          <a:bodyPr/>
          <a:lstStyle/>
          <a:p>
            <a:endParaRPr lang="en-NG"/>
          </a:p>
        </p:txBody>
      </p:sp>
      <p:pic>
        <p:nvPicPr>
          <p:cNvPr id="6" name="Image 0" descr="icons/industry_0B2545.png"/>
          <p:cNvPicPr>
            <a:picLocks noChangeAspect="1"/>
          </p:cNvPicPr>
          <p:nvPr/>
        </p:nvPicPr>
        <p:blipFill>
          <a:blip r:embed="rId3"/>
          <a:stretch>
            <a:fillRect/>
          </a:stretch>
        </p:blipFill>
        <p:spPr>
          <a:xfrm>
            <a:off x="667512" y="2084832"/>
            <a:ext cx="219456" cy="219456"/>
          </a:xfrm>
          <a:prstGeom prst="rect">
            <a:avLst/>
          </a:prstGeom>
        </p:spPr>
      </p:pic>
      <p:sp>
        <p:nvSpPr>
          <p:cNvPr id="7" name="Text 4"/>
          <p:cNvSpPr txBox="1"/>
          <p:nvPr/>
        </p:nvSpPr>
        <p:spPr>
          <a:xfrm>
            <a:off x="1188720" y="1929384"/>
            <a:ext cx="10424160" cy="32004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Industrial customers account for the largest share of consumption</a:t>
            </a:r>
            <a:endParaRPr lang="en-US" sz="1400" dirty="0"/>
          </a:p>
        </p:txBody>
      </p:sp>
      <p:sp>
        <p:nvSpPr>
          <p:cNvPr id="8" name="Text 5"/>
          <p:cNvSpPr txBox="1"/>
          <p:nvPr/>
        </p:nvSpPr>
        <p:spPr>
          <a:xfrm>
            <a:off x="1188720" y="2221992"/>
            <a:ext cx="10424160" cy="411480"/>
          </a:xfrm>
          <a:prstGeom prst="rect">
            <a:avLst/>
          </a:prstGeom>
          <a:noFill/>
          <a:ln/>
        </p:spPr>
        <p:txBody>
          <a:bodyPr wrap="square" rtlCol="0" anchor="ctr"/>
          <a:lstStyle/>
          <a:p>
            <a:pPr marL="0" indent="0">
              <a:lnSpc>
                <a:spcPct val="110000"/>
              </a:lnSpc>
              <a:buNone/>
            </a:pPr>
            <a:r>
              <a:rPr lang="en-US" sz="1200" dirty="0">
                <a:solidFill>
                  <a:srgbClr val="CADCFC"/>
                </a:solidFill>
                <a:latin typeface="Calibri" pitchFamily="34" charset="0"/>
                <a:ea typeface="Calibri" pitchFamily="34" charset="-122"/>
                <a:cs typeface="Calibri" pitchFamily="34" charset="-120"/>
              </a:rPr>
              <a:t>9,600 of 24,240 kWh (about 40%) from just 3 records — confirming industrial load concentration</a:t>
            </a:r>
            <a:r>
              <a:rPr lang="en-US" sz="1080" dirty="0">
                <a:solidFill>
                  <a:srgbClr val="CADCFC"/>
                </a:solidFill>
                <a:latin typeface="Calibri" pitchFamily="34" charset="0"/>
                <a:ea typeface="Calibri" pitchFamily="34" charset="-122"/>
                <a:cs typeface="Calibri" pitchFamily="34" charset="-120"/>
              </a:rPr>
              <a:t>.</a:t>
            </a:r>
            <a:endParaRPr lang="en-US" sz="1080" dirty="0"/>
          </a:p>
        </p:txBody>
      </p:sp>
      <p:sp>
        <p:nvSpPr>
          <p:cNvPr id="9" name="Shape 6"/>
          <p:cNvSpPr/>
          <p:nvPr/>
        </p:nvSpPr>
        <p:spPr>
          <a:xfrm>
            <a:off x="548640" y="2862072"/>
            <a:ext cx="457200" cy="457200"/>
          </a:xfrm>
          <a:prstGeom prst="ellipse">
            <a:avLst/>
          </a:prstGeom>
          <a:solidFill>
            <a:srgbClr val="F4A300"/>
          </a:solidFill>
          <a:ln/>
        </p:spPr>
        <p:txBody>
          <a:bodyPr/>
          <a:lstStyle/>
          <a:p>
            <a:endParaRPr lang="en-NG"/>
          </a:p>
        </p:txBody>
      </p:sp>
      <p:pic>
        <p:nvPicPr>
          <p:cNvPr id="10" name="Image 1" descr="icons/alert_0B2545.png"/>
          <p:cNvPicPr>
            <a:picLocks noChangeAspect="1"/>
          </p:cNvPicPr>
          <p:nvPr/>
        </p:nvPicPr>
        <p:blipFill>
          <a:blip r:embed="rId4"/>
          <a:stretch>
            <a:fillRect/>
          </a:stretch>
        </p:blipFill>
        <p:spPr>
          <a:xfrm>
            <a:off x="667512" y="2980944"/>
            <a:ext cx="219456" cy="219456"/>
          </a:xfrm>
          <a:prstGeom prst="rect">
            <a:avLst/>
          </a:prstGeom>
        </p:spPr>
      </p:pic>
      <p:sp>
        <p:nvSpPr>
          <p:cNvPr id="11" name="Text 7"/>
          <p:cNvSpPr txBox="1"/>
          <p:nvPr/>
        </p:nvSpPr>
        <p:spPr>
          <a:xfrm>
            <a:off x="1188720" y="2825496"/>
            <a:ext cx="10424160" cy="32004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A small group of high-volume customers drives most attention flags</a:t>
            </a:r>
            <a:endParaRPr lang="en-US" sz="1400" dirty="0"/>
          </a:p>
        </p:txBody>
      </p:sp>
      <p:sp>
        <p:nvSpPr>
          <p:cNvPr id="12" name="Text 8"/>
          <p:cNvSpPr txBox="1"/>
          <p:nvPr/>
        </p:nvSpPr>
        <p:spPr>
          <a:xfrm>
            <a:off x="1188720" y="3118104"/>
            <a:ext cx="10424160" cy="411480"/>
          </a:xfrm>
          <a:prstGeom prst="rect">
            <a:avLst/>
          </a:prstGeom>
          <a:noFill/>
          <a:ln/>
        </p:spPr>
        <p:txBody>
          <a:bodyPr wrap="square" rtlCol="0" anchor="ctr"/>
          <a:lstStyle/>
          <a:p>
            <a:pPr marL="0" indent="0">
              <a:lnSpc>
                <a:spcPct val="110000"/>
              </a:lnSpc>
              <a:buNone/>
            </a:pPr>
            <a:r>
              <a:rPr lang="en-US" sz="1200" dirty="0">
                <a:solidFill>
                  <a:srgbClr val="CADCFC"/>
                </a:solidFill>
                <a:latin typeface="Calibri" pitchFamily="34" charset="0"/>
                <a:ea typeface="Calibri" pitchFamily="34" charset="-122"/>
                <a:cs typeface="Calibri" pitchFamily="34" charset="-120"/>
              </a:rPr>
              <a:t>All 4 flagged customers are Industrial or SME; none are Residential, Hospital, School, or Agricultural.</a:t>
            </a:r>
            <a:endParaRPr lang="en-US" sz="1200" dirty="0"/>
          </a:p>
        </p:txBody>
      </p:sp>
      <p:sp>
        <p:nvSpPr>
          <p:cNvPr id="13" name="Shape 9"/>
          <p:cNvSpPr/>
          <p:nvPr/>
        </p:nvSpPr>
        <p:spPr>
          <a:xfrm>
            <a:off x="548640" y="3758184"/>
            <a:ext cx="457200" cy="457200"/>
          </a:xfrm>
          <a:prstGeom prst="ellipse">
            <a:avLst/>
          </a:prstGeom>
          <a:solidFill>
            <a:srgbClr val="F4A300"/>
          </a:solidFill>
          <a:ln/>
        </p:spPr>
        <p:txBody>
          <a:bodyPr/>
          <a:lstStyle/>
          <a:p>
            <a:endParaRPr lang="en-NG"/>
          </a:p>
        </p:txBody>
      </p:sp>
      <p:pic>
        <p:nvPicPr>
          <p:cNvPr id="14" name="Image 2" descr="icons/pin_0B2545.png"/>
          <p:cNvPicPr>
            <a:picLocks noChangeAspect="1"/>
          </p:cNvPicPr>
          <p:nvPr/>
        </p:nvPicPr>
        <p:blipFill>
          <a:blip r:embed="rId5"/>
          <a:stretch>
            <a:fillRect/>
          </a:stretch>
        </p:blipFill>
        <p:spPr>
          <a:xfrm>
            <a:off x="667512" y="3877056"/>
            <a:ext cx="219456" cy="219456"/>
          </a:xfrm>
          <a:prstGeom prst="rect">
            <a:avLst/>
          </a:prstGeom>
        </p:spPr>
      </p:pic>
      <p:sp>
        <p:nvSpPr>
          <p:cNvPr id="15" name="Text 10"/>
          <p:cNvSpPr txBox="1"/>
          <p:nvPr/>
        </p:nvSpPr>
        <p:spPr>
          <a:xfrm>
            <a:off x="1188720" y="3721608"/>
            <a:ext cx="10424160" cy="32004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Lagos leads, but not by a wide margin</a:t>
            </a:r>
            <a:endParaRPr lang="en-US" sz="1400" dirty="0"/>
          </a:p>
        </p:txBody>
      </p:sp>
      <p:sp>
        <p:nvSpPr>
          <p:cNvPr id="16" name="Text 11"/>
          <p:cNvSpPr txBox="1"/>
          <p:nvPr/>
        </p:nvSpPr>
        <p:spPr>
          <a:xfrm>
            <a:off x="1188720" y="4014216"/>
            <a:ext cx="10424160" cy="411480"/>
          </a:xfrm>
          <a:prstGeom prst="rect">
            <a:avLst/>
          </a:prstGeom>
          <a:noFill/>
          <a:ln/>
        </p:spPr>
        <p:txBody>
          <a:bodyPr wrap="square" rtlCol="0" anchor="ctr"/>
          <a:lstStyle/>
          <a:p>
            <a:pPr marL="0" indent="0">
              <a:lnSpc>
                <a:spcPct val="110000"/>
              </a:lnSpc>
              <a:buNone/>
            </a:pPr>
            <a:r>
              <a:rPr lang="en-US" sz="1400" dirty="0">
                <a:solidFill>
                  <a:srgbClr val="CADCFC"/>
                </a:solidFill>
                <a:latin typeface="Calibri" pitchFamily="34" charset="0"/>
                <a:ea typeface="Calibri" pitchFamily="34" charset="-122"/>
                <a:cs typeface="Calibri" pitchFamily="34" charset="-120"/>
              </a:rPr>
              <a:t>9,760 kWh vs. Abuja's 8,090 and Ibadan's 6,390 — demand is fairly distributed, not concentrated in one location</a:t>
            </a:r>
            <a:r>
              <a:rPr lang="en-US" sz="1080" dirty="0">
                <a:solidFill>
                  <a:srgbClr val="CADCFC"/>
                </a:solidFill>
                <a:latin typeface="Calibri" pitchFamily="34" charset="0"/>
                <a:ea typeface="Calibri" pitchFamily="34" charset="-122"/>
                <a:cs typeface="Calibri" pitchFamily="34" charset="-120"/>
              </a:rPr>
              <a:t>.</a:t>
            </a:r>
            <a:endParaRPr lang="en-US" sz="1080" dirty="0"/>
          </a:p>
        </p:txBody>
      </p:sp>
      <p:sp>
        <p:nvSpPr>
          <p:cNvPr id="17" name="Shape 12"/>
          <p:cNvSpPr/>
          <p:nvPr/>
        </p:nvSpPr>
        <p:spPr>
          <a:xfrm>
            <a:off x="548640" y="4654296"/>
            <a:ext cx="457200" cy="457200"/>
          </a:xfrm>
          <a:prstGeom prst="ellipse">
            <a:avLst/>
          </a:prstGeom>
          <a:solidFill>
            <a:srgbClr val="F4A300"/>
          </a:solidFill>
          <a:ln/>
        </p:spPr>
        <p:txBody>
          <a:bodyPr/>
          <a:lstStyle/>
          <a:p>
            <a:endParaRPr lang="en-NG"/>
          </a:p>
        </p:txBody>
      </p:sp>
      <p:pic>
        <p:nvPicPr>
          <p:cNvPr id="18" name="Image 3" descr="icons/calendar_0B2545.png"/>
          <p:cNvPicPr>
            <a:picLocks noChangeAspect="1"/>
          </p:cNvPicPr>
          <p:nvPr/>
        </p:nvPicPr>
        <p:blipFill>
          <a:blip r:embed="rId6"/>
          <a:stretch>
            <a:fillRect/>
          </a:stretch>
        </p:blipFill>
        <p:spPr>
          <a:xfrm>
            <a:off x="667512" y="4773168"/>
            <a:ext cx="219456" cy="219456"/>
          </a:xfrm>
          <a:prstGeom prst="rect">
            <a:avLst/>
          </a:prstGeom>
        </p:spPr>
      </p:pic>
      <p:sp>
        <p:nvSpPr>
          <p:cNvPr id="19" name="Text 13"/>
          <p:cNvSpPr txBox="1"/>
          <p:nvPr/>
        </p:nvSpPr>
        <p:spPr>
          <a:xfrm>
            <a:off x="1188720" y="4617720"/>
            <a:ext cx="10424160" cy="32004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Monthly consumption shows no clean trend</a:t>
            </a:r>
            <a:endParaRPr lang="en-US" sz="1400" dirty="0"/>
          </a:p>
        </p:txBody>
      </p:sp>
      <p:sp>
        <p:nvSpPr>
          <p:cNvPr id="20" name="Text 14"/>
          <p:cNvSpPr txBox="1"/>
          <p:nvPr/>
        </p:nvSpPr>
        <p:spPr>
          <a:xfrm>
            <a:off x="1188720" y="4910328"/>
            <a:ext cx="10424160" cy="411480"/>
          </a:xfrm>
          <a:prstGeom prst="rect">
            <a:avLst/>
          </a:prstGeom>
          <a:noFill/>
          <a:ln/>
        </p:spPr>
        <p:txBody>
          <a:bodyPr wrap="square" rtlCol="0" anchor="ctr"/>
          <a:lstStyle/>
          <a:p>
            <a:pPr marL="0" indent="0">
              <a:lnSpc>
                <a:spcPct val="110000"/>
              </a:lnSpc>
              <a:buNone/>
            </a:pPr>
            <a:r>
              <a:rPr lang="en-US" sz="1200" dirty="0">
                <a:solidFill>
                  <a:srgbClr val="CADCFC"/>
                </a:solidFill>
                <a:latin typeface="Calibri" pitchFamily="34" charset="0"/>
                <a:ea typeface="Calibri" pitchFamily="34" charset="-122"/>
                <a:cs typeface="Calibri" pitchFamily="34" charset="-120"/>
              </a:rPr>
              <a:t>It rises and falls (Jan 2,580 → Feb 1,940 → Mar 6,050 → Apr 2,200 → May 3,750 → Jun 7,720), likely reflecting which customers fell in each month</a:t>
            </a:r>
            <a:r>
              <a:rPr lang="en-US" sz="1080" dirty="0">
                <a:solidFill>
                  <a:srgbClr val="CADCFC"/>
                </a:solidFill>
                <a:latin typeface="Calibri" pitchFamily="34" charset="0"/>
                <a:ea typeface="Calibri" pitchFamily="34" charset="-122"/>
                <a:cs typeface="Calibri" pitchFamily="34" charset="-120"/>
              </a:rPr>
              <a:t>.</a:t>
            </a:r>
            <a:endParaRPr lang="en-US" sz="1080" dirty="0"/>
          </a:p>
        </p:txBody>
      </p:sp>
      <p:sp>
        <p:nvSpPr>
          <p:cNvPr id="21" name="Shape 15"/>
          <p:cNvSpPr/>
          <p:nvPr/>
        </p:nvSpPr>
        <p:spPr>
          <a:xfrm>
            <a:off x="548640" y="5550408"/>
            <a:ext cx="457200" cy="457200"/>
          </a:xfrm>
          <a:prstGeom prst="ellipse">
            <a:avLst/>
          </a:prstGeom>
          <a:solidFill>
            <a:srgbClr val="F4A300"/>
          </a:solidFill>
          <a:ln/>
        </p:spPr>
        <p:txBody>
          <a:bodyPr/>
          <a:lstStyle/>
          <a:p>
            <a:endParaRPr lang="en-NG"/>
          </a:p>
        </p:txBody>
      </p:sp>
      <p:pic>
        <p:nvPicPr>
          <p:cNvPr id="22" name="Image 4" descr="icons/scale_0B2545.png"/>
          <p:cNvPicPr>
            <a:picLocks noChangeAspect="1"/>
          </p:cNvPicPr>
          <p:nvPr/>
        </p:nvPicPr>
        <p:blipFill>
          <a:blip r:embed="rId7"/>
          <a:stretch>
            <a:fillRect/>
          </a:stretch>
        </p:blipFill>
        <p:spPr>
          <a:xfrm>
            <a:off x="667512" y="5669280"/>
            <a:ext cx="219456" cy="219456"/>
          </a:xfrm>
          <a:prstGeom prst="rect">
            <a:avLst/>
          </a:prstGeom>
        </p:spPr>
      </p:pic>
      <p:sp>
        <p:nvSpPr>
          <p:cNvPr id="23" name="Text 16"/>
          <p:cNvSpPr txBox="1"/>
          <p:nvPr/>
        </p:nvSpPr>
        <p:spPr>
          <a:xfrm>
            <a:off x="1188720" y="5513832"/>
            <a:ext cx="10424160" cy="32004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Classification and attention risk aren't the same thing</a:t>
            </a:r>
            <a:endParaRPr lang="en-US" sz="1400" dirty="0"/>
          </a:p>
        </p:txBody>
      </p:sp>
      <p:sp>
        <p:nvSpPr>
          <p:cNvPr id="24" name="Text 17"/>
          <p:cNvSpPr txBox="1"/>
          <p:nvPr/>
        </p:nvSpPr>
        <p:spPr>
          <a:xfrm>
            <a:off x="1188720" y="5806440"/>
            <a:ext cx="10424160" cy="411480"/>
          </a:xfrm>
          <a:prstGeom prst="rect">
            <a:avLst/>
          </a:prstGeom>
          <a:noFill/>
          <a:ln/>
        </p:spPr>
        <p:txBody>
          <a:bodyPr wrap="square" rtlCol="0" anchor="ctr"/>
          <a:lstStyle/>
          <a:p>
            <a:pPr marL="0" indent="0">
              <a:lnSpc>
                <a:spcPct val="110000"/>
              </a:lnSpc>
              <a:buNone/>
            </a:pPr>
            <a:r>
              <a:rPr lang="en-US" sz="1200" dirty="0">
                <a:solidFill>
                  <a:srgbClr val="CADCFC"/>
                </a:solidFill>
                <a:latin typeface="Calibri" pitchFamily="34" charset="0"/>
                <a:ea typeface="Calibri" pitchFamily="34" charset="-122"/>
                <a:cs typeface="Calibri" pitchFamily="34" charset="-120"/>
              </a:rPr>
              <a:t>9 of 20 customers are High consumption, but only 4 of those 9 are flagged for attention — the two rules catch different things.</a:t>
            </a:r>
            <a:endParaRPr lang="en-US" sz="1200" dirty="0"/>
          </a:p>
        </p:txBody>
      </p:sp>
      <p:sp>
        <p:nvSpPr>
          <p:cNvPr id="25" name="Text 18"/>
          <p:cNvSpPr txBox="1"/>
          <p:nvPr/>
        </p:nvSpPr>
        <p:spPr>
          <a:xfrm>
            <a:off x="457200" y="6473952"/>
            <a:ext cx="7315200" cy="274320"/>
          </a:xfrm>
          <a:prstGeom prst="rect">
            <a:avLst/>
          </a:prstGeom>
          <a:noFill/>
          <a:ln/>
        </p:spPr>
        <p:txBody>
          <a:bodyPr wrap="square" rtlCol="0" anchor="ctr"/>
          <a:lstStyle/>
          <a:p>
            <a:pPr marL="0" indent="0">
              <a:buNone/>
            </a:pPr>
            <a:r>
              <a:rPr lang="en-US" sz="900" dirty="0">
                <a:solidFill>
                  <a:srgbClr val="5A6B7B"/>
                </a:solidFill>
                <a:latin typeface="Calibri" pitchFamily="34" charset="0"/>
                <a:ea typeface="Calibri" pitchFamily="34" charset="-122"/>
                <a:cs typeface="Calibri" pitchFamily="34" charset="-120"/>
              </a:rPr>
              <a:t>ENERGY CONSUMPTION ANALYSIS SYSTEM.</a:t>
            </a:r>
            <a:endParaRPr lang="en-US" sz="900" dirty="0"/>
          </a:p>
        </p:txBody>
      </p:sp>
      <p:sp>
        <p:nvSpPr>
          <p:cNvPr id="26" name="Text 19"/>
          <p:cNvSpPr txBox="1"/>
          <p:nvPr/>
        </p:nvSpPr>
        <p:spPr>
          <a:xfrm>
            <a:off x="11274552" y="6473952"/>
            <a:ext cx="548640" cy="274320"/>
          </a:xfrm>
          <a:prstGeom prst="rect">
            <a:avLst/>
          </a:prstGeom>
          <a:noFill/>
          <a:ln/>
        </p:spPr>
        <p:txBody>
          <a:bodyPr wrap="square" rtlCol="0" anchor="ctr"/>
          <a:lstStyle/>
          <a:p>
            <a:pPr marL="0" indent="0" algn="r">
              <a:buNone/>
            </a:pPr>
            <a:r>
              <a:rPr lang="en-US" sz="900" dirty="0">
                <a:solidFill>
                  <a:srgbClr val="5A6B7B"/>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84048"/>
            <a:ext cx="457200" cy="457200"/>
          </a:xfrm>
          <a:prstGeom prst="ellipse">
            <a:avLst/>
          </a:prstGeom>
          <a:solidFill>
            <a:srgbClr val="0B2545"/>
          </a:solidFill>
          <a:ln/>
        </p:spPr>
        <p:txBody>
          <a:bodyPr/>
          <a:lstStyle/>
          <a:p>
            <a:endParaRPr lang="en-NG"/>
          </a:p>
        </p:txBody>
      </p:sp>
      <p:sp>
        <p:nvSpPr>
          <p:cNvPr id="3" name="Text 1"/>
          <p:cNvSpPr txBox="1"/>
          <p:nvPr/>
        </p:nvSpPr>
        <p:spPr>
          <a:xfrm>
            <a:off x="548640" y="384048"/>
            <a:ext cx="457200" cy="45720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8</a:t>
            </a:r>
            <a:endParaRPr lang="en-US" sz="1800" dirty="0"/>
          </a:p>
        </p:txBody>
      </p:sp>
      <p:sp>
        <p:nvSpPr>
          <p:cNvPr id="4" name="Text 2"/>
          <p:cNvSpPr txBox="1"/>
          <p:nvPr/>
        </p:nvSpPr>
        <p:spPr>
          <a:xfrm>
            <a:off x="548640" y="658368"/>
            <a:ext cx="10607040" cy="731520"/>
          </a:xfrm>
          <a:prstGeom prst="rect">
            <a:avLst/>
          </a:prstGeom>
          <a:noFill/>
          <a:ln/>
        </p:spPr>
        <p:txBody>
          <a:bodyPr wrap="square"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Recommendations</a:t>
            </a:r>
            <a:endParaRPr lang="en-US" sz="3000" dirty="0"/>
          </a:p>
        </p:txBody>
      </p:sp>
      <p:sp>
        <p:nvSpPr>
          <p:cNvPr id="5" name="Text 3"/>
          <p:cNvSpPr txBox="1"/>
          <p:nvPr/>
        </p:nvSpPr>
        <p:spPr>
          <a:xfrm>
            <a:off x="548640" y="1371600"/>
            <a:ext cx="10881360" cy="320040"/>
          </a:xfrm>
          <a:prstGeom prst="rect">
            <a:avLst/>
          </a:prstGeom>
          <a:noFill/>
          <a:ln/>
        </p:spPr>
        <p:txBody>
          <a:bodyPr wrap="square"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Based on the analysis and findings, the following are proposed:</a:t>
            </a:r>
            <a:endParaRPr lang="en-US" sz="1400" dirty="0"/>
          </a:p>
        </p:txBody>
      </p:sp>
      <p:sp>
        <p:nvSpPr>
          <p:cNvPr id="6" name="Shape 4"/>
          <p:cNvSpPr/>
          <p:nvPr/>
        </p:nvSpPr>
        <p:spPr>
          <a:xfrm>
            <a:off x="548640" y="1737360"/>
            <a:ext cx="11064240" cy="530352"/>
          </a:xfrm>
          <a:prstGeom prst="roundRect">
            <a:avLst>
              <a:gd name="adj" fmla="val 10345"/>
            </a:avLst>
          </a:prstGeom>
          <a:solidFill>
            <a:srgbClr val="F7F9FC"/>
          </a:solidFill>
          <a:ln w="12700">
            <a:solidFill>
              <a:srgbClr val="E2E8F0"/>
            </a:solidFill>
            <a:prstDash val="solid"/>
          </a:ln>
        </p:spPr>
        <p:txBody>
          <a:bodyPr/>
          <a:lstStyle/>
          <a:p>
            <a:endParaRPr lang="en-NG"/>
          </a:p>
        </p:txBody>
      </p:sp>
      <p:sp>
        <p:nvSpPr>
          <p:cNvPr id="7" name="Shape 5"/>
          <p:cNvSpPr/>
          <p:nvPr/>
        </p:nvSpPr>
        <p:spPr>
          <a:xfrm>
            <a:off x="694944" y="1801368"/>
            <a:ext cx="402336" cy="402336"/>
          </a:xfrm>
          <a:prstGeom prst="ellipse">
            <a:avLst/>
          </a:prstGeom>
          <a:solidFill>
            <a:srgbClr val="0B2545"/>
          </a:solidFill>
          <a:ln/>
        </p:spPr>
        <p:txBody>
          <a:bodyPr/>
          <a:lstStyle/>
          <a:p>
            <a:endParaRPr lang="en-NG"/>
          </a:p>
        </p:txBody>
      </p:sp>
      <p:pic>
        <p:nvPicPr>
          <p:cNvPr id="8" name="Image 0" descr="icons/bulb_FFFFFF.png"/>
          <p:cNvPicPr>
            <a:picLocks noChangeAspect="1"/>
          </p:cNvPicPr>
          <p:nvPr/>
        </p:nvPicPr>
        <p:blipFill>
          <a:blip r:embed="rId3">
            <a:extLst>
              <a:ext uri="{BEBA8EAE-BF5A-486C-A8C5-ECC9F3942E4B}">
                <a14:imgProps xmlns:a14="http://schemas.microsoft.com/office/drawing/2010/main">
                  <a14:imgLayer r:embed="rId4">
                    <a14:imgEffect>
                      <a14:brightnessContrast bright="100000"/>
                    </a14:imgEffect>
                  </a14:imgLayer>
                </a14:imgProps>
              </a:ext>
            </a:extLst>
          </a:blip>
          <a:stretch>
            <a:fillRect/>
          </a:stretch>
        </p:blipFill>
        <p:spPr>
          <a:xfrm>
            <a:off x="799551" y="1905975"/>
            <a:ext cx="193121" cy="193121"/>
          </a:xfrm>
          <a:prstGeom prst="rect">
            <a:avLst/>
          </a:prstGeom>
        </p:spPr>
      </p:pic>
      <p:sp>
        <p:nvSpPr>
          <p:cNvPr id="9" name="Text 6"/>
          <p:cNvSpPr txBox="1"/>
          <p:nvPr/>
        </p:nvSpPr>
        <p:spPr>
          <a:xfrm>
            <a:off x="1325880" y="1737360"/>
            <a:ext cx="10149840" cy="530352"/>
          </a:xfrm>
          <a:prstGeom prst="rect">
            <a:avLst/>
          </a:prstGeom>
          <a:noFill/>
          <a:ln/>
        </p:spPr>
        <p:txBody>
          <a:bodyPr wrap="square" rtlCol="0" anchor="ctr"/>
          <a:lstStyle/>
          <a:p>
            <a:pPr marL="0" indent="0">
              <a:lnSpc>
                <a:spcPct val="105000"/>
              </a:lnSpc>
              <a:buNone/>
            </a:pPr>
            <a:r>
              <a:rPr lang="en-US" sz="1200" dirty="0">
                <a:solidFill>
                  <a:srgbClr val="0B2545"/>
                </a:solidFill>
                <a:latin typeface="Calibri" pitchFamily="34" charset="0"/>
                <a:ea typeface="Calibri" pitchFamily="34" charset="-122"/>
                <a:cs typeface="Calibri" pitchFamily="34" charset="-120"/>
              </a:rPr>
              <a:t>Promote energy-efficiency practices among high-consuming customers</a:t>
            </a:r>
            <a:r>
              <a:rPr lang="en-US" sz="1100" dirty="0">
                <a:solidFill>
                  <a:srgbClr val="0B2545"/>
                </a:solidFill>
                <a:latin typeface="Calibri" pitchFamily="34" charset="0"/>
                <a:ea typeface="Calibri" pitchFamily="34" charset="-122"/>
                <a:cs typeface="Calibri" pitchFamily="34" charset="-120"/>
              </a:rPr>
              <a:t>.</a:t>
            </a:r>
            <a:endParaRPr lang="en-US" sz="1100" dirty="0"/>
          </a:p>
        </p:txBody>
      </p:sp>
      <p:sp>
        <p:nvSpPr>
          <p:cNvPr id="10" name="Shape 7"/>
          <p:cNvSpPr/>
          <p:nvPr/>
        </p:nvSpPr>
        <p:spPr>
          <a:xfrm>
            <a:off x="548640" y="2359152"/>
            <a:ext cx="11064240" cy="530352"/>
          </a:xfrm>
          <a:prstGeom prst="roundRect">
            <a:avLst>
              <a:gd name="adj" fmla="val 10345"/>
            </a:avLst>
          </a:prstGeom>
          <a:solidFill>
            <a:srgbClr val="F7F9FC"/>
          </a:solidFill>
          <a:ln w="12700">
            <a:solidFill>
              <a:srgbClr val="E2E8F0"/>
            </a:solidFill>
            <a:prstDash val="solid"/>
          </a:ln>
        </p:spPr>
        <p:txBody>
          <a:bodyPr/>
          <a:lstStyle/>
          <a:p>
            <a:endParaRPr lang="en-NG"/>
          </a:p>
        </p:txBody>
      </p:sp>
      <p:sp>
        <p:nvSpPr>
          <p:cNvPr id="11" name="Shape 8"/>
          <p:cNvSpPr/>
          <p:nvPr/>
        </p:nvSpPr>
        <p:spPr>
          <a:xfrm>
            <a:off x="694944" y="2423160"/>
            <a:ext cx="402336" cy="402336"/>
          </a:xfrm>
          <a:prstGeom prst="ellipse">
            <a:avLst/>
          </a:prstGeom>
          <a:solidFill>
            <a:srgbClr val="0B2545"/>
          </a:solidFill>
          <a:ln/>
        </p:spPr>
        <p:txBody>
          <a:bodyPr/>
          <a:lstStyle/>
          <a:p>
            <a:endParaRPr lang="en-NG"/>
          </a:p>
        </p:txBody>
      </p:sp>
      <p:pic>
        <p:nvPicPr>
          <p:cNvPr id="12" name="Image 1" descr="icons/target_FFFFFF.png"/>
          <p:cNvPicPr>
            <a:picLocks noChangeAspect="1"/>
          </p:cNvPicPr>
          <p:nvPr/>
        </p:nvPicPr>
        <p:blipFill>
          <a:blip r:embed="rId5">
            <a:extLst>
              <a:ext uri="{BEBA8EAE-BF5A-486C-A8C5-ECC9F3942E4B}">
                <a14:imgProps xmlns:a14="http://schemas.microsoft.com/office/drawing/2010/main">
                  <a14:imgLayer r:embed="rId6">
                    <a14:imgEffect>
                      <a14:brightnessContrast bright="100000"/>
                    </a14:imgEffect>
                  </a14:imgLayer>
                </a14:imgProps>
              </a:ext>
            </a:extLst>
          </a:blip>
          <a:stretch>
            <a:fillRect/>
          </a:stretch>
        </p:blipFill>
        <p:spPr>
          <a:xfrm>
            <a:off x="799551" y="2527767"/>
            <a:ext cx="193121" cy="193121"/>
          </a:xfrm>
          <a:prstGeom prst="rect">
            <a:avLst/>
          </a:prstGeom>
        </p:spPr>
      </p:pic>
      <p:sp>
        <p:nvSpPr>
          <p:cNvPr id="13" name="Text 9"/>
          <p:cNvSpPr txBox="1"/>
          <p:nvPr/>
        </p:nvSpPr>
        <p:spPr>
          <a:xfrm>
            <a:off x="1325880" y="2359152"/>
            <a:ext cx="10149840" cy="530352"/>
          </a:xfrm>
          <a:prstGeom prst="rect">
            <a:avLst/>
          </a:prstGeom>
          <a:noFill/>
          <a:ln/>
        </p:spPr>
        <p:txBody>
          <a:bodyPr wrap="square" rtlCol="0" anchor="ctr"/>
          <a:lstStyle/>
          <a:p>
            <a:pPr marL="0" indent="0">
              <a:lnSpc>
                <a:spcPct val="105000"/>
              </a:lnSpc>
              <a:buNone/>
            </a:pPr>
            <a:r>
              <a:rPr lang="en-US" sz="1200" dirty="0">
                <a:solidFill>
                  <a:srgbClr val="0B2545"/>
                </a:solidFill>
                <a:latin typeface="Calibri" pitchFamily="34" charset="0"/>
                <a:ea typeface="Calibri" pitchFamily="34" charset="-122"/>
                <a:cs typeface="Calibri" pitchFamily="34" charset="-120"/>
              </a:rPr>
              <a:t>Prioritize the 4 High-Attention customers for efficiency or renewable-integration review</a:t>
            </a:r>
            <a:r>
              <a:rPr lang="en-US" sz="1100" dirty="0">
                <a:solidFill>
                  <a:srgbClr val="0B2545"/>
                </a:solidFill>
                <a:latin typeface="Calibri" pitchFamily="34" charset="0"/>
                <a:ea typeface="Calibri" pitchFamily="34" charset="-122"/>
                <a:cs typeface="Calibri" pitchFamily="34" charset="-120"/>
              </a:rPr>
              <a:t>.</a:t>
            </a:r>
            <a:endParaRPr lang="en-US" sz="1100" dirty="0"/>
          </a:p>
        </p:txBody>
      </p:sp>
      <p:sp>
        <p:nvSpPr>
          <p:cNvPr id="14" name="Shape 10"/>
          <p:cNvSpPr/>
          <p:nvPr/>
        </p:nvSpPr>
        <p:spPr>
          <a:xfrm>
            <a:off x="548640" y="2980944"/>
            <a:ext cx="11064240" cy="530352"/>
          </a:xfrm>
          <a:prstGeom prst="roundRect">
            <a:avLst>
              <a:gd name="adj" fmla="val 10345"/>
            </a:avLst>
          </a:prstGeom>
          <a:solidFill>
            <a:srgbClr val="F7F9FC"/>
          </a:solidFill>
          <a:ln w="12700">
            <a:solidFill>
              <a:srgbClr val="E2E8F0"/>
            </a:solidFill>
            <a:prstDash val="solid"/>
          </a:ln>
        </p:spPr>
        <p:txBody>
          <a:bodyPr/>
          <a:lstStyle/>
          <a:p>
            <a:endParaRPr lang="en-NG"/>
          </a:p>
        </p:txBody>
      </p:sp>
      <p:sp>
        <p:nvSpPr>
          <p:cNvPr id="15" name="Shape 11"/>
          <p:cNvSpPr/>
          <p:nvPr/>
        </p:nvSpPr>
        <p:spPr>
          <a:xfrm>
            <a:off x="694944" y="3044952"/>
            <a:ext cx="402336" cy="402336"/>
          </a:xfrm>
          <a:prstGeom prst="ellipse">
            <a:avLst/>
          </a:prstGeom>
          <a:solidFill>
            <a:srgbClr val="0B2545"/>
          </a:solidFill>
          <a:ln/>
        </p:spPr>
        <p:txBody>
          <a:bodyPr/>
          <a:lstStyle/>
          <a:p>
            <a:endParaRPr lang="en-NG"/>
          </a:p>
        </p:txBody>
      </p:sp>
      <p:pic>
        <p:nvPicPr>
          <p:cNvPr id="16" name="Image 2" descr="icons/calendar_FFFFFF.png"/>
          <p:cNvPicPr>
            <a:picLocks noChangeAspect="1"/>
          </p:cNvPicPr>
          <p:nvPr/>
        </p:nvPicPr>
        <p:blipFill>
          <a:blip r:embed="rId7">
            <a:extLst>
              <a:ext uri="{BEBA8EAE-BF5A-486C-A8C5-ECC9F3942E4B}">
                <a14:imgProps xmlns:a14="http://schemas.microsoft.com/office/drawing/2010/main">
                  <a14:imgLayer r:embed="rId8">
                    <a14:imgEffect>
                      <a14:brightnessContrast bright="100000"/>
                    </a14:imgEffect>
                  </a14:imgLayer>
                </a14:imgProps>
              </a:ext>
            </a:extLst>
          </a:blip>
          <a:stretch>
            <a:fillRect/>
          </a:stretch>
        </p:blipFill>
        <p:spPr>
          <a:xfrm>
            <a:off x="799551" y="3149559"/>
            <a:ext cx="193121" cy="193121"/>
          </a:xfrm>
          <a:prstGeom prst="rect">
            <a:avLst/>
          </a:prstGeom>
        </p:spPr>
      </p:pic>
      <p:sp>
        <p:nvSpPr>
          <p:cNvPr id="17" name="Text 12"/>
          <p:cNvSpPr txBox="1"/>
          <p:nvPr/>
        </p:nvSpPr>
        <p:spPr>
          <a:xfrm>
            <a:off x="1325880" y="2980944"/>
            <a:ext cx="10149840" cy="530352"/>
          </a:xfrm>
          <a:prstGeom prst="rect">
            <a:avLst/>
          </a:prstGeom>
          <a:noFill/>
          <a:ln/>
        </p:spPr>
        <p:txBody>
          <a:bodyPr wrap="square" rtlCol="0" anchor="ctr"/>
          <a:lstStyle/>
          <a:p>
            <a:pPr marL="0" indent="0">
              <a:lnSpc>
                <a:spcPct val="105000"/>
              </a:lnSpc>
              <a:buNone/>
            </a:pPr>
            <a:r>
              <a:rPr lang="en-US" sz="1200" dirty="0">
                <a:solidFill>
                  <a:srgbClr val="0B2545"/>
                </a:solidFill>
                <a:latin typeface="Calibri" pitchFamily="34" charset="0"/>
                <a:ea typeface="Calibri" pitchFamily="34" charset="-122"/>
                <a:cs typeface="Calibri" pitchFamily="34" charset="-120"/>
              </a:rPr>
              <a:t>Treat monthly figures with caution until the dataset includes multiple months per customer</a:t>
            </a:r>
            <a:r>
              <a:rPr lang="en-US" sz="1100" dirty="0">
                <a:solidFill>
                  <a:srgbClr val="0B2545"/>
                </a:solidFill>
                <a:latin typeface="Calibri" pitchFamily="34" charset="0"/>
                <a:ea typeface="Calibri" pitchFamily="34" charset="-122"/>
                <a:cs typeface="Calibri" pitchFamily="34" charset="-120"/>
              </a:rPr>
              <a:t>.</a:t>
            </a:r>
            <a:endParaRPr lang="en-US" sz="1100" dirty="0"/>
          </a:p>
        </p:txBody>
      </p:sp>
      <p:sp>
        <p:nvSpPr>
          <p:cNvPr id="18" name="Shape 13"/>
          <p:cNvSpPr/>
          <p:nvPr/>
        </p:nvSpPr>
        <p:spPr>
          <a:xfrm>
            <a:off x="548640" y="3602736"/>
            <a:ext cx="11064240" cy="530352"/>
          </a:xfrm>
          <a:prstGeom prst="roundRect">
            <a:avLst>
              <a:gd name="adj" fmla="val 10345"/>
            </a:avLst>
          </a:prstGeom>
          <a:solidFill>
            <a:srgbClr val="F7F9FC"/>
          </a:solidFill>
          <a:ln w="12700">
            <a:solidFill>
              <a:srgbClr val="E2E8F0"/>
            </a:solidFill>
            <a:prstDash val="solid"/>
          </a:ln>
        </p:spPr>
        <p:txBody>
          <a:bodyPr/>
          <a:lstStyle/>
          <a:p>
            <a:endParaRPr lang="en-NG"/>
          </a:p>
        </p:txBody>
      </p:sp>
      <p:sp>
        <p:nvSpPr>
          <p:cNvPr id="19" name="Shape 14"/>
          <p:cNvSpPr/>
          <p:nvPr/>
        </p:nvSpPr>
        <p:spPr>
          <a:xfrm>
            <a:off x="694944" y="3666744"/>
            <a:ext cx="402336" cy="402336"/>
          </a:xfrm>
          <a:prstGeom prst="ellipse">
            <a:avLst/>
          </a:prstGeom>
          <a:solidFill>
            <a:srgbClr val="0B2545"/>
          </a:solidFill>
          <a:ln/>
        </p:spPr>
        <p:txBody>
          <a:bodyPr/>
          <a:lstStyle/>
          <a:p>
            <a:endParaRPr lang="en-NG"/>
          </a:p>
        </p:txBody>
      </p:sp>
      <p:pic>
        <p:nvPicPr>
          <p:cNvPr id="20" name="Image 3" descr="icons/leaf_FFFFFF.png"/>
          <p:cNvPicPr>
            <a:picLocks noChangeAspect="1"/>
          </p:cNvPicPr>
          <p:nvPr/>
        </p:nvPicPr>
        <p:blipFill>
          <a:blip r:embed="rId9">
            <a:extLst>
              <a:ext uri="{BEBA8EAE-BF5A-486C-A8C5-ECC9F3942E4B}">
                <a14:imgProps xmlns:a14="http://schemas.microsoft.com/office/drawing/2010/main">
                  <a14:imgLayer r:embed="rId10">
                    <a14:imgEffect>
                      <a14:brightnessContrast bright="100000"/>
                    </a14:imgEffect>
                  </a14:imgLayer>
                </a14:imgProps>
              </a:ext>
            </a:extLst>
          </a:blip>
          <a:stretch>
            <a:fillRect/>
          </a:stretch>
        </p:blipFill>
        <p:spPr>
          <a:xfrm>
            <a:off x="799551" y="3771351"/>
            <a:ext cx="193121" cy="193121"/>
          </a:xfrm>
          <a:prstGeom prst="rect">
            <a:avLst/>
          </a:prstGeom>
        </p:spPr>
      </p:pic>
      <p:sp>
        <p:nvSpPr>
          <p:cNvPr id="21" name="Text 15"/>
          <p:cNvSpPr txBox="1"/>
          <p:nvPr/>
        </p:nvSpPr>
        <p:spPr>
          <a:xfrm>
            <a:off x="1325880" y="3602736"/>
            <a:ext cx="10149840" cy="530352"/>
          </a:xfrm>
          <a:prstGeom prst="rect">
            <a:avLst/>
          </a:prstGeom>
          <a:noFill/>
          <a:ln/>
        </p:spPr>
        <p:txBody>
          <a:bodyPr wrap="square" rtlCol="0" anchor="ctr"/>
          <a:lstStyle/>
          <a:p>
            <a:pPr marL="0" indent="0">
              <a:lnSpc>
                <a:spcPct val="105000"/>
              </a:lnSpc>
              <a:buNone/>
            </a:pPr>
            <a:r>
              <a:rPr lang="en-US" sz="1200" dirty="0">
                <a:solidFill>
                  <a:srgbClr val="0B2545"/>
                </a:solidFill>
                <a:latin typeface="Calibri" pitchFamily="34" charset="0"/>
                <a:ea typeface="Calibri" pitchFamily="34" charset="-122"/>
                <a:cs typeface="Calibri" pitchFamily="34" charset="-120"/>
              </a:rPr>
              <a:t>Investigate why Industrial customers show such low renewable share</a:t>
            </a:r>
            <a:r>
              <a:rPr lang="en-US" sz="1100" dirty="0">
                <a:solidFill>
                  <a:srgbClr val="0B2545"/>
                </a:solidFill>
                <a:latin typeface="Calibri" pitchFamily="34" charset="0"/>
                <a:ea typeface="Calibri" pitchFamily="34" charset="-122"/>
                <a:cs typeface="Calibri" pitchFamily="34" charset="-120"/>
              </a:rPr>
              <a:t>.</a:t>
            </a:r>
            <a:endParaRPr lang="en-US" sz="1100" dirty="0"/>
          </a:p>
        </p:txBody>
      </p:sp>
      <p:sp>
        <p:nvSpPr>
          <p:cNvPr id="22" name="Shape 16"/>
          <p:cNvSpPr/>
          <p:nvPr/>
        </p:nvSpPr>
        <p:spPr>
          <a:xfrm>
            <a:off x="548640" y="4224528"/>
            <a:ext cx="11064240" cy="530352"/>
          </a:xfrm>
          <a:prstGeom prst="roundRect">
            <a:avLst>
              <a:gd name="adj" fmla="val 10345"/>
            </a:avLst>
          </a:prstGeom>
          <a:solidFill>
            <a:srgbClr val="F7F9FC"/>
          </a:solidFill>
          <a:ln w="12700">
            <a:solidFill>
              <a:srgbClr val="E2E8F0"/>
            </a:solidFill>
            <a:prstDash val="solid"/>
          </a:ln>
        </p:spPr>
        <p:txBody>
          <a:bodyPr/>
          <a:lstStyle/>
          <a:p>
            <a:endParaRPr lang="en-NG"/>
          </a:p>
        </p:txBody>
      </p:sp>
      <p:sp>
        <p:nvSpPr>
          <p:cNvPr id="23" name="Shape 17"/>
          <p:cNvSpPr/>
          <p:nvPr/>
        </p:nvSpPr>
        <p:spPr>
          <a:xfrm>
            <a:off x="694944" y="4288536"/>
            <a:ext cx="402336" cy="402336"/>
          </a:xfrm>
          <a:prstGeom prst="ellipse">
            <a:avLst/>
          </a:prstGeom>
          <a:solidFill>
            <a:srgbClr val="0B2545"/>
          </a:solidFill>
          <a:ln/>
        </p:spPr>
        <p:txBody>
          <a:bodyPr/>
          <a:lstStyle/>
          <a:p>
            <a:endParaRPr lang="en-NG"/>
          </a:p>
        </p:txBody>
      </p:sp>
      <p:pic>
        <p:nvPicPr>
          <p:cNvPr id="24" name="Image 4" descr="icons/scale_FFFFFF.png"/>
          <p:cNvPicPr>
            <a:picLocks noChangeAspect="1"/>
          </p:cNvPicPr>
          <p:nvPr/>
        </p:nvPicPr>
        <p:blipFill>
          <a:blip r:embed="rId11">
            <a:extLst>
              <a:ext uri="{BEBA8EAE-BF5A-486C-A8C5-ECC9F3942E4B}">
                <a14:imgProps xmlns:a14="http://schemas.microsoft.com/office/drawing/2010/main">
                  <a14:imgLayer r:embed="rId12">
                    <a14:imgEffect>
                      <a14:brightnessContrast bright="100000"/>
                    </a14:imgEffect>
                  </a14:imgLayer>
                </a14:imgProps>
              </a:ext>
            </a:extLst>
          </a:blip>
          <a:stretch>
            <a:fillRect/>
          </a:stretch>
        </p:blipFill>
        <p:spPr>
          <a:xfrm>
            <a:off x="799551" y="4393143"/>
            <a:ext cx="193121" cy="193121"/>
          </a:xfrm>
          <a:prstGeom prst="rect">
            <a:avLst/>
          </a:prstGeom>
        </p:spPr>
      </p:pic>
      <p:sp>
        <p:nvSpPr>
          <p:cNvPr id="25" name="Text 18"/>
          <p:cNvSpPr txBox="1"/>
          <p:nvPr/>
        </p:nvSpPr>
        <p:spPr>
          <a:xfrm>
            <a:off x="1325880" y="4224528"/>
            <a:ext cx="10149840" cy="530352"/>
          </a:xfrm>
          <a:prstGeom prst="rect">
            <a:avLst/>
          </a:prstGeom>
          <a:noFill/>
          <a:ln/>
        </p:spPr>
        <p:txBody>
          <a:bodyPr wrap="square" rtlCol="0" anchor="ctr"/>
          <a:lstStyle/>
          <a:p>
            <a:pPr marL="0" indent="0">
              <a:lnSpc>
                <a:spcPct val="105000"/>
              </a:lnSpc>
              <a:buNone/>
            </a:pPr>
            <a:r>
              <a:rPr lang="en-US" sz="1200" dirty="0">
                <a:solidFill>
                  <a:srgbClr val="0B2545"/>
                </a:solidFill>
                <a:latin typeface="Calibri" pitchFamily="34" charset="0"/>
                <a:ea typeface="Calibri" pitchFamily="34" charset="-122"/>
                <a:cs typeface="Calibri" pitchFamily="34" charset="-120"/>
              </a:rPr>
              <a:t>Reconsider whether the attention rule should also catch large non-industrial consumers like hospitals</a:t>
            </a:r>
            <a:r>
              <a:rPr lang="en-US" sz="1100" dirty="0">
                <a:solidFill>
                  <a:srgbClr val="0B2545"/>
                </a:solidFill>
                <a:latin typeface="Calibri" pitchFamily="34" charset="0"/>
                <a:ea typeface="Calibri" pitchFamily="34" charset="-122"/>
                <a:cs typeface="Calibri" pitchFamily="34" charset="-120"/>
              </a:rPr>
              <a:t>.</a:t>
            </a:r>
            <a:endParaRPr lang="en-US" sz="1100" dirty="0"/>
          </a:p>
        </p:txBody>
      </p:sp>
      <p:sp>
        <p:nvSpPr>
          <p:cNvPr id="26" name="Shape 19"/>
          <p:cNvSpPr/>
          <p:nvPr/>
        </p:nvSpPr>
        <p:spPr>
          <a:xfrm>
            <a:off x="548640" y="4846320"/>
            <a:ext cx="11064240" cy="530352"/>
          </a:xfrm>
          <a:prstGeom prst="roundRect">
            <a:avLst>
              <a:gd name="adj" fmla="val 10345"/>
            </a:avLst>
          </a:prstGeom>
          <a:solidFill>
            <a:srgbClr val="F7F9FC"/>
          </a:solidFill>
          <a:ln w="12700">
            <a:solidFill>
              <a:srgbClr val="E2E8F0"/>
            </a:solidFill>
            <a:prstDash val="solid"/>
          </a:ln>
        </p:spPr>
        <p:txBody>
          <a:bodyPr/>
          <a:lstStyle/>
          <a:p>
            <a:endParaRPr lang="en-NG"/>
          </a:p>
        </p:txBody>
      </p:sp>
      <p:sp>
        <p:nvSpPr>
          <p:cNvPr id="27" name="Shape 20"/>
          <p:cNvSpPr/>
          <p:nvPr/>
        </p:nvSpPr>
        <p:spPr>
          <a:xfrm>
            <a:off x="694944" y="4910328"/>
            <a:ext cx="402336" cy="402336"/>
          </a:xfrm>
          <a:prstGeom prst="ellipse">
            <a:avLst/>
          </a:prstGeom>
          <a:solidFill>
            <a:srgbClr val="0B2545"/>
          </a:solidFill>
          <a:ln/>
        </p:spPr>
        <p:txBody>
          <a:bodyPr/>
          <a:lstStyle/>
          <a:p>
            <a:endParaRPr lang="en-NG"/>
          </a:p>
        </p:txBody>
      </p:sp>
      <p:pic>
        <p:nvPicPr>
          <p:cNvPr id="28" name="Image 5" descr="icons/chartbar_FFFFFF.png"/>
          <p:cNvPicPr>
            <a:picLocks noChangeAspect="1"/>
          </p:cNvPicPr>
          <p:nvPr/>
        </p:nvPicPr>
        <p:blipFill>
          <a:blip r:embed="rId13">
            <a:extLst>
              <a:ext uri="{BEBA8EAE-BF5A-486C-A8C5-ECC9F3942E4B}">
                <a14:imgProps xmlns:a14="http://schemas.microsoft.com/office/drawing/2010/main">
                  <a14:imgLayer r:embed="rId14">
                    <a14:imgEffect>
                      <a14:brightnessContrast bright="100000"/>
                    </a14:imgEffect>
                  </a14:imgLayer>
                </a14:imgProps>
              </a:ext>
            </a:extLst>
          </a:blip>
          <a:stretch>
            <a:fillRect/>
          </a:stretch>
        </p:blipFill>
        <p:spPr>
          <a:xfrm>
            <a:off x="799551" y="5014935"/>
            <a:ext cx="193121" cy="193121"/>
          </a:xfrm>
          <a:prstGeom prst="rect">
            <a:avLst/>
          </a:prstGeom>
        </p:spPr>
      </p:pic>
      <p:sp>
        <p:nvSpPr>
          <p:cNvPr id="29" name="Text 21"/>
          <p:cNvSpPr txBox="1"/>
          <p:nvPr/>
        </p:nvSpPr>
        <p:spPr>
          <a:xfrm>
            <a:off x="1325880" y="4846320"/>
            <a:ext cx="10149840" cy="530352"/>
          </a:xfrm>
          <a:prstGeom prst="rect">
            <a:avLst/>
          </a:prstGeom>
          <a:noFill/>
          <a:ln/>
        </p:spPr>
        <p:txBody>
          <a:bodyPr wrap="square" rtlCol="0" anchor="ctr"/>
          <a:lstStyle/>
          <a:p>
            <a:pPr marL="0" indent="0">
              <a:lnSpc>
                <a:spcPct val="105000"/>
              </a:lnSpc>
              <a:buNone/>
            </a:pPr>
            <a:r>
              <a:rPr lang="en-US" sz="1200" dirty="0">
                <a:solidFill>
                  <a:srgbClr val="0B2545"/>
                </a:solidFill>
                <a:latin typeface="Calibri" pitchFamily="34" charset="0"/>
                <a:ea typeface="Calibri" pitchFamily="34" charset="-122"/>
                <a:cs typeface="Calibri" pitchFamily="34" charset="-120"/>
              </a:rPr>
              <a:t>Add a cost view to the location and customer-type breakdowns, not just consumption</a:t>
            </a:r>
            <a:r>
              <a:rPr lang="en-US" sz="1100" dirty="0">
                <a:solidFill>
                  <a:srgbClr val="0B2545"/>
                </a:solidFill>
                <a:latin typeface="Calibri" pitchFamily="34" charset="0"/>
                <a:ea typeface="Calibri" pitchFamily="34" charset="-122"/>
                <a:cs typeface="Calibri" pitchFamily="34" charset="-120"/>
              </a:rPr>
              <a:t>.</a:t>
            </a:r>
            <a:endParaRPr lang="en-US" sz="1100" dirty="0"/>
          </a:p>
        </p:txBody>
      </p:sp>
      <p:sp>
        <p:nvSpPr>
          <p:cNvPr id="30" name="Shape 22"/>
          <p:cNvSpPr/>
          <p:nvPr/>
        </p:nvSpPr>
        <p:spPr>
          <a:xfrm>
            <a:off x="548640" y="5468112"/>
            <a:ext cx="11064240" cy="530352"/>
          </a:xfrm>
          <a:prstGeom prst="roundRect">
            <a:avLst>
              <a:gd name="adj" fmla="val 10345"/>
            </a:avLst>
          </a:prstGeom>
          <a:solidFill>
            <a:srgbClr val="F7F9FC"/>
          </a:solidFill>
          <a:ln w="12700">
            <a:solidFill>
              <a:srgbClr val="E2E8F0"/>
            </a:solidFill>
            <a:prstDash val="solid"/>
          </a:ln>
        </p:spPr>
        <p:txBody>
          <a:bodyPr/>
          <a:lstStyle/>
          <a:p>
            <a:endParaRPr lang="en-NG"/>
          </a:p>
        </p:txBody>
      </p:sp>
      <p:sp>
        <p:nvSpPr>
          <p:cNvPr id="31" name="Shape 23"/>
          <p:cNvSpPr/>
          <p:nvPr/>
        </p:nvSpPr>
        <p:spPr>
          <a:xfrm>
            <a:off x="694944" y="5532120"/>
            <a:ext cx="402336" cy="402336"/>
          </a:xfrm>
          <a:prstGeom prst="ellipse">
            <a:avLst/>
          </a:prstGeom>
          <a:solidFill>
            <a:srgbClr val="0B2545"/>
          </a:solidFill>
          <a:ln/>
        </p:spPr>
        <p:txBody>
          <a:bodyPr/>
          <a:lstStyle/>
          <a:p>
            <a:endParaRPr lang="en-NG"/>
          </a:p>
        </p:txBody>
      </p:sp>
      <p:pic>
        <p:nvPicPr>
          <p:cNvPr id="32" name="Image 6" descr="icons/database_FFFFFF.png"/>
          <p:cNvPicPr>
            <a:picLocks noChangeAspect="1"/>
          </p:cNvPicPr>
          <p:nvPr/>
        </p:nvPicPr>
        <p:blipFill>
          <a:blip r:embed="rId15">
            <a:extLst>
              <a:ext uri="{BEBA8EAE-BF5A-486C-A8C5-ECC9F3942E4B}">
                <a14:imgProps xmlns:a14="http://schemas.microsoft.com/office/drawing/2010/main">
                  <a14:imgLayer r:embed="rId16">
                    <a14:imgEffect>
                      <a14:brightnessContrast bright="100000"/>
                    </a14:imgEffect>
                  </a14:imgLayer>
                </a14:imgProps>
              </a:ext>
            </a:extLst>
          </a:blip>
          <a:stretch>
            <a:fillRect/>
          </a:stretch>
        </p:blipFill>
        <p:spPr>
          <a:xfrm>
            <a:off x="799551" y="5636727"/>
            <a:ext cx="193121" cy="193121"/>
          </a:xfrm>
          <a:prstGeom prst="rect">
            <a:avLst/>
          </a:prstGeom>
        </p:spPr>
      </p:pic>
      <p:sp>
        <p:nvSpPr>
          <p:cNvPr id="33" name="Text 24"/>
          <p:cNvSpPr txBox="1"/>
          <p:nvPr/>
        </p:nvSpPr>
        <p:spPr>
          <a:xfrm>
            <a:off x="1325880" y="5468112"/>
            <a:ext cx="10149840" cy="530352"/>
          </a:xfrm>
          <a:prstGeom prst="rect">
            <a:avLst/>
          </a:prstGeom>
          <a:noFill/>
          <a:ln/>
        </p:spPr>
        <p:txBody>
          <a:bodyPr wrap="square" rtlCol="0" anchor="ctr"/>
          <a:lstStyle/>
          <a:p>
            <a:pPr marL="0" indent="0">
              <a:lnSpc>
                <a:spcPct val="105000"/>
              </a:lnSpc>
              <a:buNone/>
            </a:pPr>
            <a:r>
              <a:rPr lang="en-US" sz="1200" dirty="0">
                <a:solidFill>
                  <a:srgbClr val="0B2545"/>
                </a:solidFill>
                <a:latin typeface="Calibri" pitchFamily="34" charset="0"/>
                <a:ea typeface="Calibri" pitchFamily="34" charset="-122"/>
                <a:cs typeface="Calibri" pitchFamily="34" charset="-120"/>
              </a:rPr>
              <a:t>Improve the dataset for future analysis — larger, more representative, more variables</a:t>
            </a:r>
            <a:r>
              <a:rPr lang="en-US" sz="1100" dirty="0">
                <a:solidFill>
                  <a:srgbClr val="0B2545"/>
                </a:solidFill>
                <a:latin typeface="Calibri" pitchFamily="34" charset="0"/>
                <a:ea typeface="Calibri" pitchFamily="34" charset="-122"/>
                <a:cs typeface="Calibri" pitchFamily="34" charset="-120"/>
              </a:rPr>
              <a:t>.</a:t>
            </a:r>
            <a:endParaRPr lang="en-US" sz="1100" dirty="0"/>
          </a:p>
        </p:txBody>
      </p:sp>
      <p:sp>
        <p:nvSpPr>
          <p:cNvPr id="34" name="Text 25"/>
          <p:cNvSpPr txBox="1"/>
          <p:nvPr/>
        </p:nvSpPr>
        <p:spPr>
          <a:xfrm>
            <a:off x="457200" y="6473952"/>
            <a:ext cx="7315200" cy="274320"/>
          </a:xfrm>
          <a:prstGeom prst="rect">
            <a:avLst/>
          </a:prstGeom>
          <a:noFill/>
          <a:ln/>
        </p:spPr>
        <p:txBody>
          <a:bodyPr wrap="square" rtlCol="0" anchor="ctr"/>
          <a:lstStyle/>
          <a:p>
            <a:pPr marL="0" indent="0">
              <a:buNone/>
            </a:pPr>
            <a:r>
              <a:rPr lang="en-US" sz="900" dirty="0">
                <a:solidFill>
                  <a:srgbClr val="5A6B7B"/>
                </a:solidFill>
                <a:latin typeface="Calibri" pitchFamily="34" charset="0"/>
                <a:ea typeface="Calibri" pitchFamily="34" charset="-122"/>
                <a:cs typeface="Calibri" pitchFamily="34" charset="-120"/>
              </a:rPr>
              <a:t>ENERGY CONSUMPTION ANALYSIS SYSTEM </a:t>
            </a:r>
            <a:endParaRPr lang="en-US" sz="900" dirty="0"/>
          </a:p>
        </p:txBody>
      </p:sp>
      <p:sp>
        <p:nvSpPr>
          <p:cNvPr id="35" name="Text 26"/>
          <p:cNvSpPr txBox="1"/>
          <p:nvPr/>
        </p:nvSpPr>
        <p:spPr>
          <a:xfrm>
            <a:off x="11274552" y="6473952"/>
            <a:ext cx="548640" cy="274320"/>
          </a:xfrm>
          <a:prstGeom prst="rect">
            <a:avLst/>
          </a:prstGeom>
          <a:noFill/>
          <a:ln/>
        </p:spPr>
        <p:txBody>
          <a:bodyPr wrap="square" rtlCol="0" anchor="ctr"/>
          <a:lstStyle/>
          <a:p>
            <a:pPr marL="0" indent="0" algn="r">
              <a:buNone/>
            </a:pPr>
            <a:r>
              <a:rPr lang="en-US" sz="900" dirty="0">
                <a:solidFill>
                  <a:srgbClr val="5A6B7B"/>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2545"/>
        </a:solidFill>
        <a:effectLst/>
      </p:bgPr>
    </p:bg>
    <p:spTree>
      <p:nvGrpSpPr>
        <p:cNvPr id="1" name=""/>
        <p:cNvGrpSpPr/>
        <p:nvPr/>
      </p:nvGrpSpPr>
      <p:grpSpPr>
        <a:xfrm>
          <a:off x="0" y="0"/>
          <a:ext cx="0" cy="0"/>
          <a:chOff x="0" y="0"/>
          <a:chExt cx="0" cy="0"/>
        </a:xfrm>
      </p:grpSpPr>
      <p:sp>
        <p:nvSpPr>
          <p:cNvPr id="2" name="Shape 0"/>
          <p:cNvSpPr/>
          <p:nvPr/>
        </p:nvSpPr>
        <p:spPr>
          <a:xfrm>
            <a:off x="9601200" y="-2286000"/>
            <a:ext cx="4572000" cy="4572000"/>
          </a:xfrm>
          <a:prstGeom prst="ellipse">
            <a:avLst/>
          </a:prstGeom>
          <a:solidFill>
            <a:srgbClr val="13315C"/>
          </a:solidFill>
          <a:ln/>
        </p:spPr>
        <p:txBody>
          <a:bodyPr/>
          <a:lstStyle/>
          <a:p>
            <a:endParaRPr lang="en-NG"/>
          </a:p>
        </p:txBody>
      </p:sp>
      <p:sp>
        <p:nvSpPr>
          <p:cNvPr id="3" name="Text 1"/>
          <p:cNvSpPr txBox="1"/>
          <p:nvPr/>
        </p:nvSpPr>
        <p:spPr>
          <a:xfrm>
            <a:off x="548640" y="384048"/>
            <a:ext cx="9144000" cy="292608"/>
          </a:xfrm>
          <a:prstGeom prst="rect">
            <a:avLst/>
          </a:prstGeom>
          <a:noFill/>
          <a:ln/>
        </p:spPr>
        <p:txBody>
          <a:bodyPr wrap="square" rtlCol="0" anchor="ctr"/>
          <a:lstStyle/>
          <a:p>
            <a:pPr marL="0" indent="0">
              <a:buNone/>
            </a:pPr>
            <a:r>
              <a:rPr lang="en-US" sz="1400" b="1" kern="0" spc="200" dirty="0">
                <a:solidFill>
                  <a:srgbClr val="F4A300"/>
                </a:solidFill>
                <a:latin typeface="Calibri" pitchFamily="34" charset="0"/>
                <a:ea typeface="Calibri" pitchFamily="34" charset="-122"/>
                <a:cs typeface="Calibri" pitchFamily="34" charset="-120"/>
              </a:rPr>
              <a:t>SECTIONS 9–11</a:t>
            </a:r>
            <a:endParaRPr lang="en-US" sz="1400" dirty="0"/>
          </a:p>
        </p:txBody>
      </p:sp>
      <p:sp>
        <p:nvSpPr>
          <p:cNvPr id="4" name="Text 2"/>
          <p:cNvSpPr txBox="1"/>
          <p:nvPr/>
        </p:nvSpPr>
        <p:spPr>
          <a:xfrm>
            <a:off x="548640" y="640080"/>
            <a:ext cx="10607040" cy="640080"/>
          </a:xfrm>
          <a:prstGeom prst="rect">
            <a:avLst/>
          </a:prstGeom>
          <a:noFill/>
          <a:ln/>
        </p:spPr>
        <p:txBody>
          <a:bodyPr wrap="square" rtlCol="0" anchor="ctr"/>
          <a:lstStyle/>
          <a:p>
            <a:pPr marL="0" indent="0">
              <a:buNone/>
            </a:pPr>
            <a:r>
              <a:rPr lang="en-US" sz="2700" b="1" dirty="0">
                <a:solidFill>
                  <a:srgbClr val="FFFFFF"/>
                </a:solidFill>
                <a:latin typeface="Cambria" pitchFamily="34" charset="0"/>
                <a:ea typeface="Cambria" pitchFamily="34" charset="-122"/>
                <a:cs typeface="Cambria" pitchFamily="34" charset="-120"/>
              </a:rPr>
              <a:t>Limitations and Conclusion</a:t>
            </a:r>
            <a:endParaRPr lang="en-US" sz="2700" dirty="0"/>
          </a:p>
        </p:txBody>
      </p:sp>
      <p:sp>
        <p:nvSpPr>
          <p:cNvPr id="5" name="Text 3"/>
          <p:cNvSpPr txBox="1"/>
          <p:nvPr/>
        </p:nvSpPr>
        <p:spPr>
          <a:xfrm>
            <a:off x="548640" y="1417320"/>
            <a:ext cx="5303520" cy="274320"/>
          </a:xfrm>
          <a:prstGeom prst="rect">
            <a:avLst/>
          </a:prstGeom>
          <a:noFill/>
          <a:ln/>
        </p:spPr>
        <p:txBody>
          <a:bodyPr wrap="square" rtlCol="0" anchor="ctr"/>
          <a:lstStyle/>
          <a:p>
            <a:pPr marL="0" indent="0">
              <a:buNone/>
            </a:pPr>
            <a:r>
              <a:rPr lang="en-US" sz="1400" b="1" kern="0" spc="150" dirty="0">
                <a:solidFill>
                  <a:srgbClr val="F4A300"/>
                </a:solidFill>
                <a:latin typeface="Calibri" pitchFamily="34" charset="0"/>
                <a:ea typeface="Calibri" pitchFamily="34" charset="-122"/>
                <a:cs typeface="Calibri" pitchFamily="34" charset="-120"/>
              </a:rPr>
              <a:t>LIMITATIONS</a:t>
            </a:r>
            <a:endParaRPr lang="en-US" sz="1400" dirty="0"/>
          </a:p>
        </p:txBody>
      </p:sp>
      <p:sp>
        <p:nvSpPr>
          <p:cNvPr id="6" name="Shape 4"/>
          <p:cNvSpPr/>
          <p:nvPr/>
        </p:nvSpPr>
        <p:spPr>
          <a:xfrm>
            <a:off x="548640" y="1764792"/>
            <a:ext cx="219456" cy="219456"/>
          </a:xfrm>
          <a:prstGeom prst="ellipse">
            <a:avLst/>
          </a:prstGeom>
          <a:solidFill>
            <a:srgbClr val="C0392B"/>
          </a:solidFill>
          <a:ln/>
        </p:spPr>
        <p:txBody>
          <a:bodyPr/>
          <a:lstStyle/>
          <a:p>
            <a:endParaRPr lang="en-NG"/>
          </a:p>
        </p:txBody>
      </p:sp>
      <p:sp>
        <p:nvSpPr>
          <p:cNvPr id="7" name="Text 5"/>
          <p:cNvSpPr txBox="1"/>
          <p:nvPr/>
        </p:nvSpPr>
        <p:spPr>
          <a:xfrm>
            <a:off x="914400" y="1691640"/>
            <a:ext cx="4937760" cy="438912"/>
          </a:xfrm>
          <a:prstGeom prst="rect">
            <a:avLst/>
          </a:prstGeom>
          <a:noFill/>
          <a:ln/>
        </p:spPr>
        <p:txBody>
          <a:bodyPr wrap="square" rtlCol="0" anchor="ctr"/>
          <a:lstStyle/>
          <a:p>
            <a:pPr marL="0" indent="0">
              <a:lnSpc>
                <a:spcPct val="110000"/>
              </a:lnSpc>
              <a:buNone/>
            </a:pPr>
            <a:r>
              <a:rPr lang="en-US" sz="1200" dirty="0">
                <a:solidFill>
                  <a:srgbClr val="CADCFC"/>
                </a:solidFill>
                <a:latin typeface="Calibri" pitchFamily="34" charset="0"/>
                <a:ea typeface="Calibri" pitchFamily="34" charset="-122"/>
                <a:cs typeface="Calibri" pitchFamily="34" charset="-120"/>
              </a:rPr>
              <a:t>Only 20 customer records — a small sample size.</a:t>
            </a:r>
            <a:endParaRPr lang="en-US" sz="1200" dirty="0"/>
          </a:p>
        </p:txBody>
      </p:sp>
      <p:sp>
        <p:nvSpPr>
          <p:cNvPr id="8" name="Shape 6"/>
          <p:cNvSpPr/>
          <p:nvPr/>
        </p:nvSpPr>
        <p:spPr>
          <a:xfrm>
            <a:off x="548640" y="2295144"/>
            <a:ext cx="219456" cy="219456"/>
          </a:xfrm>
          <a:prstGeom prst="ellipse">
            <a:avLst/>
          </a:prstGeom>
          <a:solidFill>
            <a:srgbClr val="C0392B"/>
          </a:solidFill>
          <a:ln/>
        </p:spPr>
        <p:txBody>
          <a:bodyPr/>
          <a:lstStyle/>
          <a:p>
            <a:endParaRPr lang="en-NG"/>
          </a:p>
        </p:txBody>
      </p:sp>
      <p:sp>
        <p:nvSpPr>
          <p:cNvPr id="9" name="Text 7"/>
          <p:cNvSpPr txBox="1"/>
          <p:nvPr/>
        </p:nvSpPr>
        <p:spPr>
          <a:xfrm>
            <a:off x="914400" y="2221992"/>
            <a:ext cx="4937760" cy="438912"/>
          </a:xfrm>
          <a:prstGeom prst="rect">
            <a:avLst/>
          </a:prstGeom>
          <a:noFill/>
          <a:ln/>
        </p:spPr>
        <p:txBody>
          <a:bodyPr wrap="square" rtlCol="0" anchor="ctr"/>
          <a:lstStyle/>
          <a:p>
            <a:pPr marL="0" indent="0">
              <a:lnSpc>
                <a:spcPct val="110000"/>
              </a:lnSpc>
              <a:buNone/>
            </a:pPr>
            <a:r>
              <a:rPr lang="en-US" sz="1200" dirty="0">
                <a:solidFill>
                  <a:srgbClr val="CADCFC"/>
                </a:solidFill>
                <a:latin typeface="Calibri" pitchFamily="34" charset="0"/>
                <a:ea typeface="Calibri" pitchFamily="34" charset="-122"/>
                <a:cs typeface="Calibri" pitchFamily="34" charset="-120"/>
              </a:rPr>
              <a:t>Simulated dataset, not sourced from a real utility or NERC.</a:t>
            </a:r>
            <a:endParaRPr lang="en-US" sz="1200" dirty="0"/>
          </a:p>
        </p:txBody>
      </p:sp>
      <p:sp>
        <p:nvSpPr>
          <p:cNvPr id="10" name="Shape 8"/>
          <p:cNvSpPr/>
          <p:nvPr/>
        </p:nvSpPr>
        <p:spPr>
          <a:xfrm>
            <a:off x="548640" y="2825496"/>
            <a:ext cx="219456" cy="219456"/>
          </a:xfrm>
          <a:prstGeom prst="ellipse">
            <a:avLst/>
          </a:prstGeom>
          <a:solidFill>
            <a:srgbClr val="C0392B"/>
          </a:solidFill>
          <a:ln/>
        </p:spPr>
        <p:txBody>
          <a:bodyPr/>
          <a:lstStyle/>
          <a:p>
            <a:endParaRPr lang="en-NG"/>
          </a:p>
        </p:txBody>
      </p:sp>
      <p:sp>
        <p:nvSpPr>
          <p:cNvPr id="11" name="Text 9"/>
          <p:cNvSpPr txBox="1"/>
          <p:nvPr/>
        </p:nvSpPr>
        <p:spPr>
          <a:xfrm>
            <a:off x="914400" y="2752344"/>
            <a:ext cx="4937760" cy="438912"/>
          </a:xfrm>
          <a:prstGeom prst="rect">
            <a:avLst/>
          </a:prstGeom>
          <a:noFill/>
          <a:ln/>
        </p:spPr>
        <p:txBody>
          <a:bodyPr wrap="square" rtlCol="0" anchor="ctr"/>
          <a:lstStyle/>
          <a:p>
            <a:pPr marL="0" indent="0">
              <a:lnSpc>
                <a:spcPct val="110000"/>
              </a:lnSpc>
              <a:buNone/>
            </a:pPr>
            <a:r>
              <a:rPr lang="en-US" sz="1200" dirty="0">
                <a:solidFill>
                  <a:srgbClr val="CADCFC"/>
                </a:solidFill>
                <a:latin typeface="Calibri" pitchFamily="34" charset="0"/>
                <a:ea typeface="Calibri" pitchFamily="34" charset="-122"/>
                <a:cs typeface="Calibri" pitchFamily="34" charset="-120"/>
              </a:rPr>
              <a:t>Each customer appears in a single month — no genuine monthly trend.</a:t>
            </a:r>
            <a:endParaRPr lang="en-US" sz="1200" dirty="0"/>
          </a:p>
        </p:txBody>
      </p:sp>
      <p:sp>
        <p:nvSpPr>
          <p:cNvPr id="12" name="Shape 10"/>
          <p:cNvSpPr/>
          <p:nvPr/>
        </p:nvSpPr>
        <p:spPr>
          <a:xfrm>
            <a:off x="548640" y="3355848"/>
            <a:ext cx="219456" cy="219456"/>
          </a:xfrm>
          <a:prstGeom prst="ellipse">
            <a:avLst/>
          </a:prstGeom>
          <a:solidFill>
            <a:srgbClr val="C0392B"/>
          </a:solidFill>
          <a:ln/>
        </p:spPr>
        <p:txBody>
          <a:bodyPr/>
          <a:lstStyle/>
          <a:p>
            <a:endParaRPr lang="en-NG"/>
          </a:p>
        </p:txBody>
      </p:sp>
      <p:sp>
        <p:nvSpPr>
          <p:cNvPr id="13" name="Text 11"/>
          <p:cNvSpPr txBox="1"/>
          <p:nvPr/>
        </p:nvSpPr>
        <p:spPr>
          <a:xfrm>
            <a:off x="914400" y="3282696"/>
            <a:ext cx="4937760" cy="438912"/>
          </a:xfrm>
          <a:prstGeom prst="rect">
            <a:avLst/>
          </a:prstGeom>
          <a:noFill/>
          <a:ln/>
        </p:spPr>
        <p:txBody>
          <a:bodyPr wrap="square" rtlCol="0" anchor="ctr"/>
          <a:lstStyle/>
          <a:p>
            <a:pPr marL="0" indent="0">
              <a:lnSpc>
                <a:spcPct val="110000"/>
              </a:lnSpc>
              <a:buNone/>
            </a:pPr>
            <a:r>
              <a:rPr lang="en-US" sz="1200" dirty="0">
                <a:solidFill>
                  <a:srgbClr val="CADCFC"/>
                </a:solidFill>
                <a:latin typeface="Calibri" pitchFamily="34" charset="0"/>
                <a:ea typeface="Calibri" pitchFamily="34" charset="-122"/>
                <a:cs typeface="Calibri" pitchFamily="34" charset="-120"/>
              </a:rPr>
              <a:t>The attention-flag rule uses one fixed, unvalidated threshold</a:t>
            </a:r>
            <a:r>
              <a:rPr lang="en-US" sz="1030" dirty="0">
                <a:solidFill>
                  <a:srgbClr val="CADCFC"/>
                </a:solidFill>
                <a:latin typeface="Calibri" pitchFamily="34" charset="0"/>
                <a:ea typeface="Calibri" pitchFamily="34" charset="-122"/>
                <a:cs typeface="Calibri" pitchFamily="34" charset="-120"/>
              </a:rPr>
              <a:t>.</a:t>
            </a:r>
            <a:endParaRPr lang="en-US" sz="1030" dirty="0"/>
          </a:p>
        </p:txBody>
      </p:sp>
      <p:sp>
        <p:nvSpPr>
          <p:cNvPr id="14" name="Shape 12"/>
          <p:cNvSpPr/>
          <p:nvPr/>
        </p:nvSpPr>
        <p:spPr>
          <a:xfrm>
            <a:off x="548640" y="3886200"/>
            <a:ext cx="219456" cy="219456"/>
          </a:xfrm>
          <a:prstGeom prst="ellipse">
            <a:avLst/>
          </a:prstGeom>
          <a:solidFill>
            <a:srgbClr val="C0392B"/>
          </a:solidFill>
          <a:ln/>
        </p:spPr>
        <p:txBody>
          <a:bodyPr/>
          <a:lstStyle/>
          <a:p>
            <a:endParaRPr lang="en-NG"/>
          </a:p>
        </p:txBody>
      </p:sp>
      <p:sp>
        <p:nvSpPr>
          <p:cNvPr id="15" name="Text 13"/>
          <p:cNvSpPr txBox="1"/>
          <p:nvPr/>
        </p:nvSpPr>
        <p:spPr>
          <a:xfrm>
            <a:off x="914400" y="3813048"/>
            <a:ext cx="4937760" cy="438912"/>
          </a:xfrm>
          <a:prstGeom prst="rect">
            <a:avLst/>
          </a:prstGeom>
          <a:noFill/>
          <a:ln/>
        </p:spPr>
        <p:txBody>
          <a:bodyPr wrap="square" rtlCol="0" anchor="ctr"/>
          <a:lstStyle/>
          <a:p>
            <a:pPr marL="0" indent="0">
              <a:lnSpc>
                <a:spcPct val="110000"/>
              </a:lnSpc>
              <a:buNone/>
            </a:pPr>
            <a:r>
              <a:rPr lang="en-US" sz="1200" dirty="0">
                <a:solidFill>
                  <a:srgbClr val="CADCFC"/>
                </a:solidFill>
                <a:latin typeface="Calibri" pitchFamily="34" charset="0"/>
                <a:ea typeface="Calibri" pitchFamily="34" charset="-122"/>
                <a:cs typeface="Calibri" pitchFamily="34" charset="-120"/>
              </a:rPr>
              <a:t>Cost, payment status &amp; outage hours captured but not fully analyzed</a:t>
            </a:r>
            <a:r>
              <a:rPr lang="en-US" sz="1030" dirty="0">
                <a:solidFill>
                  <a:srgbClr val="CADCFC"/>
                </a:solidFill>
                <a:latin typeface="Calibri" pitchFamily="34" charset="0"/>
                <a:ea typeface="Calibri" pitchFamily="34" charset="-122"/>
                <a:cs typeface="Calibri" pitchFamily="34" charset="-120"/>
              </a:rPr>
              <a:t>.</a:t>
            </a:r>
            <a:endParaRPr lang="en-US" sz="1030" dirty="0"/>
          </a:p>
        </p:txBody>
      </p:sp>
      <p:sp>
        <p:nvSpPr>
          <p:cNvPr id="16" name="Shape 14"/>
          <p:cNvSpPr/>
          <p:nvPr/>
        </p:nvSpPr>
        <p:spPr>
          <a:xfrm>
            <a:off x="5989320" y="1417320"/>
            <a:ext cx="0" cy="3200400"/>
          </a:xfrm>
          <a:prstGeom prst="line">
            <a:avLst/>
          </a:prstGeom>
          <a:noFill/>
          <a:ln w="12700">
            <a:solidFill>
              <a:srgbClr val="13315C"/>
            </a:solidFill>
            <a:prstDash val="solid"/>
          </a:ln>
        </p:spPr>
        <p:txBody>
          <a:bodyPr/>
          <a:lstStyle/>
          <a:p>
            <a:endParaRPr lang="en-NG"/>
          </a:p>
        </p:txBody>
      </p:sp>
      <p:sp>
        <p:nvSpPr>
          <p:cNvPr id="17" name="Text 15"/>
          <p:cNvSpPr txBox="1"/>
          <p:nvPr/>
        </p:nvSpPr>
        <p:spPr>
          <a:xfrm>
            <a:off x="6263640" y="1417320"/>
            <a:ext cx="5303520" cy="274320"/>
          </a:xfrm>
          <a:prstGeom prst="rect">
            <a:avLst/>
          </a:prstGeom>
          <a:noFill/>
          <a:ln/>
        </p:spPr>
        <p:txBody>
          <a:bodyPr wrap="square" rtlCol="0" anchor="ctr"/>
          <a:lstStyle/>
          <a:p>
            <a:pPr marL="0" indent="0">
              <a:buNone/>
            </a:pPr>
            <a:r>
              <a:rPr lang="en-US" sz="1400" b="1" kern="0" spc="150" dirty="0">
                <a:solidFill>
                  <a:srgbClr val="F4A300"/>
                </a:solidFill>
                <a:latin typeface="Calibri" pitchFamily="34" charset="0"/>
                <a:ea typeface="Calibri" pitchFamily="34" charset="-122"/>
                <a:cs typeface="Calibri" pitchFamily="34" charset="-120"/>
              </a:rPr>
              <a:t>CONCLUSION</a:t>
            </a:r>
            <a:endParaRPr lang="en-US" sz="1400" dirty="0"/>
          </a:p>
        </p:txBody>
      </p:sp>
      <p:sp>
        <p:nvSpPr>
          <p:cNvPr id="18" name="Text 16"/>
          <p:cNvSpPr txBox="1"/>
          <p:nvPr/>
        </p:nvSpPr>
        <p:spPr>
          <a:xfrm>
            <a:off x="6263640" y="1737360"/>
            <a:ext cx="5303520" cy="1737360"/>
          </a:xfrm>
          <a:prstGeom prst="rect">
            <a:avLst/>
          </a:prstGeom>
          <a:noFill/>
          <a:ln/>
        </p:spPr>
        <p:txBody>
          <a:bodyPr wrap="square" rtlCol="0" anchor="ctr"/>
          <a:lstStyle/>
          <a:p>
            <a:pPr marL="0" indent="0">
              <a:lnSpc>
                <a:spcPct val="122000"/>
              </a:lnSpc>
              <a:buNone/>
            </a:pPr>
            <a:r>
              <a:rPr lang="en-US" sz="1200" dirty="0">
                <a:solidFill>
                  <a:srgbClr val="CADCFC"/>
                </a:solidFill>
                <a:latin typeface="Calibri" pitchFamily="34" charset="0"/>
                <a:ea typeface="Calibri" pitchFamily="34" charset="-122"/>
                <a:cs typeface="Calibri" pitchFamily="34" charset="-120"/>
              </a:rPr>
              <a:t>The system successfully demonstrated how Python can organize, process and analyze electricity-consumption data — totals, extremes, classification, location and customer-type patterns, cost, and high-attention flags. Though built on a small, simulated dataset, it shows the real value of data analysis and provides a foundation to expand with larger datasets and more advanced techniques.</a:t>
            </a:r>
            <a:endParaRPr lang="en-US" sz="1200" dirty="0"/>
          </a:p>
        </p:txBody>
      </p:sp>
      <p:sp>
        <p:nvSpPr>
          <p:cNvPr id="19" name="Shape 17"/>
          <p:cNvSpPr/>
          <p:nvPr/>
        </p:nvSpPr>
        <p:spPr>
          <a:xfrm>
            <a:off x="6263640" y="3566160"/>
            <a:ext cx="2560320" cy="1051560"/>
          </a:xfrm>
          <a:prstGeom prst="roundRect">
            <a:avLst>
              <a:gd name="adj" fmla="val 6957"/>
            </a:avLst>
          </a:prstGeom>
          <a:solidFill>
            <a:srgbClr val="13315C"/>
          </a:solidFill>
          <a:ln w="12700">
            <a:solidFill>
              <a:srgbClr val="E2E8F0"/>
            </a:solidFill>
            <a:prstDash val="solid"/>
          </a:ln>
        </p:spPr>
        <p:txBody>
          <a:bodyPr/>
          <a:lstStyle/>
          <a:p>
            <a:endParaRPr lang="en-NG"/>
          </a:p>
        </p:txBody>
      </p:sp>
      <p:sp>
        <p:nvSpPr>
          <p:cNvPr id="20" name="Text 18"/>
          <p:cNvSpPr txBox="1"/>
          <p:nvPr/>
        </p:nvSpPr>
        <p:spPr>
          <a:xfrm>
            <a:off x="6400800" y="3730752"/>
            <a:ext cx="2286000" cy="365760"/>
          </a:xfrm>
          <a:prstGeom prst="rect">
            <a:avLst/>
          </a:prstGeom>
          <a:noFill/>
          <a:ln/>
        </p:spPr>
        <p:txBody>
          <a:bodyPr wrap="square" rtlCol="0" anchor="b"/>
          <a:lstStyle/>
          <a:p>
            <a:pPr marL="0" indent="0" algn="ctr">
              <a:buNone/>
            </a:pPr>
            <a:r>
              <a:rPr lang="en-US" sz="1600" b="1" dirty="0">
                <a:solidFill>
                  <a:srgbClr val="FFFFFF"/>
                </a:solidFill>
                <a:latin typeface="Cambria" pitchFamily="34" charset="0"/>
                <a:ea typeface="Cambria" pitchFamily="34" charset="-122"/>
                <a:cs typeface="Cambria" pitchFamily="34" charset="-120"/>
              </a:rPr>
              <a:t>24,240 kWh</a:t>
            </a:r>
            <a:endParaRPr lang="en-US" sz="1600" dirty="0"/>
          </a:p>
        </p:txBody>
      </p:sp>
      <p:sp>
        <p:nvSpPr>
          <p:cNvPr id="21" name="Text 19"/>
          <p:cNvSpPr txBox="1"/>
          <p:nvPr/>
        </p:nvSpPr>
        <p:spPr>
          <a:xfrm>
            <a:off x="6400800" y="4114800"/>
            <a:ext cx="2286000" cy="411480"/>
          </a:xfrm>
          <a:prstGeom prst="rect">
            <a:avLst/>
          </a:prstGeom>
          <a:noFill/>
          <a:ln/>
        </p:spPr>
        <p:txBody>
          <a:bodyPr wrap="square" rtlCol="0" anchor="t"/>
          <a:lstStyle/>
          <a:p>
            <a:pPr marL="0" indent="0" algn="ctr">
              <a:buNone/>
            </a:pPr>
            <a:r>
              <a:rPr lang="en-US" sz="1200" dirty="0">
                <a:solidFill>
                  <a:srgbClr val="5A6B7B"/>
                </a:solidFill>
                <a:latin typeface="Calibri" pitchFamily="34" charset="0"/>
                <a:ea typeface="Calibri" pitchFamily="34" charset="-122"/>
                <a:cs typeface="Calibri" pitchFamily="34" charset="-120"/>
              </a:rPr>
              <a:t>Total consumption</a:t>
            </a:r>
            <a:endParaRPr lang="en-US" sz="1200" dirty="0"/>
          </a:p>
        </p:txBody>
      </p:sp>
      <p:sp>
        <p:nvSpPr>
          <p:cNvPr id="22" name="Shape 20"/>
          <p:cNvSpPr/>
          <p:nvPr/>
        </p:nvSpPr>
        <p:spPr>
          <a:xfrm>
            <a:off x="8961120" y="3566160"/>
            <a:ext cx="2423160" cy="1051560"/>
          </a:xfrm>
          <a:prstGeom prst="roundRect">
            <a:avLst>
              <a:gd name="adj" fmla="val 6957"/>
            </a:avLst>
          </a:prstGeom>
          <a:solidFill>
            <a:srgbClr val="13315C"/>
          </a:solidFill>
          <a:ln w="12700">
            <a:solidFill>
              <a:srgbClr val="E2E8F0"/>
            </a:solidFill>
            <a:prstDash val="solid"/>
          </a:ln>
        </p:spPr>
        <p:txBody>
          <a:bodyPr/>
          <a:lstStyle/>
          <a:p>
            <a:endParaRPr lang="en-NG"/>
          </a:p>
        </p:txBody>
      </p:sp>
      <p:sp>
        <p:nvSpPr>
          <p:cNvPr id="23" name="Text 21"/>
          <p:cNvSpPr txBox="1"/>
          <p:nvPr/>
        </p:nvSpPr>
        <p:spPr>
          <a:xfrm>
            <a:off x="9098280" y="3730752"/>
            <a:ext cx="2148840" cy="365760"/>
          </a:xfrm>
          <a:prstGeom prst="rect">
            <a:avLst/>
          </a:prstGeom>
          <a:noFill/>
          <a:ln/>
        </p:spPr>
        <p:txBody>
          <a:bodyPr wrap="square" rtlCol="0" anchor="b"/>
          <a:lstStyle/>
          <a:p>
            <a:pPr marL="0" indent="0" algn="ctr">
              <a:buNone/>
            </a:pPr>
            <a:r>
              <a:rPr lang="en-US" sz="1600" b="1" dirty="0">
                <a:solidFill>
                  <a:srgbClr val="F4A300"/>
                </a:solidFill>
                <a:latin typeface="Cambria" pitchFamily="34" charset="0"/>
                <a:ea typeface="Cambria" pitchFamily="34" charset="-122"/>
                <a:cs typeface="Cambria" pitchFamily="34" charset="-120"/>
              </a:rPr>
              <a:t>1,212 kWh</a:t>
            </a:r>
            <a:endParaRPr lang="en-US" sz="1600" dirty="0"/>
          </a:p>
        </p:txBody>
      </p:sp>
      <p:sp>
        <p:nvSpPr>
          <p:cNvPr id="24" name="Text 22"/>
          <p:cNvSpPr txBox="1"/>
          <p:nvPr/>
        </p:nvSpPr>
        <p:spPr>
          <a:xfrm>
            <a:off x="9098280" y="4114800"/>
            <a:ext cx="2148840" cy="411480"/>
          </a:xfrm>
          <a:prstGeom prst="rect">
            <a:avLst/>
          </a:prstGeom>
          <a:noFill/>
          <a:ln/>
        </p:spPr>
        <p:txBody>
          <a:bodyPr wrap="square" rtlCol="0" anchor="t"/>
          <a:lstStyle/>
          <a:p>
            <a:pPr marL="0" indent="0" algn="ctr">
              <a:buNone/>
            </a:pPr>
            <a:r>
              <a:rPr lang="en-US" sz="1200" dirty="0">
                <a:solidFill>
                  <a:srgbClr val="5A6B7B"/>
                </a:solidFill>
                <a:latin typeface="Calibri" pitchFamily="34" charset="0"/>
                <a:ea typeface="Calibri" pitchFamily="34" charset="-122"/>
                <a:cs typeface="Calibri" pitchFamily="34" charset="-120"/>
              </a:rPr>
              <a:t>Average per customer</a:t>
            </a:r>
            <a:endParaRPr lang="en-US" sz="1200" dirty="0"/>
          </a:p>
        </p:txBody>
      </p:sp>
      <p:sp>
        <p:nvSpPr>
          <p:cNvPr id="25" name="Shape 23"/>
          <p:cNvSpPr/>
          <p:nvPr/>
        </p:nvSpPr>
        <p:spPr>
          <a:xfrm>
            <a:off x="548640" y="4937760"/>
            <a:ext cx="11109960" cy="0"/>
          </a:xfrm>
          <a:prstGeom prst="line">
            <a:avLst/>
          </a:prstGeom>
          <a:noFill/>
          <a:ln w="12700">
            <a:solidFill>
              <a:srgbClr val="13315C"/>
            </a:solidFill>
            <a:prstDash val="solid"/>
          </a:ln>
        </p:spPr>
        <p:txBody>
          <a:bodyPr/>
          <a:lstStyle/>
          <a:p>
            <a:endParaRPr lang="en-NG"/>
          </a:p>
        </p:txBody>
      </p:sp>
      <p:sp>
        <p:nvSpPr>
          <p:cNvPr id="26" name="Shape 24"/>
          <p:cNvSpPr/>
          <p:nvPr/>
        </p:nvSpPr>
        <p:spPr>
          <a:xfrm>
            <a:off x="5728716" y="5166360"/>
            <a:ext cx="731520" cy="731520"/>
          </a:xfrm>
          <a:prstGeom prst="ellipse">
            <a:avLst/>
          </a:prstGeom>
          <a:solidFill>
            <a:srgbClr val="F4A300"/>
          </a:solidFill>
          <a:ln/>
        </p:spPr>
        <p:txBody>
          <a:bodyPr/>
          <a:lstStyle/>
          <a:p>
            <a:endParaRPr lang="en-NG"/>
          </a:p>
        </p:txBody>
      </p:sp>
      <p:pic>
        <p:nvPicPr>
          <p:cNvPr id="27" name="Image 0" descr="icons/bolt_0B2545.png"/>
          <p:cNvPicPr>
            <a:picLocks noChangeAspect="1"/>
          </p:cNvPicPr>
          <p:nvPr/>
        </p:nvPicPr>
        <p:blipFill>
          <a:blip r:embed="rId3"/>
          <a:stretch>
            <a:fillRect/>
          </a:stretch>
        </p:blipFill>
        <p:spPr>
          <a:xfrm>
            <a:off x="5918911" y="5356555"/>
            <a:ext cx="351130" cy="351130"/>
          </a:xfrm>
          <a:prstGeom prst="rect">
            <a:avLst/>
          </a:prstGeom>
        </p:spPr>
      </p:pic>
      <p:sp>
        <p:nvSpPr>
          <p:cNvPr id="28" name="Text 25"/>
          <p:cNvSpPr txBox="1"/>
          <p:nvPr/>
        </p:nvSpPr>
        <p:spPr>
          <a:xfrm>
            <a:off x="0" y="5989320"/>
            <a:ext cx="12188952" cy="36576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Thank You — Questions and  Discussion Welcome</a:t>
            </a:r>
            <a:endParaRPr lang="en-US" sz="1800" dirty="0"/>
          </a:p>
        </p:txBody>
      </p:sp>
      <p:sp>
        <p:nvSpPr>
          <p:cNvPr id="29" name="Text 26"/>
          <p:cNvSpPr txBox="1"/>
          <p:nvPr/>
        </p:nvSpPr>
        <p:spPr>
          <a:xfrm>
            <a:off x="0" y="6419088"/>
            <a:ext cx="12188952" cy="274320"/>
          </a:xfrm>
          <a:prstGeom prst="rect">
            <a:avLst/>
          </a:prstGeom>
          <a:noFill/>
          <a:ln/>
        </p:spPr>
        <p:txBody>
          <a:bodyPr wrap="square" rtlCol="0" anchor="ctr"/>
          <a:lstStyle/>
          <a:p>
            <a:pPr marL="0" indent="0" algn="ctr">
              <a:buNone/>
            </a:pPr>
            <a:r>
              <a:rPr lang="en-US" sz="1100" dirty="0">
                <a:solidFill>
                  <a:srgbClr val="9FB3D9"/>
                </a:solidFill>
                <a:latin typeface="Calibri" pitchFamily="34" charset="0"/>
                <a:ea typeface="Calibri" pitchFamily="34" charset="-122"/>
                <a:cs typeface="Calibri" pitchFamily="34" charset="-120"/>
              </a:rPr>
              <a:t>Team A  •  Gomes Vivian, Oseni Latifat, Ismaila Ainoko Aminu, Ositadinma Chigozie  •  Python Study Group SmartBixCrux</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72</TotalTime>
  <Words>1579</Words>
  <Application>Microsoft Office PowerPoint</Application>
  <PresentationFormat>Widescreen</PresentationFormat>
  <Paragraphs>246</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Latifat Oseni</cp:lastModifiedBy>
  <cp:revision>3</cp:revision>
  <dcterms:created xsi:type="dcterms:W3CDTF">2026-09-17T11:23:01Z</dcterms:created>
  <dcterms:modified xsi:type="dcterms:W3CDTF">2026-09-17T12:46:41Z</dcterms:modified>
</cp:coreProperties>
</file>